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73" r:id="rId6"/>
    <p:sldId id="272" r:id="rId7"/>
    <p:sldId id="271" r:id="rId8"/>
    <p:sldId id="270" r:id="rId9"/>
    <p:sldId id="269" r:id="rId10"/>
    <p:sldId id="267" r:id="rId11"/>
    <p:sldId id="266" r:id="rId12"/>
    <p:sldId id="265" r:id="rId13"/>
    <p:sldId id="260" r:id="rId14"/>
    <p:sldId id="264" r:id="rId15"/>
    <p:sldId id="263" r:id="rId16"/>
    <p:sldId id="262" r:id="rId17"/>
    <p:sldId id="261" r:id="rId18"/>
    <p:sldId id="274" r:id="rId19"/>
    <p:sldId id="275" r:id="rId20"/>
    <p:sldId id="276" r:id="rId21"/>
    <p:sldId id="277" r:id="rId22"/>
    <p:sldId id="278" r:id="rId23"/>
    <p:sldId id="279" r:id="rId24"/>
    <p:sldId id="280" r:id="rId25"/>
    <p:sldId id="281" r:id="rId26"/>
    <p:sldId id="282" r:id="rId27"/>
    <p:sldId id="283" r:id="rId28"/>
    <p:sldId id="295" r:id="rId29"/>
    <p:sldId id="296" r:id="rId30"/>
    <p:sldId id="297" r:id="rId31"/>
    <p:sldId id="298" r:id="rId32"/>
    <p:sldId id="299" r:id="rId33"/>
    <p:sldId id="300" r:id="rId34"/>
    <p:sldId id="301" r:id="rId35"/>
    <p:sldId id="306" r:id="rId36"/>
    <p:sldId id="305"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1" d="100"/>
          <a:sy n="81" d="100"/>
        </p:scale>
        <p:origin x="-1056"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F14D044-DA1D-4D63-AC4C-6A579690D93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A9A3B6-4391-4745-92D7-8DAD543B8EC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F14D044-DA1D-4D63-AC4C-6A579690D93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A9A3B6-4391-4745-92D7-8DAD543B8EC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AF14D044-DA1D-4D63-AC4C-6A579690D93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A9A3B6-4391-4745-92D7-8DAD543B8EC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AF14D044-DA1D-4D63-AC4C-6A579690D93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A9A3B6-4391-4745-92D7-8DAD543B8EC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AF14D044-DA1D-4D63-AC4C-6A579690D938}"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A9A3B6-4391-4745-92D7-8DAD543B8EC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F14D044-DA1D-4D63-AC4C-6A579690D938}"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A9A3B6-4391-4745-92D7-8DAD543B8EC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14D044-DA1D-4D63-AC4C-6A579690D93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A9A3B6-4391-4745-92D7-8DAD543B8EC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AF14D044-DA1D-4D63-AC4C-6A579690D93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A9A3B6-4391-4745-92D7-8DAD543B8EC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AF14D044-DA1D-4D63-AC4C-6A579690D93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A9A3B6-4391-4745-92D7-8DAD543B8EC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F14D044-DA1D-4D63-AC4C-6A579690D93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A9A3B6-4391-4745-92D7-8DAD543B8EC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F14D044-DA1D-4D63-AC4C-6A579690D93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A9A3B6-4391-4745-92D7-8DAD543B8EC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14D044-DA1D-4D63-AC4C-6A579690D938}"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A9A3B6-4391-4745-92D7-8DAD543B8EC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072230"/>
          </a:xfrm>
        </p:spPr>
        <p:txBody>
          <a:bodyPr/>
          <a:lstStyle/>
          <a:p>
            <a:pPr>
              <a:buNone/>
            </a:pPr>
            <a:r>
              <a:rPr lang="en-US" sz="2000" b="1" dirty="0" smtClean="0"/>
              <a:t>Binary Tree:</a:t>
            </a:r>
            <a:r>
              <a:rPr lang="en-GB" sz="2000" b="1" dirty="0" smtClean="0"/>
              <a:t> </a:t>
            </a:r>
            <a:endParaRPr lang="en-GB" sz="2000" b="1" dirty="0" smtClean="0"/>
          </a:p>
          <a:p>
            <a:pPr>
              <a:buFont typeface="Wingdings" panose="05000000000000000000" pitchFamily="2" charset="2"/>
              <a:buChar char="§"/>
            </a:pPr>
            <a:r>
              <a:rPr lang="en-GB" sz="2000" dirty="0" smtClean="0"/>
              <a:t>In </a:t>
            </a:r>
            <a:r>
              <a:rPr lang="en-GB" sz="2000" dirty="0"/>
              <a:t>a binary tree, every node can have a maximum of two children but there is no need to maintain the order of nodes basing on their values. In a binary tree, the elements are arranged in the order they arrive at the tree from top to bottom and left to right</a:t>
            </a:r>
            <a:r>
              <a:rPr lang="en-GB" sz="2000" dirty="0" smtClean="0"/>
              <a:t>.</a:t>
            </a:r>
            <a:endParaRPr lang="en-GB" sz="2000" dirty="0" smtClean="0"/>
          </a:p>
          <a:p>
            <a:pPr>
              <a:buFont typeface="Wingdings" panose="05000000000000000000" pitchFamily="2" charset="2"/>
              <a:buChar char="§"/>
            </a:pPr>
            <a:r>
              <a:rPr lang="en-GB" sz="2000" dirty="0" smtClean="0"/>
              <a:t>To </a:t>
            </a:r>
            <a:r>
              <a:rPr lang="en-GB" sz="2000" dirty="0"/>
              <a:t>enhance the performance of binary tree, we use a special type of binary tree known as </a:t>
            </a:r>
            <a:r>
              <a:rPr lang="en-GB" sz="2000" b="1" dirty="0"/>
              <a:t>Binary Search Tree</a:t>
            </a:r>
            <a:r>
              <a:rPr lang="en-GB" sz="2000" dirty="0"/>
              <a:t>. Binary search tree mainly focuses on the search operation in a binary tree.</a:t>
            </a:r>
            <a:endParaRPr lang="en-GB" sz="2000" b="1" dirty="0"/>
          </a:p>
          <a:p>
            <a:pPr>
              <a:buNone/>
            </a:pPr>
            <a:r>
              <a:rPr lang="en-US" sz="2000" b="1" dirty="0" smtClean="0"/>
              <a:t>Binary </a:t>
            </a:r>
            <a:r>
              <a:rPr lang="en-US" sz="2000" b="1" dirty="0"/>
              <a:t>Search </a:t>
            </a:r>
            <a:r>
              <a:rPr lang="en-US" sz="2000" b="1" dirty="0" smtClean="0"/>
              <a:t>Tree:</a:t>
            </a:r>
            <a:r>
              <a:rPr lang="en-GB" sz="2000" b="1" dirty="0"/>
              <a:t> </a:t>
            </a:r>
            <a:endParaRPr lang="en-GB" sz="2000" b="1" dirty="0" smtClean="0"/>
          </a:p>
          <a:p>
            <a:pPr>
              <a:buNone/>
            </a:pPr>
            <a:r>
              <a:rPr lang="en-GB" sz="1800" dirty="0" smtClean="0"/>
              <a:t>Binary </a:t>
            </a:r>
            <a:r>
              <a:rPr lang="en-GB" sz="1800" dirty="0"/>
              <a:t>Search Tree is a binary tree in which every node contains only smaller values in its left </a:t>
            </a:r>
            <a:r>
              <a:rPr lang="en-GB" sz="1800" dirty="0" err="1"/>
              <a:t>subtree</a:t>
            </a:r>
            <a:r>
              <a:rPr lang="en-GB" sz="1800" dirty="0"/>
              <a:t> and only larger values in its right </a:t>
            </a:r>
            <a:r>
              <a:rPr lang="en-GB" sz="1800" dirty="0" err="1"/>
              <a:t>subtree</a:t>
            </a:r>
            <a:r>
              <a:rPr lang="en-GB" sz="1800" dirty="0" smtClean="0"/>
              <a:t>.</a:t>
            </a:r>
            <a:endParaRPr lang="en-GB" sz="1800" dirty="0" smtClean="0"/>
          </a:p>
          <a:p>
            <a:pPr>
              <a:buNone/>
            </a:pPr>
            <a:endParaRPr lang="en-GB" sz="1800" dirty="0"/>
          </a:p>
          <a:p>
            <a:pPr>
              <a:buNone/>
            </a:pPr>
            <a:endParaRPr lang="en-GB" sz="1800" dirty="0" smtClean="0"/>
          </a:p>
          <a:p>
            <a:pPr>
              <a:buNone/>
            </a:pPr>
            <a:endParaRPr lang="en-GB" sz="1800" dirty="0" smtClean="0"/>
          </a:p>
          <a:p>
            <a:pPr>
              <a:buNone/>
            </a:pPr>
            <a:endParaRPr lang="en-GB" sz="1800" dirty="0" smtClean="0"/>
          </a:p>
          <a:p>
            <a:pPr>
              <a:buNone/>
            </a:pPr>
            <a:endParaRPr lang="en-US" b="1" dirty="0"/>
          </a:p>
          <a:p>
            <a:endParaRPr lang="en-US" dirty="0"/>
          </a:p>
        </p:txBody>
      </p:sp>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p:cNvPicPr>
            <a:picLocks noChangeAspect="1" noChangeArrowheads="1"/>
          </p:cNvPicPr>
          <p:nvPr/>
        </p:nvPicPr>
        <p:blipFill>
          <a:blip r:embed="rId1"/>
          <a:srcRect/>
          <a:stretch>
            <a:fillRect/>
          </a:stretch>
        </p:blipFill>
        <p:spPr bwMode="auto">
          <a:xfrm>
            <a:off x="2143108" y="3929066"/>
            <a:ext cx="5429288" cy="2143140"/>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457200" y="285728"/>
            <a:ext cx="8229600" cy="6286544"/>
          </a:xfrm>
        </p:spPr>
        <p:txBody>
          <a:bodyPr/>
          <a:lstStyle/>
          <a:p>
            <a:pPr>
              <a:buNone/>
            </a:pPr>
            <a:r>
              <a:rPr lang="en-GB" sz="1800" b="1" dirty="0"/>
              <a:t>Example</a:t>
            </a:r>
            <a:endParaRPr lang="en-GB" sz="1800" b="1" dirty="0"/>
          </a:p>
          <a:p>
            <a:pPr>
              <a:buNone/>
            </a:pPr>
            <a:r>
              <a:rPr lang="en-GB" sz="1800" dirty="0" smtClean="0"/>
              <a:t>	The </a:t>
            </a:r>
            <a:r>
              <a:rPr lang="en-GB" sz="1800" dirty="0"/>
              <a:t>following tree is a Binary Search Tree. In this tree, left </a:t>
            </a:r>
            <a:r>
              <a:rPr lang="en-GB" sz="1800" dirty="0" err="1"/>
              <a:t>subtree</a:t>
            </a:r>
            <a:r>
              <a:rPr lang="en-GB" sz="1800" dirty="0"/>
              <a:t> of every node contains nodes with smaller values and right </a:t>
            </a:r>
            <a:r>
              <a:rPr lang="en-GB" sz="1800" dirty="0" err="1"/>
              <a:t>subtree</a:t>
            </a:r>
            <a:r>
              <a:rPr lang="en-GB" sz="1800" dirty="0"/>
              <a:t> of every node contains larger values.</a:t>
            </a:r>
            <a:endParaRPr lang="en-GB" sz="1800" dirty="0"/>
          </a:p>
          <a:p>
            <a:r>
              <a:rPr lang="en-GB" sz="2000" dirty="0"/>
              <a:t>Every binary search tree is a binary tree but every binary tree need not to be binary </a:t>
            </a:r>
            <a:r>
              <a:rPr lang="en-GB" sz="2000" dirty="0" smtClean="0"/>
              <a:t>search </a:t>
            </a:r>
            <a:r>
              <a:rPr lang="en-GB" sz="2000" dirty="0"/>
              <a:t>tree</a:t>
            </a:r>
            <a:r>
              <a:rPr lang="en-GB" sz="2000" dirty="0" smtClean="0"/>
              <a:t>.</a:t>
            </a:r>
            <a:endParaRPr lang="en-GB" sz="2000" dirty="0" smtClean="0"/>
          </a:p>
          <a:p>
            <a:endParaRPr lang="en-GB" sz="2000" dirty="0"/>
          </a:p>
          <a:p>
            <a:endParaRPr lang="en-GB" sz="2000" dirty="0" smtClean="0"/>
          </a:p>
          <a:p>
            <a:pPr>
              <a:buNone/>
            </a:pPr>
            <a:endParaRPr lang="en-GB" sz="2000" dirty="0"/>
          </a:p>
          <a:p>
            <a:endParaRPr lang="en-GB" sz="2000" dirty="0" smtClean="0"/>
          </a:p>
          <a:p>
            <a:endParaRPr lang="en-GB" sz="2000" dirty="0"/>
          </a:p>
          <a:p>
            <a:endParaRPr lang="en-GB" sz="2000" dirty="0" smtClean="0"/>
          </a:p>
          <a:p>
            <a:pPr>
              <a:buNone/>
            </a:pPr>
            <a:r>
              <a:rPr lang="en-GB" sz="2000" b="1" dirty="0" smtClean="0"/>
              <a:t>Operations on a Binary Search Tree</a:t>
            </a:r>
            <a:endParaRPr lang="en-GB" sz="2000" b="1" dirty="0" smtClean="0"/>
          </a:p>
          <a:p>
            <a:pPr>
              <a:buNone/>
            </a:pPr>
            <a:r>
              <a:rPr lang="en-GB" sz="2000" dirty="0" smtClean="0"/>
              <a:t>The following operations are performed on a binary search tree...</a:t>
            </a:r>
            <a:endParaRPr lang="en-GB" sz="2000" dirty="0" smtClean="0"/>
          </a:p>
          <a:p>
            <a:pPr marL="457200" indent="-457200">
              <a:buFont typeface="+mj-lt"/>
              <a:buAutoNum type="arabicPeriod"/>
            </a:pPr>
            <a:r>
              <a:rPr lang="en-GB" sz="2000" b="1" dirty="0" smtClean="0"/>
              <a:t>Search</a:t>
            </a:r>
            <a:endParaRPr lang="en-GB" sz="2000" b="1" dirty="0" smtClean="0"/>
          </a:p>
          <a:p>
            <a:pPr marL="457200" indent="-457200">
              <a:buFont typeface="+mj-lt"/>
              <a:buAutoNum type="arabicPeriod"/>
            </a:pPr>
            <a:r>
              <a:rPr lang="en-GB" sz="2000" b="1" dirty="0" smtClean="0"/>
              <a:t>Insertion</a:t>
            </a:r>
            <a:endParaRPr lang="en-GB" sz="2000" b="1" dirty="0" smtClean="0"/>
          </a:p>
          <a:p>
            <a:pPr marL="457200" indent="-457200">
              <a:buFont typeface="+mj-lt"/>
              <a:buAutoNum type="arabicPeriod"/>
            </a:pPr>
            <a:r>
              <a:rPr lang="en-GB" sz="2000" b="1" dirty="0" smtClean="0"/>
              <a:t>Deletion</a:t>
            </a:r>
            <a:endParaRPr lang="en-GB" sz="2000" b="1" dirty="0" smtClean="0"/>
          </a:p>
          <a:p>
            <a:endParaRPr lang="en-US" sz="2000" dirty="0"/>
          </a:p>
        </p:txBody>
      </p:sp>
      <p:pic>
        <p:nvPicPr>
          <p:cNvPr id="12" name="Picture 3"/>
          <p:cNvPicPr>
            <a:picLocks noChangeAspect="1" noChangeArrowheads="1"/>
          </p:cNvPicPr>
          <p:nvPr/>
        </p:nvPicPr>
        <p:blipFill>
          <a:blip r:embed="rId1"/>
          <a:srcRect/>
          <a:stretch>
            <a:fillRect/>
          </a:stretch>
        </p:blipFill>
        <p:spPr bwMode="auto">
          <a:xfrm>
            <a:off x="1000100" y="2214554"/>
            <a:ext cx="6286544" cy="2071702"/>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500034" y="285728"/>
            <a:ext cx="8215370" cy="6143668"/>
          </a:xfrm>
        </p:spPr>
        <p:txBody>
          <a:bodyPr>
            <a:normAutofit fontScale="77500" lnSpcReduction="20000"/>
          </a:bodyPr>
          <a:lstStyle/>
          <a:p>
            <a:pPr>
              <a:buNone/>
            </a:pPr>
            <a:r>
              <a:rPr lang="en-GB" sz="2600" b="1" dirty="0"/>
              <a:t>Search Operation in BST</a:t>
            </a:r>
            <a:endParaRPr lang="en-GB" sz="2600" b="1" dirty="0"/>
          </a:p>
          <a:p>
            <a:pPr>
              <a:buNone/>
            </a:pPr>
            <a:r>
              <a:rPr lang="en-GB" sz="2600" dirty="0"/>
              <a:t>In a binary search tree, the search operation is performed with </a:t>
            </a:r>
            <a:r>
              <a:rPr lang="en-GB" sz="2600" b="1" dirty="0"/>
              <a:t>O(log n)</a:t>
            </a:r>
            <a:r>
              <a:rPr lang="en-GB" sz="2600" dirty="0"/>
              <a:t> time complexity. The search operation is performed as follows</a:t>
            </a:r>
            <a:r>
              <a:rPr lang="en-GB" sz="2600" dirty="0" smtClean="0"/>
              <a:t>...</a:t>
            </a:r>
            <a:endParaRPr lang="en-GB" sz="2600" dirty="0"/>
          </a:p>
          <a:p>
            <a:pPr>
              <a:buNone/>
            </a:pPr>
            <a:r>
              <a:rPr lang="en-GB" sz="2600" b="1" dirty="0"/>
              <a:t>Step 1 - </a:t>
            </a:r>
            <a:r>
              <a:rPr lang="en-GB" sz="2600" dirty="0"/>
              <a:t>Read the search element from the user</a:t>
            </a:r>
            <a:r>
              <a:rPr lang="en-GB" sz="2600" dirty="0" smtClean="0"/>
              <a:t>.</a:t>
            </a:r>
            <a:endParaRPr lang="en-GB" sz="2600" dirty="0"/>
          </a:p>
          <a:p>
            <a:pPr>
              <a:buNone/>
            </a:pPr>
            <a:r>
              <a:rPr lang="en-GB" sz="2600" b="1" dirty="0"/>
              <a:t>Step 2 - </a:t>
            </a:r>
            <a:r>
              <a:rPr lang="en-GB" sz="2600" dirty="0"/>
              <a:t>Compare the search element with the value of root node in the tree</a:t>
            </a:r>
            <a:r>
              <a:rPr lang="en-GB" sz="2600" dirty="0" smtClean="0"/>
              <a:t>.</a:t>
            </a:r>
            <a:endParaRPr lang="en-GB" sz="2600" dirty="0"/>
          </a:p>
          <a:p>
            <a:pPr>
              <a:buNone/>
            </a:pPr>
            <a:r>
              <a:rPr lang="en-GB" sz="2600" b="1" dirty="0"/>
              <a:t>Step 3 - </a:t>
            </a:r>
            <a:r>
              <a:rPr lang="en-GB" sz="2600" dirty="0"/>
              <a:t>If both are matched, then display "Given node is </a:t>
            </a:r>
            <a:r>
              <a:rPr lang="en-GB" sz="2600" dirty="0" smtClean="0"/>
              <a:t>found" </a:t>
            </a:r>
            <a:r>
              <a:rPr lang="en-GB" sz="2600" dirty="0"/>
              <a:t>and terminate the </a:t>
            </a:r>
            <a:r>
              <a:rPr lang="en-GB" sz="2600" dirty="0" smtClean="0"/>
              <a:t>function</a:t>
            </a:r>
            <a:endParaRPr lang="en-GB" sz="2600" dirty="0"/>
          </a:p>
          <a:p>
            <a:pPr>
              <a:buNone/>
            </a:pPr>
            <a:r>
              <a:rPr lang="en-GB" sz="2600" b="1" dirty="0"/>
              <a:t>Step 4 - </a:t>
            </a:r>
            <a:r>
              <a:rPr lang="en-GB" sz="2600" dirty="0"/>
              <a:t>If both are not matched, then check whether search element is smaller or larger than that node value</a:t>
            </a:r>
            <a:r>
              <a:rPr lang="en-GB" sz="2600" dirty="0" smtClean="0"/>
              <a:t>.</a:t>
            </a:r>
            <a:endParaRPr lang="en-GB" sz="2600" dirty="0"/>
          </a:p>
          <a:p>
            <a:pPr>
              <a:buNone/>
            </a:pPr>
            <a:r>
              <a:rPr lang="en-GB" sz="2600" b="1" dirty="0"/>
              <a:t>Step 5 - </a:t>
            </a:r>
            <a:r>
              <a:rPr lang="en-GB" sz="2600" dirty="0"/>
              <a:t>If search element is smaller, then continue the search process in left </a:t>
            </a:r>
            <a:r>
              <a:rPr lang="en-GB" sz="2600" dirty="0" err="1"/>
              <a:t>subtree</a:t>
            </a:r>
            <a:r>
              <a:rPr lang="en-GB" sz="2600" dirty="0" smtClean="0"/>
              <a:t>.</a:t>
            </a:r>
            <a:endParaRPr lang="en-GB" sz="2600" dirty="0"/>
          </a:p>
          <a:p>
            <a:pPr>
              <a:buNone/>
            </a:pPr>
            <a:r>
              <a:rPr lang="en-GB" sz="2600" b="1" dirty="0"/>
              <a:t>Step 6- </a:t>
            </a:r>
            <a:r>
              <a:rPr lang="en-GB" sz="2600" dirty="0"/>
              <a:t>If search element is larger, then continue the search process in right </a:t>
            </a:r>
            <a:r>
              <a:rPr lang="en-GB" sz="2600" dirty="0" err="1"/>
              <a:t>subtree</a:t>
            </a:r>
            <a:r>
              <a:rPr lang="en-GB" sz="2600" dirty="0" smtClean="0"/>
              <a:t>.</a:t>
            </a:r>
            <a:endParaRPr lang="en-GB" sz="2600" dirty="0"/>
          </a:p>
          <a:p>
            <a:pPr>
              <a:buNone/>
            </a:pPr>
            <a:r>
              <a:rPr lang="en-GB" sz="2600" b="1" dirty="0"/>
              <a:t>Step 7 - </a:t>
            </a:r>
            <a:r>
              <a:rPr lang="en-GB" sz="2600" dirty="0"/>
              <a:t>Repeat the same until we find the exact element or until the search element is compared with the leaf </a:t>
            </a:r>
            <a:r>
              <a:rPr lang="en-GB" sz="2600" dirty="0" smtClean="0"/>
              <a:t>node</a:t>
            </a:r>
            <a:endParaRPr lang="en-GB" sz="2600" dirty="0"/>
          </a:p>
          <a:p>
            <a:pPr>
              <a:buNone/>
            </a:pPr>
            <a:r>
              <a:rPr lang="en-GB" sz="2600" b="1" dirty="0"/>
              <a:t>Step 8 - </a:t>
            </a:r>
            <a:r>
              <a:rPr lang="en-GB" sz="2600" dirty="0"/>
              <a:t>If we reach to the node having the value equal to the search value then display "Element is found" and terminate the function</a:t>
            </a:r>
            <a:r>
              <a:rPr lang="en-GB" sz="2600" dirty="0" smtClean="0"/>
              <a:t>.</a:t>
            </a:r>
            <a:endParaRPr lang="en-GB" sz="2600" dirty="0"/>
          </a:p>
          <a:p>
            <a:pPr>
              <a:buNone/>
            </a:pPr>
            <a:r>
              <a:rPr lang="en-GB" sz="2600" b="1" dirty="0"/>
              <a:t>Step 9 - </a:t>
            </a:r>
            <a:r>
              <a:rPr lang="en-GB" sz="2600" dirty="0"/>
              <a:t>If we reach to the leaf node and if it is also not matched with the search element, then display "Element is not found" and terminate the function.</a:t>
            </a:r>
            <a:endParaRPr lang="en-GB" sz="2600"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072230"/>
          </a:xfrm>
        </p:spPr>
        <p:txBody>
          <a:bodyPr>
            <a:normAutofit lnSpcReduction="10000"/>
          </a:bodyPr>
          <a:lstStyle/>
          <a:p>
            <a:pPr>
              <a:buNone/>
            </a:pPr>
            <a:r>
              <a:rPr lang="en-GB" sz="2000" b="1" dirty="0"/>
              <a:t>Insertion Operation in BST</a:t>
            </a:r>
            <a:endParaRPr lang="en-GB" sz="2000" b="1" dirty="0"/>
          </a:p>
          <a:p>
            <a:pPr>
              <a:buNone/>
            </a:pPr>
            <a:r>
              <a:rPr lang="en-GB" sz="1800" dirty="0"/>
              <a:t>In a binary search tree, the insertion operation is performed with </a:t>
            </a:r>
            <a:r>
              <a:rPr lang="en-GB" sz="1800" b="1" dirty="0"/>
              <a:t>O(log n)</a:t>
            </a:r>
            <a:r>
              <a:rPr lang="en-GB" sz="1800" dirty="0"/>
              <a:t> time complexity. In binary search tree, new node is always inserted as a leaf node. The insertion operation is performed as follows...</a:t>
            </a:r>
            <a:endParaRPr lang="en-GB" sz="1800" dirty="0"/>
          </a:p>
          <a:p>
            <a:pPr>
              <a:buNone/>
            </a:pPr>
            <a:r>
              <a:rPr lang="en-GB" sz="1800" b="1" dirty="0"/>
              <a:t>Step 1 - </a:t>
            </a:r>
            <a:r>
              <a:rPr lang="en-GB" sz="1800" dirty="0"/>
              <a:t>Create a </a:t>
            </a:r>
            <a:r>
              <a:rPr lang="en-GB" sz="1800" dirty="0" err="1"/>
              <a:t>newNode</a:t>
            </a:r>
            <a:r>
              <a:rPr lang="en-GB" sz="1800" dirty="0"/>
              <a:t> with given value and set its </a:t>
            </a:r>
            <a:r>
              <a:rPr lang="en-GB" sz="1800" b="1" dirty="0"/>
              <a:t>left</a:t>
            </a:r>
            <a:r>
              <a:rPr lang="en-GB" sz="1800" dirty="0"/>
              <a:t> and </a:t>
            </a:r>
            <a:r>
              <a:rPr lang="en-GB" sz="1800" b="1" dirty="0"/>
              <a:t>right</a:t>
            </a:r>
            <a:r>
              <a:rPr lang="en-GB" sz="1800" dirty="0"/>
              <a:t> to </a:t>
            </a:r>
            <a:r>
              <a:rPr lang="en-GB" sz="1800" b="1" dirty="0"/>
              <a:t>NULL</a:t>
            </a:r>
            <a:r>
              <a:rPr lang="en-GB" sz="1800" dirty="0" smtClean="0"/>
              <a:t>.</a:t>
            </a:r>
            <a:endParaRPr lang="en-GB" sz="1800" dirty="0" smtClean="0"/>
          </a:p>
          <a:p>
            <a:pPr>
              <a:buNone/>
            </a:pPr>
            <a:endParaRPr lang="en-GB" sz="1800" dirty="0"/>
          </a:p>
          <a:p>
            <a:pPr>
              <a:buNone/>
            </a:pPr>
            <a:r>
              <a:rPr lang="en-GB" sz="1800" b="1" dirty="0"/>
              <a:t>Step 2 - </a:t>
            </a:r>
            <a:r>
              <a:rPr lang="en-GB" sz="1800" dirty="0"/>
              <a:t>Check whether tree is Empty</a:t>
            </a:r>
            <a:r>
              <a:rPr lang="en-GB" sz="1800" dirty="0" smtClean="0"/>
              <a:t>.</a:t>
            </a:r>
            <a:endParaRPr lang="en-GB" sz="1800" dirty="0" smtClean="0"/>
          </a:p>
          <a:p>
            <a:pPr>
              <a:buNone/>
            </a:pPr>
            <a:endParaRPr lang="en-GB" sz="1800" dirty="0"/>
          </a:p>
          <a:p>
            <a:pPr>
              <a:buNone/>
            </a:pPr>
            <a:r>
              <a:rPr lang="en-GB" sz="1800" b="1" dirty="0"/>
              <a:t>Step 3 - </a:t>
            </a:r>
            <a:r>
              <a:rPr lang="en-GB" sz="1800" dirty="0"/>
              <a:t>If the tree is </a:t>
            </a:r>
            <a:r>
              <a:rPr lang="en-GB" sz="1800" b="1" dirty="0"/>
              <a:t>Empty</a:t>
            </a:r>
            <a:r>
              <a:rPr lang="en-GB" sz="1800" dirty="0"/>
              <a:t>, then set </a:t>
            </a:r>
            <a:r>
              <a:rPr lang="en-GB" sz="1800" b="1" dirty="0"/>
              <a:t>root</a:t>
            </a:r>
            <a:r>
              <a:rPr lang="en-GB" sz="1800" dirty="0"/>
              <a:t> to </a:t>
            </a:r>
            <a:r>
              <a:rPr lang="en-GB" sz="1800" b="1" dirty="0" err="1"/>
              <a:t>newNode</a:t>
            </a:r>
            <a:r>
              <a:rPr lang="en-GB" sz="1800" dirty="0" smtClean="0"/>
              <a:t>.</a:t>
            </a:r>
            <a:endParaRPr lang="en-GB" sz="1800" dirty="0" smtClean="0"/>
          </a:p>
          <a:p>
            <a:pPr>
              <a:buNone/>
            </a:pPr>
            <a:endParaRPr lang="en-GB" sz="1800" dirty="0"/>
          </a:p>
          <a:p>
            <a:pPr>
              <a:buNone/>
            </a:pPr>
            <a:r>
              <a:rPr lang="en-GB" sz="1800" b="1" dirty="0"/>
              <a:t>Step 4 - </a:t>
            </a:r>
            <a:r>
              <a:rPr lang="en-GB" sz="1800" dirty="0"/>
              <a:t>If the tree is </a:t>
            </a:r>
            <a:r>
              <a:rPr lang="en-GB" sz="1800" b="1" dirty="0"/>
              <a:t>Not Empty</a:t>
            </a:r>
            <a:r>
              <a:rPr lang="en-GB" sz="1800" dirty="0"/>
              <a:t>, then check whether the value of </a:t>
            </a:r>
            <a:r>
              <a:rPr lang="en-GB" sz="1800" dirty="0" err="1"/>
              <a:t>newNode</a:t>
            </a:r>
            <a:r>
              <a:rPr lang="en-GB" sz="1800" dirty="0"/>
              <a:t> is </a:t>
            </a:r>
            <a:r>
              <a:rPr lang="en-GB" sz="1800" b="1" dirty="0"/>
              <a:t>smaller</a:t>
            </a:r>
            <a:r>
              <a:rPr lang="en-GB" sz="1800" dirty="0"/>
              <a:t> or </a:t>
            </a:r>
            <a:r>
              <a:rPr lang="en-GB" sz="1800" b="1" dirty="0"/>
              <a:t>larger</a:t>
            </a:r>
            <a:r>
              <a:rPr lang="en-GB" sz="1800" dirty="0"/>
              <a:t> than the node (here it is root node</a:t>
            </a:r>
            <a:r>
              <a:rPr lang="en-GB" sz="1800" dirty="0" smtClean="0"/>
              <a:t>).</a:t>
            </a:r>
            <a:endParaRPr lang="en-GB" sz="1800" dirty="0" smtClean="0"/>
          </a:p>
          <a:p>
            <a:pPr>
              <a:buNone/>
            </a:pPr>
            <a:endParaRPr lang="en-GB" sz="1800" dirty="0"/>
          </a:p>
          <a:p>
            <a:pPr>
              <a:buNone/>
            </a:pPr>
            <a:r>
              <a:rPr lang="en-GB" sz="1800" b="1" dirty="0"/>
              <a:t>Step 5 - </a:t>
            </a:r>
            <a:r>
              <a:rPr lang="en-GB" sz="1800" dirty="0"/>
              <a:t>If </a:t>
            </a:r>
            <a:r>
              <a:rPr lang="en-GB" sz="1800" dirty="0" err="1"/>
              <a:t>newNode</a:t>
            </a:r>
            <a:r>
              <a:rPr lang="en-GB" sz="1800" dirty="0"/>
              <a:t> is </a:t>
            </a:r>
            <a:r>
              <a:rPr lang="en-GB" sz="1800" b="1" dirty="0"/>
              <a:t>smaller</a:t>
            </a:r>
            <a:r>
              <a:rPr lang="en-GB" sz="1800" dirty="0"/>
              <a:t> than </a:t>
            </a:r>
            <a:r>
              <a:rPr lang="en-GB" sz="1800" b="1" dirty="0"/>
              <a:t>or equal</a:t>
            </a:r>
            <a:r>
              <a:rPr lang="en-GB" sz="1800" dirty="0"/>
              <a:t> to the node then move to its </a:t>
            </a:r>
            <a:r>
              <a:rPr lang="en-GB" sz="1800" b="1" dirty="0"/>
              <a:t>left</a:t>
            </a:r>
            <a:r>
              <a:rPr lang="en-GB" sz="1800" dirty="0"/>
              <a:t> child. If </a:t>
            </a:r>
            <a:r>
              <a:rPr lang="en-GB" sz="1800" dirty="0" err="1"/>
              <a:t>newNode</a:t>
            </a:r>
            <a:r>
              <a:rPr lang="en-GB" sz="1800" dirty="0"/>
              <a:t> is </a:t>
            </a:r>
            <a:r>
              <a:rPr lang="en-GB" sz="1800" b="1" dirty="0"/>
              <a:t>larger</a:t>
            </a:r>
            <a:r>
              <a:rPr lang="en-GB" sz="1800" dirty="0"/>
              <a:t> than the node then move to its </a:t>
            </a:r>
            <a:r>
              <a:rPr lang="en-GB" sz="1800" b="1" dirty="0"/>
              <a:t>right</a:t>
            </a:r>
            <a:r>
              <a:rPr lang="en-GB" sz="1800" dirty="0"/>
              <a:t> child</a:t>
            </a:r>
            <a:r>
              <a:rPr lang="en-GB" sz="1800" dirty="0" smtClean="0"/>
              <a:t>.</a:t>
            </a:r>
            <a:endParaRPr lang="en-GB" sz="1800" dirty="0" smtClean="0"/>
          </a:p>
          <a:p>
            <a:pPr>
              <a:buNone/>
            </a:pPr>
            <a:endParaRPr lang="en-GB" sz="1800" dirty="0"/>
          </a:p>
          <a:p>
            <a:pPr>
              <a:buNone/>
            </a:pPr>
            <a:r>
              <a:rPr lang="en-GB" sz="1800" b="1" dirty="0"/>
              <a:t>Step 6- </a:t>
            </a:r>
            <a:r>
              <a:rPr lang="en-GB" sz="1800" dirty="0"/>
              <a:t>Repeat the above steps until we reach to the </a:t>
            </a:r>
            <a:r>
              <a:rPr lang="en-GB" sz="1800" b="1" dirty="0"/>
              <a:t>leaf</a:t>
            </a:r>
            <a:r>
              <a:rPr lang="en-GB" sz="1800" dirty="0"/>
              <a:t> node (i.e., reaches to NULL</a:t>
            </a:r>
            <a:r>
              <a:rPr lang="en-GB" sz="1800" dirty="0" smtClean="0"/>
              <a:t>).</a:t>
            </a:r>
            <a:endParaRPr lang="en-GB" sz="1800" dirty="0" smtClean="0"/>
          </a:p>
          <a:p>
            <a:pPr>
              <a:buNone/>
            </a:pPr>
            <a:endParaRPr lang="en-GB" sz="1800" dirty="0"/>
          </a:p>
          <a:p>
            <a:pPr>
              <a:buNone/>
            </a:pPr>
            <a:r>
              <a:rPr lang="en-GB" sz="1800" b="1" dirty="0"/>
              <a:t>Step 7 - </a:t>
            </a:r>
            <a:r>
              <a:rPr lang="en-GB" sz="1800" dirty="0"/>
              <a:t>After reaching the leaf node, insert the </a:t>
            </a:r>
            <a:r>
              <a:rPr lang="en-GB" sz="1800" dirty="0" err="1"/>
              <a:t>newNode</a:t>
            </a:r>
            <a:r>
              <a:rPr lang="en-GB" sz="1800" dirty="0"/>
              <a:t> as </a:t>
            </a:r>
            <a:r>
              <a:rPr lang="en-GB" sz="1800" b="1" dirty="0"/>
              <a:t>left child</a:t>
            </a:r>
            <a:r>
              <a:rPr lang="en-GB" sz="1800" dirty="0"/>
              <a:t> if the </a:t>
            </a:r>
            <a:r>
              <a:rPr lang="en-GB" sz="1800" dirty="0" err="1"/>
              <a:t>newNode</a:t>
            </a:r>
            <a:r>
              <a:rPr lang="en-GB" sz="1800" dirty="0"/>
              <a:t> is </a:t>
            </a:r>
            <a:r>
              <a:rPr lang="en-GB" sz="1800" b="1" dirty="0"/>
              <a:t>smaller or equal</a:t>
            </a:r>
            <a:r>
              <a:rPr lang="en-GB" sz="1800" dirty="0"/>
              <a:t> to that leaf node or else insert it as </a:t>
            </a:r>
            <a:r>
              <a:rPr lang="en-GB" sz="1800" b="1" dirty="0"/>
              <a:t>right child</a:t>
            </a:r>
            <a:r>
              <a:rPr lang="en-GB" sz="1800" dirty="0"/>
              <a:t>.</a:t>
            </a:r>
            <a:endParaRPr lang="en-GB" sz="1800" dirty="0"/>
          </a:p>
        </p:txBody>
      </p:sp>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072230"/>
          </a:xfrm>
        </p:spPr>
        <p:txBody>
          <a:bodyPr>
            <a:normAutofit fontScale="55000" lnSpcReduction="20000"/>
          </a:bodyPr>
          <a:lstStyle/>
          <a:p>
            <a:pPr>
              <a:buNone/>
            </a:pPr>
            <a:r>
              <a:rPr lang="en-GB" b="1" dirty="0"/>
              <a:t>Deletion Operation in BST</a:t>
            </a:r>
            <a:endParaRPr lang="en-GB" b="1" dirty="0"/>
          </a:p>
          <a:p>
            <a:pPr>
              <a:buNone/>
            </a:pPr>
            <a:r>
              <a:rPr lang="en-GB" dirty="0"/>
              <a:t>In a binary search tree, the deletion operation is performed with </a:t>
            </a:r>
            <a:r>
              <a:rPr lang="en-GB" b="1" dirty="0"/>
              <a:t>O(log n)</a:t>
            </a:r>
            <a:r>
              <a:rPr lang="en-GB" dirty="0"/>
              <a:t> time complexity. Deleting a node from Binary search tree includes following three cases...</a:t>
            </a:r>
            <a:endParaRPr lang="en-GB" dirty="0"/>
          </a:p>
          <a:p>
            <a:pPr>
              <a:buNone/>
            </a:pPr>
            <a:r>
              <a:rPr lang="en-GB" b="1" dirty="0"/>
              <a:t>Case 1: Deleting a Leaf node (A node with no children)</a:t>
            </a:r>
            <a:endParaRPr lang="en-GB" b="1" dirty="0"/>
          </a:p>
          <a:p>
            <a:pPr>
              <a:buNone/>
            </a:pPr>
            <a:r>
              <a:rPr lang="en-GB" b="1" dirty="0"/>
              <a:t>Case 2: Deleting a node with one child</a:t>
            </a:r>
            <a:endParaRPr lang="en-GB" b="1" dirty="0"/>
          </a:p>
          <a:p>
            <a:pPr>
              <a:buNone/>
            </a:pPr>
            <a:r>
              <a:rPr lang="en-GB" b="1" dirty="0"/>
              <a:t>Case 3: Deleting a node with two children</a:t>
            </a:r>
            <a:endParaRPr lang="en-GB" b="1" dirty="0"/>
          </a:p>
          <a:p>
            <a:pPr>
              <a:buNone/>
            </a:pPr>
            <a:endParaRPr lang="en-GB" b="1" dirty="0" smtClean="0"/>
          </a:p>
          <a:p>
            <a:pPr>
              <a:buNone/>
            </a:pPr>
            <a:r>
              <a:rPr lang="en-GB" b="1" dirty="0" smtClean="0"/>
              <a:t>Case </a:t>
            </a:r>
            <a:r>
              <a:rPr lang="en-GB" b="1" dirty="0"/>
              <a:t>1: Deleting a leaf node</a:t>
            </a:r>
            <a:endParaRPr lang="en-GB" b="1" dirty="0"/>
          </a:p>
          <a:p>
            <a:pPr>
              <a:buNone/>
            </a:pPr>
            <a:r>
              <a:rPr lang="en-GB" dirty="0"/>
              <a:t>We use the following steps to delete a leaf node from BST...</a:t>
            </a:r>
            <a:endParaRPr lang="en-GB" dirty="0"/>
          </a:p>
          <a:p>
            <a:pPr>
              <a:buNone/>
            </a:pPr>
            <a:r>
              <a:rPr lang="en-GB" b="1" dirty="0"/>
              <a:t>Step 1 - Find</a:t>
            </a:r>
            <a:r>
              <a:rPr lang="en-GB" dirty="0"/>
              <a:t> the node to be deleted using </a:t>
            </a:r>
            <a:r>
              <a:rPr lang="en-GB" b="1" dirty="0"/>
              <a:t>search operation</a:t>
            </a:r>
            <a:endParaRPr lang="en-GB" dirty="0"/>
          </a:p>
          <a:p>
            <a:pPr>
              <a:buNone/>
            </a:pPr>
            <a:r>
              <a:rPr lang="en-GB" b="1" dirty="0"/>
              <a:t>Step 2 - </a:t>
            </a:r>
            <a:r>
              <a:rPr lang="en-GB" dirty="0"/>
              <a:t>Delete the node using </a:t>
            </a:r>
            <a:r>
              <a:rPr lang="en-GB" b="1" dirty="0"/>
              <a:t>free</a:t>
            </a:r>
            <a:r>
              <a:rPr lang="en-GB" dirty="0"/>
              <a:t> function (If it is a leaf) and terminate the function</a:t>
            </a:r>
            <a:r>
              <a:rPr lang="en-GB" dirty="0" smtClean="0"/>
              <a:t>.</a:t>
            </a:r>
            <a:endParaRPr lang="en-GB" dirty="0" smtClean="0"/>
          </a:p>
          <a:p>
            <a:pPr>
              <a:buNone/>
            </a:pPr>
            <a:endParaRPr lang="en-GB" dirty="0"/>
          </a:p>
          <a:p>
            <a:pPr>
              <a:buNone/>
            </a:pPr>
            <a:r>
              <a:rPr lang="en-GB" b="1" dirty="0"/>
              <a:t>Case 2: Deleting a node with one </a:t>
            </a:r>
            <a:r>
              <a:rPr lang="en-GB" b="1" dirty="0" smtClean="0"/>
              <a:t>child</a:t>
            </a:r>
            <a:endParaRPr lang="en-GB" b="1" dirty="0" smtClean="0"/>
          </a:p>
          <a:p>
            <a:pPr>
              <a:buNone/>
            </a:pPr>
            <a:endParaRPr lang="en-GB" b="1" dirty="0"/>
          </a:p>
          <a:p>
            <a:pPr>
              <a:buNone/>
            </a:pPr>
            <a:r>
              <a:rPr lang="en-GB" dirty="0"/>
              <a:t>We use the following steps to delete a node with one child from BST...</a:t>
            </a:r>
            <a:endParaRPr lang="en-GB" dirty="0"/>
          </a:p>
          <a:p>
            <a:pPr>
              <a:buNone/>
            </a:pPr>
            <a:r>
              <a:rPr lang="en-GB" b="1" dirty="0"/>
              <a:t>Step 1 - Find</a:t>
            </a:r>
            <a:r>
              <a:rPr lang="en-GB" dirty="0"/>
              <a:t> the node to be deleted using </a:t>
            </a:r>
            <a:r>
              <a:rPr lang="en-GB" b="1" dirty="0"/>
              <a:t>search operation</a:t>
            </a:r>
            <a:endParaRPr lang="en-GB" dirty="0"/>
          </a:p>
          <a:p>
            <a:pPr>
              <a:buNone/>
            </a:pPr>
            <a:r>
              <a:rPr lang="en-GB" b="1" dirty="0"/>
              <a:t>Step 2 - </a:t>
            </a:r>
            <a:r>
              <a:rPr lang="en-GB" dirty="0"/>
              <a:t>If it has only one child then create a link between its parent node and child node.</a:t>
            </a:r>
            <a:endParaRPr lang="en-GB" dirty="0"/>
          </a:p>
          <a:p>
            <a:pPr>
              <a:buNone/>
            </a:pPr>
            <a:r>
              <a:rPr lang="en-GB" b="1" dirty="0"/>
              <a:t>Step 3 - </a:t>
            </a:r>
            <a:r>
              <a:rPr lang="en-GB" dirty="0"/>
              <a:t>Delete the node using </a:t>
            </a:r>
            <a:r>
              <a:rPr lang="en-GB" b="1" dirty="0"/>
              <a:t>free</a:t>
            </a:r>
            <a:r>
              <a:rPr lang="en-GB" dirty="0"/>
              <a:t> function and terminate the function.</a:t>
            </a:r>
            <a:endParaRPr lang="en-GB" dirty="0"/>
          </a:p>
          <a:p>
            <a:endParaRPr lang="en-US" dirty="0"/>
          </a:p>
        </p:txBody>
      </p:sp>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072230"/>
          </a:xfrm>
        </p:spPr>
        <p:txBody>
          <a:bodyPr>
            <a:normAutofit fontScale="77500" lnSpcReduction="20000"/>
          </a:bodyPr>
          <a:lstStyle/>
          <a:p>
            <a:pPr>
              <a:buNone/>
            </a:pPr>
            <a:r>
              <a:rPr lang="en-GB" b="1" dirty="0"/>
              <a:t>Case 3: Deleting a node with two children</a:t>
            </a:r>
            <a:endParaRPr lang="en-GB" b="1" dirty="0"/>
          </a:p>
          <a:p>
            <a:pPr>
              <a:buNone/>
            </a:pPr>
            <a:r>
              <a:rPr lang="en-GB" dirty="0"/>
              <a:t>We use the following steps to delete a node with two children from BST...</a:t>
            </a:r>
            <a:endParaRPr lang="en-GB" dirty="0"/>
          </a:p>
          <a:p>
            <a:pPr>
              <a:buNone/>
            </a:pPr>
            <a:r>
              <a:rPr lang="en-GB" b="1" dirty="0"/>
              <a:t>Step 1 - Find</a:t>
            </a:r>
            <a:r>
              <a:rPr lang="en-GB" dirty="0"/>
              <a:t> the node to be deleted using </a:t>
            </a:r>
            <a:r>
              <a:rPr lang="en-GB" b="1" dirty="0"/>
              <a:t>search operation</a:t>
            </a:r>
            <a:endParaRPr lang="en-GB" dirty="0"/>
          </a:p>
          <a:p>
            <a:pPr>
              <a:buNone/>
            </a:pPr>
            <a:r>
              <a:rPr lang="en-GB" b="1" dirty="0"/>
              <a:t>Step 2 - </a:t>
            </a:r>
            <a:r>
              <a:rPr lang="en-GB" dirty="0"/>
              <a:t>If it has two children, then find the </a:t>
            </a:r>
            <a:r>
              <a:rPr lang="en-GB" b="1" dirty="0"/>
              <a:t>largest</a:t>
            </a:r>
            <a:r>
              <a:rPr lang="en-GB" dirty="0"/>
              <a:t> node in its </a:t>
            </a:r>
            <a:r>
              <a:rPr lang="en-GB" b="1" dirty="0"/>
              <a:t>left </a:t>
            </a:r>
            <a:r>
              <a:rPr lang="en-GB" b="1" dirty="0" err="1"/>
              <a:t>subtree</a:t>
            </a:r>
            <a:r>
              <a:rPr lang="en-GB" dirty="0"/>
              <a:t> (OR) the </a:t>
            </a:r>
            <a:r>
              <a:rPr lang="en-GB" b="1" dirty="0"/>
              <a:t>smallest</a:t>
            </a:r>
            <a:r>
              <a:rPr lang="en-GB" dirty="0"/>
              <a:t> node in its </a:t>
            </a:r>
            <a:r>
              <a:rPr lang="en-GB" b="1" dirty="0"/>
              <a:t>right </a:t>
            </a:r>
            <a:r>
              <a:rPr lang="en-GB" b="1" dirty="0" err="1"/>
              <a:t>subtree</a:t>
            </a:r>
            <a:r>
              <a:rPr lang="en-GB" dirty="0"/>
              <a:t>.</a:t>
            </a:r>
            <a:endParaRPr lang="en-GB" dirty="0"/>
          </a:p>
          <a:p>
            <a:pPr>
              <a:buNone/>
            </a:pPr>
            <a:r>
              <a:rPr lang="en-GB" b="1" dirty="0"/>
              <a:t>Step 3 - Swap</a:t>
            </a:r>
            <a:r>
              <a:rPr lang="en-GB" dirty="0"/>
              <a:t> both </a:t>
            </a:r>
            <a:r>
              <a:rPr lang="en-GB" b="1" dirty="0"/>
              <a:t>deleting node</a:t>
            </a:r>
            <a:r>
              <a:rPr lang="en-GB" dirty="0"/>
              <a:t> and node which is found in the above step.</a:t>
            </a:r>
            <a:endParaRPr lang="en-GB" dirty="0"/>
          </a:p>
          <a:p>
            <a:pPr>
              <a:buNone/>
            </a:pPr>
            <a:r>
              <a:rPr lang="en-GB" b="1" dirty="0"/>
              <a:t>Step 4 - </a:t>
            </a:r>
            <a:r>
              <a:rPr lang="en-GB" dirty="0"/>
              <a:t>Then check whether deleting node came to </a:t>
            </a:r>
            <a:r>
              <a:rPr lang="en-GB" b="1" dirty="0"/>
              <a:t>case 1</a:t>
            </a:r>
            <a:r>
              <a:rPr lang="en-GB" dirty="0"/>
              <a:t> or </a:t>
            </a:r>
            <a:r>
              <a:rPr lang="en-GB" b="1" dirty="0"/>
              <a:t>case 2</a:t>
            </a:r>
            <a:r>
              <a:rPr lang="en-GB" dirty="0"/>
              <a:t> or else </a:t>
            </a:r>
            <a:r>
              <a:rPr lang="en-GB" dirty="0" err="1"/>
              <a:t>goto</a:t>
            </a:r>
            <a:r>
              <a:rPr lang="en-GB" dirty="0"/>
              <a:t> step 2</a:t>
            </a:r>
            <a:endParaRPr lang="en-GB" dirty="0"/>
          </a:p>
          <a:p>
            <a:pPr>
              <a:buNone/>
            </a:pPr>
            <a:r>
              <a:rPr lang="en-GB" b="1" dirty="0"/>
              <a:t>Step 5 - </a:t>
            </a:r>
            <a:r>
              <a:rPr lang="en-GB" dirty="0"/>
              <a:t>If it comes to </a:t>
            </a:r>
            <a:r>
              <a:rPr lang="en-GB" b="1" dirty="0"/>
              <a:t>case 1</a:t>
            </a:r>
            <a:r>
              <a:rPr lang="en-GB" dirty="0"/>
              <a:t>, then delete using case 1 logic.</a:t>
            </a:r>
            <a:endParaRPr lang="en-GB" dirty="0"/>
          </a:p>
          <a:p>
            <a:pPr>
              <a:buNone/>
            </a:pPr>
            <a:r>
              <a:rPr lang="en-GB" b="1" dirty="0"/>
              <a:t>Step 6- </a:t>
            </a:r>
            <a:r>
              <a:rPr lang="en-GB" dirty="0"/>
              <a:t>If it comes to </a:t>
            </a:r>
            <a:r>
              <a:rPr lang="en-GB" b="1" dirty="0"/>
              <a:t>case 2</a:t>
            </a:r>
            <a:r>
              <a:rPr lang="en-GB" dirty="0"/>
              <a:t>, then delete using case 2 logic.</a:t>
            </a:r>
            <a:endParaRPr lang="en-GB" dirty="0"/>
          </a:p>
          <a:p>
            <a:pPr>
              <a:buNone/>
            </a:pPr>
            <a:r>
              <a:rPr lang="en-GB" b="1" dirty="0"/>
              <a:t>Step 7 - </a:t>
            </a:r>
            <a:r>
              <a:rPr lang="en-GB" dirty="0"/>
              <a:t>Repeat the same process until the node is deleted from the tree.</a:t>
            </a:r>
            <a:endParaRPr lang="en-GB" dirty="0"/>
          </a:p>
          <a:p>
            <a:endParaRPr lang="en-US" dirty="0"/>
          </a:p>
        </p:txBody>
      </p:sp>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072230"/>
          </a:xfrm>
        </p:spPr>
        <p:txBody>
          <a:bodyPr/>
          <a:lstStyle/>
          <a:p>
            <a:pPr>
              <a:buNone/>
            </a:pPr>
            <a:r>
              <a:rPr lang="en-GB" sz="2000" b="1" dirty="0"/>
              <a:t>Example</a:t>
            </a:r>
            <a:endParaRPr lang="en-GB" sz="2000" b="1" dirty="0"/>
          </a:p>
          <a:p>
            <a:pPr>
              <a:buNone/>
            </a:pPr>
            <a:r>
              <a:rPr lang="en-GB" sz="2000" dirty="0"/>
              <a:t>Construct a Binary Search Tree by inserting the following sequence of numbers</a:t>
            </a:r>
            <a:r>
              <a:rPr lang="en-GB" sz="2000" dirty="0" smtClean="0"/>
              <a:t>...    </a:t>
            </a:r>
            <a:r>
              <a:rPr lang="en-GB" sz="2000" b="1" dirty="0" smtClean="0"/>
              <a:t>10,12,5,4,20,8,7,15 </a:t>
            </a:r>
            <a:r>
              <a:rPr lang="en-GB" sz="2000" b="1" dirty="0"/>
              <a:t>and </a:t>
            </a:r>
            <a:r>
              <a:rPr lang="en-GB" sz="2000" b="1" dirty="0" smtClean="0"/>
              <a:t>13</a:t>
            </a:r>
            <a:endParaRPr lang="en-GB" sz="2000" b="1" dirty="0" smtClean="0"/>
          </a:p>
          <a:p>
            <a:pPr>
              <a:buNone/>
            </a:pPr>
            <a:endParaRPr lang="en-GB" sz="2000" b="1" dirty="0"/>
          </a:p>
          <a:p>
            <a:endParaRPr lang="en-US" dirty="0"/>
          </a:p>
        </p:txBody>
      </p:sp>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p:cNvPicPr>
            <a:picLocks noChangeAspect="1" noChangeArrowheads="1"/>
          </p:cNvPicPr>
          <p:nvPr/>
        </p:nvPicPr>
        <p:blipFill>
          <a:blip r:embed="rId1"/>
          <a:srcRect/>
          <a:stretch>
            <a:fillRect/>
          </a:stretch>
        </p:blipFill>
        <p:spPr bwMode="auto">
          <a:xfrm>
            <a:off x="642910" y="1571612"/>
            <a:ext cx="7858179" cy="4500594"/>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3" name="Picture 3"/>
          <p:cNvPicPr>
            <a:picLocks noGrp="1" noChangeAspect="1" noChangeArrowheads="1"/>
          </p:cNvPicPr>
          <p:nvPr>
            <p:ph idx="1"/>
          </p:nvPr>
        </p:nvPicPr>
        <p:blipFill>
          <a:blip r:embed="rId1"/>
          <a:srcRect/>
          <a:stretch>
            <a:fillRect/>
          </a:stretch>
        </p:blipFill>
        <p:spPr bwMode="auto">
          <a:xfrm>
            <a:off x="714348" y="500042"/>
            <a:ext cx="7715304" cy="3357586"/>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072230"/>
          </a:xfrm>
        </p:spPr>
        <p:txBody>
          <a:bodyPr/>
          <a:lstStyle/>
          <a:p>
            <a:pPr>
              <a:buNone/>
            </a:pPr>
            <a:r>
              <a:rPr lang="en-US" sz="2000" b="1" dirty="0"/>
              <a:t>AVL </a:t>
            </a:r>
            <a:r>
              <a:rPr lang="en-US" sz="2000" b="1" dirty="0" smtClean="0"/>
              <a:t>Tree:</a:t>
            </a:r>
            <a:endParaRPr lang="en-US" sz="2000" b="1" dirty="0"/>
          </a:p>
          <a:p>
            <a:pPr>
              <a:buFont typeface="Wingdings" panose="05000000000000000000" pitchFamily="2" charset="2"/>
              <a:buChar char="§"/>
            </a:pPr>
            <a:r>
              <a:rPr lang="en-GB" sz="1800" dirty="0"/>
              <a:t>The AVL tree was introduced in the year 1962 by G.M. </a:t>
            </a:r>
            <a:r>
              <a:rPr lang="en-GB" sz="1800" dirty="0" err="1"/>
              <a:t>Adelson-Velsky</a:t>
            </a:r>
            <a:r>
              <a:rPr lang="en-GB" sz="1800" dirty="0"/>
              <a:t> </a:t>
            </a:r>
            <a:r>
              <a:rPr lang="en-GB" sz="1800" dirty="0" smtClean="0"/>
              <a:t>and </a:t>
            </a:r>
            <a:r>
              <a:rPr lang="en-GB" sz="1800" dirty="0" err="1" smtClean="0"/>
              <a:t>E.M.Landis</a:t>
            </a:r>
            <a:r>
              <a:rPr lang="en-GB" dirty="0" smtClean="0"/>
              <a:t>.</a:t>
            </a:r>
            <a:endParaRPr lang="en-GB" dirty="0" smtClean="0"/>
          </a:p>
          <a:p>
            <a:pPr>
              <a:buFont typeface="Wingdings" panose="05000000000000000000" pitchFamily="2" charset="2"/>
              <a:buChar char="§"/>
            </a:pPr>
            <a:r>
              <a:rPr lang="en-GB" sz="1800" dirty="0"/>
              <a:t>AVL tree is a height-balanced binary search tree. That means, an AVL tree is also a binary search tree but it is a balanced tree</a:t>
            </a:r>
            <a:r>
              <a:rPr lang="en-GB" sz="1800" dirty="0" smtClean="0"/>
              <a:t>.</a:t>
            </a:r>
            <a:endParaRPr lang="en-GB" sz="1800" dirty="0" smtClean="0"/>
          </a:p>
          <a:p>
            <a:pPr>
              <a:buFont typeface="Wingdings" panose="05000000000000000000" pitchFamily="2" charset="2"/>
              <a:buChar char="§"/>
            </a:pPr>
            <a:r>
              <a:rPr lang="en-GB" sz="2000" dirty="0"/>
              <a:t>In an AVL tree, every node maintains an extra information known </a:t>
            </a:r>
            <a:r>
              <a:rPr lang="en-GB" sz="2000" dirty="0" smtClean="0"/>
              <a:t>as</a:t>
            </a:r>
            <a:r>
              <a:rPr lang="en-GB" sz="2000" dirty="0"/>
              <a:t> </a:t>
            </a:r>
            <a:r>
              <a:rPr lang="en-GB" sz="2000" b="1" dirty="0"/>
              <a:t>balance factor</a:t>
            </a:r>
            <a:r>
              <a:rPr lang="en-GB" sz="2000" dirty="0" smtClean="0"/>
              <a:t>.</a:t>
            </a:r>
            <a:endParaRPr lang="en-GB" sz="2000" dirty="0" smtClean="0"/>
          </a:p>
          <a:p>
            <a:pPr>
              <a:buFont typeface="Wingdings" panose="05000000000000000000" pitchFamily="2" charset="2"/>
              <a:buChar char="§"/>
            </a:pPr>
            <a:r>
              <a:rPr lang="en-GB" sz="1800" dirty="0" smtClean="0"/>
              <a:t>balance factor</a:t>
            </a:r>
            <a:r>
              <a:rPr lang="en-GB" sz="1800" dirty="0"/>
              <a:t> </a:t>
            </a:r>
            <a:r>
              <a:rPr lang="en-GB" sz="1800" b="1" dirty="0" smtClean="0"/>
              <a:t>is</a:t>
            </a:r>
            <a:r>
              <a:rPr lang="en-GB" sz="1800" dirty="0" smtClean="0"/>
              <a:t> </a:t>
            </a:r>
            <a:r>
              <a:rPr lang="en-GB" sz="1800" dirty="0"/>
              <a:t>difference between the heights of left and right </a:t>
            </a:r>
            <a:r>
              <a:rPr lang="en-GB" sz="1800" dirty="0" err="1"/>
              <a:t>subtrees</a:t>
            </a:r>
            <a:r>
              <a:rPr lang="en-GB" sz="1800" dirty="0"/>
              <a:t> of every node in the tree is either -1, 0 or +</a:t>
            </a:r>
            <a:r>
              <a:rPr lang="en-GB" sz="1800" dirty="0" smtClean="0"/>
              <a:t>1.</a:t>
            </a:r>
            <a:endParaRPr lang="en-GB" sz="1800" dirty="0" smtClean="0"/>
          </a:p>
          <a:p>
            <a:pPr>
              <a:buFont typeface="Wingdings" panose="05000000000000000000" pitchFamily="2" charset="2"/>
              <a:buChar char="§"/>
            </a:pPr>
            <a:r>
              <a:rPr lang="en-GB" sz="1800" dirty="0"/>
              <a:t>The balance factor of a node is calculated either </a:t>
            </a:r>
            <a:r>
              <a:rPr lang="en-GB" sz="1800" b="1" dirty="0"/>
              <a:t>height of left </a:t>
            </a:r>
            <a:r>
              <a:rPr lang="en-GB" sz="1800" b="1" dirty="0" err="1"/>
              <a:t>subtree</a:t>
            </a:r>
            <a:r>
              <a:rPr lang="en-GB" sz="1800" b="1" dirty="0"/>
              <a:t> - height of right </a:t>
            </a:r>
            <a:r>
              <a:rPr lang="en-GB" sz="1800" b="1" dirty="0" err="1"/>
              <a:t>subtree</a:t>
            </a:r>
            <a:r>
              <a:rPr lang="en-GB" sz="1800" dirty="0"/>
              <a:t> (OR) </a:t>
            </a:r>
            <a:r>
              <a:rPr lang="en-GB" sz="1800" b="1" dirty="0"/>
              <a:t>height of right </a:t>
            </a:r>
            <a:r>
              <a:rPr lang="en-GB" sz="1800" b="1" dirty="0" err="1"/>
              <a:t>subtree</a:t>
            </a:r>
            <a:r>
              <a:rPr lang="en-GB" sz="1800" b="1" dirty="0"/>
              <a:t> - height of left </a:t>
            </a:r>
            <a:r>
              <a:rPr lang="en-GB" sz="1800" b="1" dirty="0" err="1"/>
              <a:t>subtree</a:t>
            </a:r>
            <a:r>
              <a:rPr lang="en-GB" sz="1800" dirty="0" smtClean="0"/>
              <a:t>.</a:t>
            </a:r>
            <a:endParaRPr lang="en-GB" sz="1800" dirty="0" smtClean="0"/>
          </a:p>
          <a:p>
            <a:pPr>
              <a:buNone/>
            </a:pPr>
            <a:endParaRPr lang="en-GB" sz="1800" dirty="0"/>
          </a:p>
          <a:p>
            <a:pPr>
              <a:buNone/>
            </a:pPr>
            <a:r>
              <a:rPr lang="en-GB" sz="2400" b="1" dirty="0" smtClean="0"/>
              <a:t>  balance factor=height of left </a:t>
            </a:r>
            <a:r>
              <a:rPr lang="en-GB" sz="2400" b="1" dirty="0" err="1" smtClean="0"/>
              <a:t>subtree</a:t>
            </a:r>
            <a:r>
              <a:rPr lang="en-GB" sz="2400" b="1" dirty="0" smtClean="0"/>
              <a:t>-height of right </a:t>
            </a:r>
            <a:r>
              <a:rPr lang="en-GB" sz="2400" b="1" dirty="0" err="1" smtClean="0"/>
              <a:t>subtree</a:t>
            </a:r>
            <a:endParaRPr lang="en-GB" sz="2400" b="1" dirty="0" smtClean="0"/>
          </a:p>
          <a:p>
            <a:pPr>
              <a:buNone/>
            </a:pPr>
            <a:r>
              <a:rPr lang="en-GB" sz="2400" b="1" dirty="0" smtClean="0"/>
              <a:t>  balance </a:t>
            </a:r>
            <a:r>
              <a:rPr lang="en-GB" sz="2400" b="1" dirty="0"/>
              <a:t>factor of every node is either -1, 0 or +1.</a:t>
            </a:r>
            <a:endParaRPr lang="en-GB" sz="2400" b="1" dirty="0"/>
          </a:p>
          <a:p>
            <a:pPr>
              <a:buNone/>
            </a:pPr>
            <a:r>
              <a:rPr lang="en-GB" sz="2400" b="1" dirty="0" smtClean="0"/>
              <a:t>  Every </a:t>
            </a:r>
            <a:r>
              <a:rPr lang="en-GB" sz="2400" b="1" dirty="0"/>
              <a:t>AVL Tree is a binary search tree but every Binary Search Tree need not be AVL tree.</a:t>
            </a:r>
            <a:endParaRPr lang="en-US" sz="2400" dirty="0"/>
          </a:p>
        </p:txBody>
      </p:sp>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71472" y="4143380"/>
            <a:ext cx="8072494" cy="18573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457200" y="214290"/>
            <a:ext cx="8229600" cy="5911873"/>
          </a:xfrm>
        </p:spPr>
        <p:txBody>
          <a:bodyPr>
            <a:normAutofit fontScale="92500" lnSpcReduction="20000"/>
          </a:bodyPr>
          <a:lstStyle/>
          <a:p>
            <a:pPr>
              <a:buNone/>
            </a:pPr>
            <a:r>
              <a:rPr lang="en-US" sz="2200" b="1" dirty="0"/>
              <a:t>Example of AVL </a:t>
            </a:r>
            <a:r>
              <a:rPr lang="en-US" sz="2200" b="1" dirty="0" smtClean="0"/>
              <a:t>Tree:</a:t>
            </a:r>
            <a:endParaRPr lang="en-US" sz="2200" b="1" dirty="0" smtClean="0"/>
          </a:p>
          <a:p>
            <a:pPr>
              <a:buNone/>
            </a:pPr>
            <a:endParaRPr lang="en-IN" b="1" dirty="0"/>
          </a:p>
          <a:p>
            <a:pPr>
              <a:buNone/>
            </a:pPr>
            <a:endParaRPr lang="en-IN" b="1" dirty="0" smtClean="0"/>
          </a:p>
          <a:p>
            <a:pPr>
              <a:buNone/>
            </a:pPr>
            <a:endParaRPr lang="en-IN" b="1" dirty="0"/>
          </a:p>
          <a:p>
            <a:pPr>
              <a:buNone/>
            </a:pPr>
            <a:endParaRPr lang="en-IN" b="1" dirty="0" smtClean="0"/>
          </a:p>
          <a:p>
            <a:pPr>
              <a:buNone/>
            </a:pPr>
            <a:endParaRPr lang="en-US" b="1" dirty="0" smtClean="0"/>
          </a:p>
          <a:p>
            <a:pPr>
              <a:buNone/>
            </a:pPr>
            <a:endParaRPr lang="en-US" b="1" dirty="0"/>
          </a:p>
          <a:p>
            <a:pPr>
              <a:buNone/>
            </a:pPr>
            <a:r>
              <a:rPr lang="en-US" sz="2200" b="1" dirty="0" smtClean="0"/>
              <a:t>AVL </a:t>
            </a:r>
            <a:r>
              <a:rPr lang="en-US" sz="2200" b="1" dirty="0"/>
              <a:t>Tree </a:t>
            </a:r>
            <a:r>
              <a:rPr lang="en-US" sz="2200" b="1" dirty="0" smtClean="0"/>
              <a:t>Rotations:</a:t>
            </a:r>
            <a:endParaRPr lang="en-US" sz="2200" b="1" dirty="0" smtClean="0"/>
          </a:p>
          <a:p>
            <a:pPr>
              <a:buFont typeface="Wingdings" panose="05000000000000000000" pitchFamily="2" charset="2"/>
              <a:buChar char="§"/>
            </a:pPr>
            <a:r>
              <a:rPr lang="en-GB" sz="2100" dirty="0" smtClean="0"/>
              <a:t>In </a:t>
            </a:r>
            <a:r>
              <a:rPr lang="en-GB" sz="2100" dirty="0"/>
              <a:t>AVL tree, after performing operations like insertion and deletion we need to check the </a:t>
            </a:r>
            <a:r>
              <a:rPr lang="en-GB" sz="2100" b="1" dirty="0"/>
              <a:t>balance factor</a:t>
            </a:r>
            <a:r>
              <a:rPr lang="en-GB" sz="2100" dirty="0"/>
              <a:t> of every node in the tree</a:t>
            </a:r>
            <a:r>
              <a:rPr lang="en-GB" sz="2100" dirty="0" smtClean="0"/>
              <a:t>.</a:t>
            </a:r>
            <a:endParaRPr lang="en-GB" sz="2100" dirty="0" smtClean="0"/>
          </a:p>
          <a:p>
            <a:pPr>
              <a:buFont typeface="Wingdings" panose="05000000000000000000" pitchFamily="2" charset="2"/>
              <a:buChar char="§"/>
            </a:pPr>
            <a:r>
              <a:rPr lang="en-GB" sz="2100" dirty="0" smtClean="0"/>
              <a:t>If </a:t>
            </a:r>
            <a:r>
              <a:rPr lang="en-GB" sz="2100" dirty="0"/>
              <a:t>every node satisfies the balance factor condition then we conclude the operation otherwise we must make it balanced. </a:t>
            </a:r>
            <a:endParaRPr lang="en-GB" sz="2100" dirty="0" smtClean="0"/>
          </a:p>
          <a:p>
            <a:pPr>
              <a:buFont typeface="Wingdings" panose="05000000000000000000" pitchFamily="2" charset="2"/>
              <a:buChar char="§"/>
            </a:pPr>
            <a:r>
              <a:rPr lang="en-GB" sz="2100" dirty="0" smtClean="0"/>
              <a:t>Whenever </a:t>
            </a:r>
            <a:r>
              <a:rPr lang="en-GB" sz="2100" dirty="0"/>
              <a:t>the tree becomes imbalanced due to any operation we use </a:t>
            </a:r>
            <a:r>
              <a:rPr lang="en-GB" sz="2100" b="1" dirty="0"/>
              <a:t>rotation</a:t>
            </a:r>
            <a:r>
              <a:rPr lang="en-GB" sz="2100" dirty="0"/>
              <a:t> operations to make the tree balanced.</a:t>
            </a:r>
            <a:endParaRPr lang="en-US" sz="2100" b="1" dirty="0"/>
          </a:p>
          <a:p>
            <a:pPr>
              <a:buFont typeface="Wingdings" panose="05000000000000000000" pitchFamily="2" charset="2"/>
              <a:buChar char="§"/>
            </a:pPr>
            <a:r>
              <a:rPr lang="en-GB" sz="1900" b="1" dirty="0" smtClean="0"/>
              <a:t>Rotation </a:t>
            </a:r>
            <a:r>
              <a:rPr lang="en-GB" sz="1900" b="1" dirty="0"/>
              <a:t>operations are used to make the tree balanced</a:t>
            </a:r>
            <a:r>
              <a:rPr lang="en-GB" sz="1900" b="1" dirty="0" smtClean="0"/>
              <a:t>.</a:t>
            </a:r>
            <a:endParaRPr lang="en-GB" sz="1900" b="1" dirty="0" smtClean="0"/>
          </a:p>
          <a:p>
            <a:pPr>
              <a:buFont typeface="Wingdings" panose="05000000000000000000" pitchFamily="2" charset="2"/>
              <a:buChar char="§"/>
            </a:pPr>
            <a:r>
              <a:rPr lang="en-GB" sz="2000" b="1" dirty="0"/>
              <a:t>Rotation is the process of moving nodes either to left or to right to make the tree balanced.</a:t>
            </a:r>
            <a:endParaRPr lang="en-US" sz="1900" b="1" dirty="0"/>
          </a:p>
        </p:txBody>
      </p:sp>
      <p:pic>
        <p:nvPicPr>
          <p:cNvPr id="8" name="Picture 2"/>
          <p:cNvPicPr>
            <a:picLocks noChangeAspect="1" noChangeArrowheads="1"/>
          </p:cNvPicPr>
          <p:nvPr/>
        </p:nvPicPr>
        <p:blipFill>
          <a:blip r:embed="rId1"/>
          <a:srcRect/>
          <a:stretch>
            <a:fillRect/>
          </a:stretch>
        </p:blipFill>
        <p:spPr bwMode="auto">
          <a:xfrm>
            <a:off x="1500166" y="642918"/>
            <a:ext cx="5929354" cy="2571769"/>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457200" y="285728"/>
            <a:ext cx="8229600" cy="5840435"/>
          </a:xfrm>
        </p:spPr>
        <p:txBody>
          <a:bodyPr/>
          <a:lstStyle/>
          <a:p>
            <a:pPr>
              <a:buNone/>
            </a:pPr>
            <a:r>
              <a:rPr lang="en-GB" sz="1800" dirty="0" smtClean="0"/>
              <a:t>There are </a:t>
            </a:r>
            <a:r>
              <a:rPr lang="en-GB" sz="1800" b="1" dirty="0" smtClean="0"/>
              <a:t>four</a:t>
            </a:r>
            <a:r>
              <a:rPr lang="en-GB" sz="1800" dirty="0" smtClean="0"/>
              <a:t> rotations and they are classified into </a:t>
            </a:r>
            <a:r>
              <a:rPr lang="en-GB" sz="1800" b="1" dirty="0" smtClean="0"/>
              <a:t>two</a:t>
            </a:r>
            <a:r>
              <a:rPr lang="en-GB" sz="1800" dirty="0" smtClean="0"/>
              <a:t> types.</a:t>
            </a:r>
            <a:endParaRPr lang="en-GB" sz="1800" dirty="0" smtClean="0"/>
          </a:p>
          <a:p>
            <a:pPr>
              <a:buNone/>
            </a:pPr>
            <a:endParaRPr lang="en-GB" sz="1800" b="1" dirty="0" smtClean="0"/>
          </a:p>
          <a:p>
            <a:pPr>
              <a:buNone/>
            </a:pPr>
            <a:endParaRPr lang="en-GB" sz="1800" b="1" dirty="0"/>
          </a:p>
          <a:p>
            <a:pPr>
              <a:buNone/>
            </a:pPr>
            <a:endParaRPr lang="en-GB" sz="1800" b="1" dirty="0" smtClean="0"/>
          </a:p>
          <a:p>
            <a:pPr>
              <a:buNone/>
            </a:pPr>
            <a:endParaRPr lang="en-GB" sz="1800" b="1" dirty="0"/>
          </a:p>
          <a:p>
            <a:pPr>
              <a:buNone/>
            </a:pPr>
            <a:endParaRPr lang="en-GB" sz="1800" b="1" dirty="0" smtClean="0"/>
          </a:p>
          <a:p>
            <a:pPr>
              <a:buNone/>
            </a:pPr>
            <a:endParaRPr lang="en-GB" sz="1800" b="1" dirty="0"/>
          </a:p>
          <a:p>
            <a:pPr>
              <a:buNone/>
            </a:pPr>
            <a:endParaRPr lang="en-GB" sz="1800" b="1" dirty="0" smtClean="0"/>
          </a:p>
          <a:p>
            <a:pPr>
              <a:buNone/>
            </a:pPr>
            <a:endParaRPr lang="en-GB" sz="1800" b="1" dirty="0" smtClean="0"/>
          </a:p>
          <a:p>
            <a:pPr>
              <a:buNone/>
            </a:pPr>
            <a:r>
              <a:rPr lang="en-GB" sz="1800" b="1" dirty="0" smtClean="0"/>
              <a:t>Single </a:t>
            </a:r>
            <a:r>
              <a:rPr lang="en-GB" sz="1800" b="1" dirty="0"/>
              <a:t>Left Rotation (LL Rotation)</a:t>
            </a:r>
            <a:endParaRPr lang="en-GB" sz="1800" b="1" dirty="0"/>
          </a:p>
          <a:p>
            <a:r>
              <a:rPr lang="en-GB" sz="1800" dirty="0"/>
              <a:t>In LL Rotation, every node moves one position to left from the current position. To understand LL Rotation, let us consider the following insertion operation in AVL Tree...</a:t>
            </a:r>
            <a:endParaRPr lang="en-GB" sz="1800" dirty="0"/>
          </a:p>
          <a:p>
            <a:endParaRPr lang="en-US" dirty="0"/>
          </a:p>
        </p:txBody>
      </p:sp>
      <p:pic>
        <p:nvPicPr>
          <p:cNvPr id="11" name="Picture 3"/>
          <p:cNvPicPr>
            <a:picLocks noChangeAspect="1" noChangeArrowheads="1"/>
          </p:cNvPicPr>
          <p:nvPr/>
        </p:nvPicPr>
        <p:blipFill>
          <a:blip r:embed="rId1"/>
          <a:srcRect/>
          <a:stretch>
            <a:fillRect/>
          </a:stretch>
        </p:blipFill>
        <p:spPr bwMode="auto">
          <a:xfrm>
            <a:off x="642910" y="785794"/>
            <a:ext cx="7786742" cy="2428892"/>
          </a:xfrm>
          <a:prstGeom prst="rect">
            <a:avLst/>
          </a:prstGeom>
          <a:noFill/>
          <a:ln w="9525">
            <a:noFill/>
            <a:miter lim="800000"/>
            <a:headEnd/>
            <a:tailEnd/>
          </a:ln>
          <a:effectLst/>
        </p:spPr>
      </p:pic>
      <p:pic>
        <p:nvPicPr>
          <p:cNvPr id="12" name="Picture 4"/>
          <p:cNvPicPr>
            <a:picLocks noChangeAspect="1" noChangeArrowheads="1"/>
          </p:cNvPicPr>
          <p:nvPr/>
        </p:nvPicPr>
        <p:blipFill>
          <a:blip r:embed="rId2"/>
          <a:srcRect/>
          <a:stretch>
            <a:fillRect/>
          </a:stretch>
        </p:blipFill>
        <p:spPr bwMode="auto">
          <a:xfrm>
            <a:off x="642910" y="4500570"/>
            <a:ext cx="7786741" cy="1928826"/>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072230"/>
          </a:xfrm>
        </p:spPr>
        <p:txBody>
          <a:bodyPr>
            <a:normAutofit/>
          </a:bodyPr>
          <a:lstStyle/>
          <a:p>
            <a:pPr>
              <a:buNone/>
            </a:pPr>
            <a:r>
              <a:rPr lang="en-GB" sz="1800" b="1" dirty="0"/>
              <a:t>Single Right Rotation (RR Rotation)</a:t>
            </a:r>
            <a:endParaRPr lang="en-GB" sz="1800" b="1" dirty="0"/>
          </a:p>
          <a:p>
            <a:r>
              <a:rPr lang="en-GB" sz="1800" dirty="0"/>
              <a:t>In RR Rotation, every node moves one position to right from the current position. To understand RR Rotation, let us consider the following insertion operation in AVL Tree...</a:t>
            </a:r>
            <a:endParaRPr lang="en-GB" sz="1800" dirty="0"/>
          </a:p>
          <a:p>
            <a:pPr>
              <a:buNone/>
            </a:pPr>
            <a:endParaRPr lang="en-IN" dirty="0" smtClean="0"/>
          </a:p>
          <a:p>
            <a:pPr>
              <a:buNone/>
            </a:pPr>
            <a:endParaRPr lang="en-IN" dirty="0"/>
          </a:p>
          <a:p>
            <a:pPr>
              <a:buNone/>
            </a:pPr>
            <a:endParaRPr lang="en-IN" dirty="0" smtClean="0"/>
          </a:p>
          <a:p>
            <a:pPr>
              <a:buNone/>
            </a:pPr>
            <a:endParaRPr lang="en-US" dirty="0"/>
          </a:p>
        </p:txBody>
      </p:sp>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1"/>
          <p:cNvPicPr>
            <a:picLocks noChangeAspect="1" noChangeArrowheads="1"/>
          </p:cNvPicPr>
          <p:nvPr/>
        </p:nvPicPr>
        <p:blipFill>
          <a:blip r:embed="rId1"/>
          <a:srcRect/>
          <a:stretch>
            <a:fillRect/>
          </a:stretch>
        </p:blipFill>
        <p:spPr bwMode="auto">
          <a:xfrm>
            <a:off x="642910" y="1714488"/>
            <a:ext cx="7786742" cy="4000528"/>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072230"/>
          </a:xfrm>
        </p:spPr>
        <p:txBody>
          <a:bodyPr/>
          <a:lstStyle/>
          <a:p>
            <a:pPr>
              <a:buNone/>
            </a:pPr>
            <a:r>
              <a:rPr lang="en-GB" sz="2000" b="1" dirty="0" smtClean="0"/>
              <a:t>Left Right Rotation (LR Rotation)</a:t>
            </a:r>
            <a:endParaRPr lang="en-GB" sz="2000" b="1" dirty="0" smtClean="0"/>
          </a:p>
          <a:p>
            <a:r>
              <a:rPr lang="en-GB" sz="2000" dirty="0" smtClean="0"/>
              <a:t>The LR Rotation is a sequence of single left rotation followed by a single right rotation. </a:t>
            </a:r>
            <a:endParaRPr lang="en-GB" sz="2000" dirty="0" smtClean="0"/>
          </a:p>
          <a:p>
            <a:r>
              <a:rPr lang="en-GB" sz="2000" dirty="0" smtClean="0"/>
              <a:t>In LR Rotation, at first, every node moves one position to the left and one position to right from the current position....</a:t>
            </a:r>
            <a:endParaRPr lang="en-GB" sz="2000" dirty="0" smtClean="0"/>
          </a:p>
          <a:p>
            <a:endParaRPr lang="en-US" dirty="0"/>
          </a:p>
        </p:txBody>
      </p:sp>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1"/>
          <p:cNvPicPr>
            <a:picLocks noChangeAspect="1" noChangeArrowheads="1"/>
          </p:cNvPicPr>
          <p:nvPr/>
        </p:nvPicPr>
        <p:blipFill>
          <a:blip r:embed="rId1"/>
          <a:srcRect/>
          <a:stretch>
            <a:fillRect/>
          </a:stretch>
        </p:blipFill>
        <p:spPr bwMode="auto">
          <a:xfrm>
            <a:off x="642910" y="2143116"/>
            <a:ext cx="7858180" cy="3786214"/>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457200" y="285728"/>
            <a:ext cx="8229600" cy="5840435"/>
          </a:xfrm>
        </p:spPr>
        <p:txBody>
          <a:bodyPr/>
          <a:lstStyle/>
          <a:p>
            <a:pPr>
              <a:buNone/>
            </a:pPr>
            <a:r>
              <a:rPr lang="en-GB" sz="1800" b="1" dirty="0"/>
              <a:t>Right Left Rotation (RL Rotation)</a:t>
            </a:r>
            <a:endParaRPr lang="en-GB" sz="1800" b="1" dirty="0"/>
          </a:p>
          <a:p>
            <a:r>
              <a:rPr lang="en-GB" sz="1800" dirty="0"/>
              <a:t>The RL Rotation is sequence of single right rotation followed by single left rotation. In RL Rotation, at first every node moves one position to right and one position to left from the current position. To understand RL Rotation, let us consider the following insertion operation in AVL Tree...</a:t>
            </a:r>
            <a:endParaRPr lang="en-GB" sz="1800" dirty="0"/>
          </a:p>
          <a:p>
            <a:pPr>
              <a:buNone/>
            </a:pPr>
            <a:endParaRPr lang="en-US" dirty="0"/>
          </a:p>
        </p:txBody>
      </p:sp>
      <p:pic>
        <p:nvPicPr>
          <p:cNvPr id="6" name="Picture 1"/>
          <p:cNvPicPr>
            <a:picLocks noChangeAspect="1" noChangeArrowheads="1"/>
          </p:cNvPicPr>
          <p:nvPr/>
        </p:nvPicPr>
        <p:blipFill>
          <a:blip r:embed="rId1"/>
          <a:srcRect/>
          <a:stretch>
            <a:fillRect/>
          </a:stretch>
        </p:blipFill>
        <p:spPr bwMode="auto">
          <a:xfrm>
            <a:off x="642910" y="2143116"/>
            <a:ext cx="7929618" cy="35719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457200" y="285728"/>
            <a:ext cx="8229600" cy="6143668"/>
          </a:xfrm>
        </p:spPr>
        <p:txBody>
          <a:bodyPr>
            <a:normAutofit fontScale="47500" lnSpcReduction="20000"/>
          </a:bodyPr>
          <a:lstStyle/>
          <a:p>
            <a:pPr>
              <a:buNone/>
            </a:pPr>
            <a:r>
              <a:rPr lang="en-GB" sz="3800" b="1" dirty="0"/>
              <a:t>Operations on an AVL Tree</a:t>
            </a:r>
            <a:endParaRPr lang="en-GB" sz="3800" b="1" dirty="0"/>
          </a:p>
          <a:p>
            <a:pPr>
              <a:buNone/>
            </a:pPr>
            <a:r>
              <a:rPr lang="en-GB" sz="3800" dirty="0"/>
              <a:t>The following operations are performed on AVL tree...</a:t>
            </a:r>
            <a:endParaRPr lang="en-GB" sz="3800" dirty="0"/>
          </a:p>
          <a:p>
            <a:pPr marL="514350" indent="-514350">
              <a:buFont typeface="+mj-lt"/>
              <a:buAutoNum type="arabicPeriod"/>
            </a:pPr>
            <a:r>
              <a:rPr lang="en-GB" sz="3800" b="1" dirty="0"/>
              <a:t>Search</a:t>
            </a:r>
            <a:endParaRPr lang="en-GB" sz="3800" b="1" dirty="0"/>
          </a:p>
          <a:p>
            <a:pPr marL="514350" indent="-514350">
              <a:buFont typeface="+mj-lt"/>
              <a:buAutoNum type="arabicPeriod"/>
            </a:pPr>
            <a:r>
              <a:rPr lang="en-GB" sz="3800" b="1" dirty="0"/>
              <a:t>Insertion</a:t>
            </a:r>
            <a:endParaRPr lang="en-GB" sz="3800" b="1" dirty="0"/>
          </a:p>
          <a:p>
            <a:pPr marL="514350" indent="-514350">
              <a:buFont typeface="+mj-lt"/>
              <a:buAutoNum type="arabicPeriod"/>
            </a:pPr>
            <a:r>
              <a:rPr lang="en-GB" sz="3800" b="1" dirty="0"/>
              <a:t>Deletion</a:t>
            </a:r>
            <a:endParaRPr lang="en-GB" sz="3800" b="1" dirty="0"/>
          </a:p>
          <a:p>
            <a:pPr>
              <a:buNone/>
            </a:pPr>
            <a:r>
              <a:rPr lang="en-GB" sz="3800" b="1" dirty="0"/>
              <a:t>Search Operation in AVL Tree</a:t>
            </a:r>
            <a:endParaRPr lang="en-GB" sz="3800" b="1" dirty="0"/>
          </a:p>
          <a:p>
            <a:pPr>
              <a:buNone/>
            </a:pPr>
            <a:r>
              <a:rPr lang="en-GB" sz="3800" dirty="0"/>
              <a:t>In an AVL tree, the search operation is performed with </a:t>
            </a:r>
            <a:r>
              <a:rPr lang="en-GB" sz="3800" b="1" dirty="0"/>
              <a:t>O(log n)</a:t>
            </a:r>
            <a:r>
              <a:rPr lang="en-GB" sz="3800" dirty="0"/>
              <a:t> time complexity. The search operation in the AVL tree is similar to the search operation in a Binary search tree. We use the following steps to search an element in AVL tree...</a:t>
            </a:r>
            <a:endParaRPr lang="en-GB" sz="3800" dirty="0"/>
          </a:p>
          <a:p>
            <a:pPr>
              <a:buNone/>
            </a:pPr>
            <a:r>
              <a:rPr lang="en-GB" sz="3800" b="1" dirty="0"/>
              <a:t>Step 1 - </a:t>
            </a:r>
            <a:r>
              <a:rPr lang="en-GB" sz="3800" dirty="0"/>
              <a:t>Read the search element from the user.</a:t>
            </a:r>
            <a:endParaRPr lang="en-GB" sz="3800" dirty="0"/>
          </a:p>
          <a:p>
            <a:pPr>
              <a:buNone/>
            </a:pPr>
            <a:r>
              <a:rPr lang="en-GB" sz="3800" b="1" dirty="0"/>
              <a:t>Step 2 - </a:t>
            </a:r>
            <a:r>
              <a:rPr lang="en-GB" sz="3800" dirty="0"/>
              <a:t>Compare the search element with the value of root node in the tree.</a:t>
            </a:r>
            <a:endParaRPr lang="en-GB" sz="3800" dirty="0"/>
          </a:p>
          <a:p>
            <a:pPr>
              <a:buNone/>
            </a:pPr>
            <a:r>
              <a:rPr lang="en-GB" sz="3800" b="1" dirty="0"/>
              <a:t>Step 3 - </a:t>
            </a:r>
            <a:r>
              <a:rPr lang="en-GB" sz="3800" dirty="0"/>
              <a:t>If both are matched, then display "Given node is found!!!" and terminate the function</a:t>
            </a:r>
            <a:endParaRPr lang="en-GB" sz="3800" dirty="0"/>
          </a:p>
          <a:p>
            <a:pPr>
              <a:buNone/>
            </a:pPr>
            <a:r>
              <a:rPr lang="en-GB" sz="3800" b="1" dirty="0"/>
              <a:t>Step 4 - </a:t>
            </a:r>
            <a:r>
              <a:rPr lang="en-GB" sz="3800" dirty="0"/>
              <a:t>If both are not matched, then check whether search element is smaller or larger than that node value.</a:t>
            </a:r>
            <a:endParaRPr lang="en-GB" sz="3800" dirty="0"/>
          </a:p>
          <a:p>
            <a:pPr>
              <a:buNone/>
            </a:pPr>
            <a:r>
              <a:rPr lang="en-GB" sz="3800" b="1" dirty="0"/>
              <a:t>Step 5 - </a:t>
            </a:r>
            <a:r>
              <a:rPr lang="en-GB" sz="3800" dirty="0"/>
              <a:t>If search element is smaller, then continue the search process in left </a:t>
            </a:r>
            <a:r>
              <a:rPr lang="en-GB" sz="3800" dirty="0" err="1"/>
              <a:t>subtree</a:t>
            </a:r>
            <a:r>
              <a:rPr lang="en-GB" sz="3800" dirty="0"/>
              <a:t>.</a:t>
            </a:r>
            <a:endParaRPr lang="en-GB" sz="3800" dirty="0"/>
          </a:p>
          <a:p>
            <a:pPr>
              <a:buNone/>
            </a:pPr>
            <a:r>
              <a:rPr lang="en-GB" sz="3800" b="1" dirty="0"/>
              <a:t>Step 6 - </a:t>
            </a:r>
            <a:r>
              <a:rPr lang="en-GB" sz="3800" dirty="0"/>
              <a:t>If search element is larger, then continue the search process in right </a:t>
            </a:r>
            <a:r>
              <a:rPr lang="en-GB" sz="3800" dirty="0" err="1"/>
              <a:t>subtree</a:t>
            </a:r>
            <a:r>
              <a:rPr lang="en-GB" sz="3800" dirty="0"/>
              <a:t>.</a:t>
            </a:r>
            <a:endParaRPr lang="en-GB" sz="3800" dirty="0"/>
          </a:p>
          <a:p>
            <a:pPr>
              <a:buNone/>
            </a:pPr>
            <a:r>
              <a:rPr lang="en-GB" sz="3800" b="1" dirty="0"/>
              <a:t>Step 7 - </a:t>
            </a:r>
            <a:r>
              <a:rPr lang="en-GB" sz="3800" dirty="0"/>
              <a:t>Repeat the same until we find the exact element or until the search element is compared with the leaf node.</a:t>
            </a:r>
            <a:endParaRPr lang="en-GB" sz="3800" dirty="0"/>
          </a:p>
          <a:p>
            <a:pPr>
              <a:buNone/>
            </a:pPr>
            <a:r>
              <a:rPr lang="en-GB" sz="3800" b="1" dirty="0"/>
              <a:t>Step 8 - </a:t>
            </a:r>
            <a:r>
              <a:rPr lang="en-GB" sz="3800" dirty="0"/>
              <a:t>If we reach to the node having the value equal to the search value, then display "Element is found" and terminate the function.</a:t>
            </a:r>
            <a:endParaRPr lang="en-GB" sz="3800" dirty="0"/>
          </a:p>
          <a:p>
            <a:pPr>
              <a:buNone/>
            </a:pPr>
            <a:r>
              <a:rPr lang="en-GB" sz="3800" b="1" dirty="0"/>
              <a:t>Step 9 - </a:t>
            </a:r>
            <a:r>
              <a:rPr lang="en-GB" sz="3800" dirty="0"/>
              <a:t>If we reach to the leaf node and if it is also not matched with the search element, then display "Element is not found" and terminate the function.</a:t>
            </a:r>
            <a:endParaRPr lang="en-GB" sz="3800"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072230"/>
          </a:xfrm>
        </p:spPr>
        <p:txBody>
          <a:bodyPr>
            <a:normAutofit/>
          </a:bodyPr>
          <a:lstStyle/>
          <a:p>
            <a:pPr>
              <a:buNone/>
            </a:pPr>
            <a:r>
              <a:rPr lang="en-GB" sz="2100" b="1" dirty="0"/>
              <a:t>Insertion Operation in AVL Tree</a:t>
            </a:r>
            <a:endParaRPr lang="en-GB" sz="2100" b="1" dirty="0"/>
          </a:p>
          <a:p>
            <a:r>
              <a:rPr lang="en-GB" sz="2100" dirty="0"/>
              <a:t>In an AVL tree, the insertion operation is performed with </a:t>
            </a:r>
            <a:r>
              <a:rPr lang="en-GB" sz="2100" b="1" dirty="0"/>
              <a:t>O(log n)</a:t>
            </a:r>
            <a:r>
              <a:rPr lang="en-GB" sz="2100" dirty="0"/>
              <a:t> time complexity. In AVL Tree, a new node is always inserted as a leaf node. The insertion operation is performed as follows...</a:t>
            </a:r>
            <a:endParaRPr lang="en-GB" sz="2100" dirty="0"/>
          </a:p>
          <a:p>
            <a:pPr>
              <a:buNone/>
            </a:pPr>
            <a:r>
              <a:rPr lang="en-GB" sz="2100" b="1" dirty="0"/>
              <a:t>Step 1 - </a:t>
            </a:r>
            <a:r>
              <a:rPr lang="en-GB" sz="2100" dirty="0"/>
              <a:t>Insert the new element into the tree using Binary Search Tree insertion logic.</a:t>
            </a:r>
            <a:endParaRPr lang="en-GB" sz="2100" dirty="0"/>
          </a:p>
          <a:p>
            <a:pPr>
              <a:buNone/>
            </a:pPr>
            <a:r>
              <a:rPr lang="en-GB" sz="2100" b="1" dirty="0"/>
              <a:t>Step 2 - </a:t>
            </a:r>
            <a:r>
              <a:rPr lang="en-GB" sz="2100" dirty="0"/>
              <a:t>After insertion, check the </a:t>
            </a:r>
            <a:r>
              <a:rPr lang="en-GB" sz="2100" b="1" dirty="0"/>
              <a:t>Balance Factor</a:t>
            </a:r>
            <a:r>
              <a:rPr lang="en-GB" sz="2100" dirty="0"/>
              <a:t> of every node.</a:t>
            </a:r>
            <a:endParaRPr lang="en-GB" sz="2100" dirty="0"/>
          </a:p>
          <a:p>
            <a:pPr>
              <a:buNone/>
            </a:pPr>
            <a:r>
              <a:rPr lang="en-GB" sz="2100" b="1" dirty="0"/>
              <a:t>Step 3 - </a:t>
            </a:r>
            <a:r>
              <a:rPr lang="en-GB" sz="2100" dirty="0"/>
              <a:t>If the </a:t>
            </a:r>
            <a:r>
              <a:rPr lang="en-GB" sz="2100" b="1" dirty="0"/>
              <a:t>Balance Factor</a:t>
            </a:r>
            <a:r>
              <a:rPr lang="en-GB" sz="2100" dirty="0"/>
              <a:t> of every node is </a:t>
            </a:r>
            <a:r>
              <a:rPr lang="en-GB" sz="2100" b="1" dirty="0"/>
              <a:t>0 or 1 or -1</a:t>
            </a:r>
            <a:r>
              <a:rPr lang="en-GB" sz="2100" dirty="0"/>
              <a:t> then go for next operation.</a:t>
            </a:r>
            <a:endParaRPr lang="en-GB" sz="2100" dirty="0"/>
          </a:p>
          <a:p>
            <a:pPr>
              <a:buNone/>
            </a:pPr>
            <a:r>
              <a:rPr lang="en-GB" sz="2100" b="1" dirty="0"/>
              <a:t>Step 4 - </a:t>
            </a:r>
            <a:r>
              <a:rPr lang="en-GB" sz="2100" dirty="0"/>
              <a:t>If the </a:t>
            </a:r>
            <a:r>
              <a:rPr lang="en-GB" sz="2100" b="1" dirty="0"/>
              <a:t>Balance Factor</a:t>
            </a:r>
            <a:r>
              <a:rPr lang="en-GB" sz="2100" dirty="0"/>
              <a:t> of any node is other than </a:t>
            </a:r>
            <a:r>
              <a:rPr lang="en-GB" sz="2100" b="1" dirty="0"/>
              <a:t>0 or 1 or -1</a:t>
            </a:r>
            <a:r>
              <a:rPr lang="en-GB" sz="2100" dirty="0"/>
              <a:t> then that tree is said to be imbalanced. In this case, perform suitable </a:t>
            </a:r>
            <a:r>
              <a:rPr lang="en-GB" sz="2100" b="1" dirty="0"/>
              <a:t>Rotation</a:t>
            </a:r>
            <a:r>
              <a:rPr lang="en-GB" sz="2100" dirty="0"/>
              <a:t> to make it balanced and go for next operation.</a:t>
            </a:r>
            <a:endParaRPr lang="en-GB" sz="2100" dirty="0"/>
          </a:p>
          <a:p>
            <a:pPr>
              <a:buNone/>
            </a:pPr>
            <a:endParaRPr lang="en-US" dirty="0"/>
          </a:p>
        </p:txBody>
      </p:sp>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072230"/>
          </a:xfrm>
        </p:spPr>
        <p:txBody>
          <a:bodyPr/>
          <a:lstStyle/>
          <a:p>
            <a:pPr>
              <a:buNone/>
            </a:pPr>
            <a:r>
              <a:rPr lang="en-GB" sz="1800" b="1" dirty="0" smtClean="0"/>
              <a:t>Example: </a:t>
            </a:r>
            <a:endParaRPr lang="en-GB" sz="1800" b="1" dirty="0" smtClean="0"/>
          </a:p>
          <a:p>
            <a:pPr>
              <a:buNone/>
            </a:pPr>
            <a:r>
              <a:rPr lang="en-GB" sz="1800" b="1" dirty="0" smtClean="0"/>
              <a:t>Construct an AVL Tree by inserting numbers from 1 to 8.</a:t>
            </a:r>
            <a:endParaRPr lang="en-GB" sz="1800" b="1" dirty="0" smtClean="0"/>
          </a:p>
          <a:p>
            <a:endParaRPr lang="en-US" dirty="0"/>
          </a:p>
        </p:txBody>
      </p:sp>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1"/>
          <p:cNvPicPr>
            <a:picLocks noChangeAspect="1" noChangeArrowheads="1"/>
          </p:cNvPicPr>
          <p:nvPr/>
        </p:nvPicPr>
        <p:blipFill>
          <a:blip r:embed="rId1"/>
          <a:srcRect/>
          <a:stretch>
            <a:fillRect/>
          </a:stretch>
        </p:blipFill>
        <p:spPr bwMode="auto">
          <a:xfrm>
            <a:off x="571472" y="1357298"/>
            <a:ext cx="7929617" cy="4714908"/>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22" name="Picture 2"/>
          <p:cNvPicPr>
            <a:picLocks noGrp="1" noChangeAspect="1" noChangeArrowheads="1"/>
          </p:cNvPicPr>
          <p:nvPr>
            <p:ph idx="1"/>
          </p:nvPr>
        </p:nvPicPr>
        <p:blipFill>
          <a:blip r:embed="rId1"/>
          <a:srcRect/>
          <a:stretch>
            <a:fillRect/>
          </a:stretch>
        </p:blipFill>
        <p:spPr bwMode="auto">
          <a:xfrm>
            <a:off x="590550" y="571480"/>
            <a:ext cx="7962900" cy="5643602"/>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697" name="Picture 1"/>
          <p:cNvPicPr>
            <a:picLocks noGrp="1" noChangeAspect="1" noChangeArrowheads="1"/>
          </p:cNvPicPr>
          <p:nvPr>
            <p:ph idx="1"/>
          </p:nvPr>
        </p:nvPicPr>
        <p:blipFill>
          <a:blip r:embed="rId1"/>
          <a:srcRect/>
          <a:stretch>
            <a:fillRect/>
          </a:stretch>
        </p:blipFill>
        <p:spPr bwMode="auto">
          <a:xfrm>
            <a:off x="476250" y="288131"/>
            <a:ext cx="8191500" cy="6067425"/>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p:cNvSpPr>
            <a:spLocks noGrp="1"/>
          </p:cNvSpPr>
          <p:nvPr>
            <p:ph idx="1"/>
          </p:nvPr>
        </p:nvSpPr>
        <p:spPr>
          <a:xfrm>
            <a:off x="457200" y="285728"/>
            <a:ext cx="8229600" cy="6143668"/>
          </a:xfrm>
        </p:spPr>
        <p:txBody>
          <a:bodyPr>
            <a:normAutofit/>
          </a:bodyPr>
          <a:lstStyle/>
          <a:p>
            <a:endParaRPr lang="en-IN" dirty="0" smtClean="0"/>
          </a:p>
          <a:p>
            <a:endParaRPr lang="en-IN" dirty="0"/>
          </a:p>
          <a:p>
            <a:endParaRPr lang="en-IN" dirty="0" smtClean="0"/>
          </a:p>
          <a:p>
            <a:endParaRPr lang="en-IN" dirty="0"/>
          </a:p>
          <a:p>
            <a:endParaRPr lang="en-IN" dirty="0" smtClean="0"/>
          </a:p>
          <a:p>
            <a:pPr>
              <a:buNone/>
            </a:pPr>
            <a:endParaRPr lang="en-IN" dirty="0" smtClean="0"/>
          </a:p>
          <a:p>
            <a:pPr>
              <a:buNone/>
            </a:pPr>
            <a:r>
              <a:rPr lang="en-GB" sz="1900" b="1" dirty="0" smtClean="0"/>
              <a:t>Deletion </a:t>
            </a:r>
            <a:r>
              <a:rPr lang="en-GB" sz="1900" b="1" dirty="0"/>
              <a:t>Operation in AVL Tree</a:t>
            </a:r>
            <a:endParaRPr lang="en-GB" sz="1900" b="1" dirty="0"/>
          </a:p>
          <a:p>
            <a:r>
              <a:rPr lang="en-GB" sz="1900" dirty="0"/>
              <a:t>The deletion operation in AVL Tree is similar to deletion operation in BST. But after every deletion operation, we need to check with the Balance Factor condition. If the tree is balanced after deletion go for next operation otherwise perform suitable rotation to make the tree Balanced.</a:t>
            </a:r>
            <a:endParaRPr lang="en-GB" sz="1900" dirty="0"/>
          </a:p>
          <a:p>
            <a:endParaRPr lang="en-US" dirty="0"/>
          </a:p>
        </p:txBody>
      </p:sp>
      <p:pic>
        <p:nvPicPr>
          <p:cNvPr id="7" name="Picture 1"/>
          <p:cNvPicPr>
            <a:picLocks noChangeAspect="1" noChangeArrowheads="1"/>
          </p:cNvPicPr>
          <p:nvPr/>
        </p:nvPicPr>
        <p:blipFill>
          <a:blip r:embed="rId1"/>
          <a:srcRect/>
          <a:stretch>
            <a:fillRect/>
          </a:stretch>
        </p:blipFill>
        <p:spPr bwMode="auto">
          <a:xfrm>
            <a:off x="1000100" y="500043"/>
            <a:ext cx="7000923" cy="3071833"/>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p:cNvSpPr>
            <a:spLocks noGrp="1"/>
          </p:cNvSpPr>
          <p:nvPr>
            <p:ph idx="1"/>
          </p:nvPr>
        </p:nvSpPr>
        <p:spPr>
          <a:xfrm>
            <a:off x="457200" y="285728"/>
            <a:ext cx="8229600" cy="5840435"/>
          </a:xfrm>
        </p:spPr>
        <p:txBody>
          <a:bodyPr>
            <a:noAutofit/>
          </a:bodyPr>
          <a:lstStyle/>
          <a:p>
            <a:pPr>
              <a:buNone/>
            </a:pPr>
            <a:r>
              <a:rPr lang="en-US" sz="2000" b="1" dirty="0"/>
              <a:t>Splay </a:t>
            </a:r>
            <a:r>
              <a:rPr lang="en-US" sz="2000" b="1" dirty="0" smtClean="0"/>
              <a:t>Tree:</a:t>
            </a:r>
            <a:endParaRPr lang="en-US" sz="2000" b="1" dirty="0" smtClean="0"/>
          </a:p>
          <a:p>
            <a:pPr>
              <a:buFont typeface="Wingdings" panose="05000000000000000000" pitchFamily="2" charset="2"/>
              <a:buChar char="§"/>
            </a:pPr>
            <a:r>
              <a:rPr lang="en-GB" sz="2000" dirty="0"/>
              <a:t>Splay tree is another variant of a binary search tree. In a splay tree, recently accessed element is placed at the root of the tree. </a:t>
            </a:r>
            <a:endParaRPr lang="en-GB" sz="2000" dirty="0" smtClean="0"/>
          </a:p>
          <a:p>
            <a:pPr>
              <a:buFont typeface="Wingdings" panose="05000000000000000000" pitchFamily="2" charset="2"/>
              <a:buChar char="§"/>
            </a:pPr>
            <a:r>
              <a:rPr lang="en-GB" sz="2000" b="1" dirty="0"/>
              <a:t>Splay Tree is a self - adjusted Binary Search Tree in which every operation on element rearranges the tree so that the element is placed at the root position of the tree.</a:t>
            </a:r>
            <a:endParaRPr lang="en-US" sz="2000" b="1" dirty="0"/>
          </a:p>
          <a:p>
            <a:pPr>
              <a:buFont typeface="Wingdings" panose="05000000000000000000" pitchFamily="2" charset="2"/>
              <a:buChar char="§"/>
            </a:pPr>
            <a:r>
              <a:rPr lang="en-GB" sz="2000" dirty="0"/>
              <a:t>In a splay tree, every operation is performed at the root of the tree. All the operations in splay tree are involved with a common operation called </a:t>
            </a:r>
            <a:r>
              <a:rPr lang="en-GB" sz="2000" b="1" dirty="0"/>
              <a:t>"Splaying</a:t>
            </a:r>
            <a:r>
              <a:rPr lang="en-GB" sz="2000" b="1" dirty="0" smtClean="0"/>
              <a:t>"</a:t>
            </a:r>
            <a:r>
              <a:rPr lang="en-GB" sz="2000" dirty="0" smtClean="0"/>
              <a:t>.</a:t>
            </a:r>
            <a:endParaRPr lang="en-GB" sz="2000" dirty="0" smtClean="0"/>
          </a:p>
          <a:p>
            <a:pPr>
              <a:buFont typeface="Wingdings" panose="05000000000000000000" pitchFamily="2" charset="2"/>
              <a:buChar char="§"/>
            </a:pPr>
            <a:r>
              <a:rPr lang="en-GB" sz="2000" b="1" dirty="0"/>
              <a:t>Splaying an element, is the process of bringing it to the root position by performing suitable rotation operations</a:t>
            </a:r>
            <a:r>
              <a:rPr lang="en-GB" sz="2000" b="1" dirty="0" smtClean="0"/>
              <a:t>.</a:t>
            </a:r>
            <a:endParaRPr lang="en-GB" sz="2000" b="1" dirty="0" smtClean="0"/>
          </a:p>
          <a:p>
            <a:pPr>
              <a:buFont typeface="Wingdings" panose="05000000000000000000" pitchFamily="2" charset="2"/>
              <a:buChar char="§"/>
            </a:pPr>
            <a:r>
              <a:rPr lang="en-GB" sz="2000" dirty="0"/>
              <a:t>Every operation on splay tree performs the splaying operation. For example, the insertion operation first inserts the new element using the binary search tree insertion process, then the newly inserted element is splayed so that it is placed at the root of the tree. The search operation in a splay tree is nothing but searching the element using binary search process and then splaying that searched element so that it is placed at the root of the tree.</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072230"/>
          </a:xfrm>
        </p:spPr>
        <p:txBody>
          <a:bodyPr>
            <a:normAutofit/>
          </a:bodyPr>
          <a:lstStyle/>
          <a:p>
            <a:pPr>
              <a:buNone/>
            </a:pPr>
            <a:r>
              <a:rPr lang="en-US" sz="2000" b="1" dirty="0"/>
              <a:t>Rotations in Splay Tree</a:t>
            </a:r>
            <a:endParaRPr lang="en-US" sz="2000" b="1" dirty="0"/>
          </a:p>
          <a:p>
            <a:pPr>
              <a:buNone/>
            </a:pPr>
            <a:r>
              <a:rPr lang="en-US" sz="2000" b="1" dirty="0"/>
              <a:t>1. </a:t>
            </a:r>
            <a:r>
              <a:rPr lang="en-US" sz="2000" b="1" dirty="0" err="1"/>
              <a:t>Zig</a:t>
            </a:r>
            <a:r>
              <a:rPr lang="en-US" sz="2000" b="1" dirty="0"/>
              <a:t> Rotation</a:t>
            </a:r>
            <a:endParaRPr lang="en-US" sz="2000" b="1" dirty="0"/>
          </a:p>
          <a:p>
            <a:pPr>
              <a:buNone/>
            </a:pPr>
            <a:r>
              <a:rPr lang="en-US" sz="2000" b="1" dirty="0"/>
              <a:t>2. </a:t>
            </a:r>
            <a:r>
              <a:rPr lang="en-US" sz="2000" b="1" dirty="0" err="1"/>
              <a:t>Zag</a:t>
            </a:r>
            <a:r>
              <a:rPr lang="en-US" sz="2000" b="1" dirty="0"/>
              <a:t> Rotation</a:t>
            </a:r>
            <a:endParaRPr lang="en-US" sz="2000" b="1" dirty="0"/>
          </a:p>
          <a:p>
            <a:pPr>
              <a:buNone/>
            </a:pPr>
            <a:r>
              <a:rPr lang="en-US" sz="2000" b="1" dirty="0"/>
              <a:t>3. </a:t>
            </a:r>
            <a:r>
              <a:rPr lang="en-US" sz="2000" b="1" dirty="0" err="1"/>
              <a:t>Zig</a:t>
            </a:r>
            <a:r>
              <a:rPr lang="en-US" sz="2000" b="1" dirty="0"/>
              <a:t> - </a:t>
            </a:r>
            <a:r>
              <a:rPr lang="en-US" sz="2000" b="1" dirty="0" err="1"/>
              <a:t>Zig</a:t>
            </a:r>
            <a:r>
              <a:rPr lang="en-US" sz="2000" b="1" dirty="0"/>
              <a:t> Rotation</a:t>
            </a:r>
            <a:endParaRPr lang="en-US" sz="2000" b="1" dirty="0"/>
          </a:p>
          <a:p>
            <a:pPr>
              <a:buNone/>
            </a:pPr>
            <a:r>
              <a:rPr lang="en-US" sz="2000" b="1" dirty="0"/>
              <a:t>4. </a:t>
            </a:r>
            <a:r>
              <a:rPr lang="en-US" sz="2000" b="1" dirty="0" err="1"/>
              <a:t>Zag</a:t>
            </a:r>
            <a:r>
              <a:rPr lang="en-US" sz="2000" b="1" dirty="0"/>
              <a:t> - </a:t>
            </a:r>
            <a:r>
              <a:rPr lang="en-US" sz="2000" b="1" dirty="0" err="1"/>
              <a:t>Zag</a:t>
            </a:r>
            <a:r>
              <a:rPr lang="en-US" sz="2000" b="1" dirty="0"/>
              <a:t> Rotation</a:t>
            </a:r>
            <a:endParaRPr lang="en-US" sz="2000" b="1" dirty="0"/>
          </a:p>
          <a:p>
            <a:pPr>
              <a:buNone/>
            </a:pPr>
            <a:r>
              <a:rPr lang="en-US" sz="2000" b="1" dirty="0"/>
              <a:t>5. </a:t>
            </a:r>
            <a:r>
              <a:rPr lang="en-US" sz="2000" b="1" dirty="0" err="1"/>
              <a:t>Zig</a:t>
            </a:r>
            <a:r>
              <a:rPr lang="en-US" sz="2000" b="1" dirty="0"/>
              <a:t> - </a:t>
            </a:r>
            <a:r>
              <a:rPr lang="en-US" sz="2000" b="1" dirty="0" err="1"/>
              <a:t>Zag</a:t>
            </a:r>
            <a:r>
              <a:rPr lang="en-US" sz="2000" b="1" dirty="0"/>
              <a:t> Rotation</a:t>
            </a:r>
            <a:endParaRPr lang="en-US" sz="2000" b="1" dirty="0"/>
          </a:p>
          <a:p>
            <a:pPr>
              <a:buNone/>
            </a:pPr>
            <a:r>
              <a:rPr lang="en-US" sz="2000" b="1" dirty="0"/>
              <a:t>6. </a:t>
            </a:r>
            <a:r>
              <a:rPr lang="en-US" sz="2000" b="1" dirty="0" err="1"/>
              <a:t>Zag</a:t>
            </a:r>
            <a:r>
              <a:rPr lang="en-US" sz="2000" b="1" dirty="0"/>
              <a:t> - </a:t>
            </a:r>
            <a:r>
              <a:rPr lang="en-US" sz="2000" b="1" dirty="0" err="1"/>
              <a:t>Zig</a:t>
            </a:r>
            <a:r>
              <a:rPr lang="en-US" sz="2000" b="1" dirty="0"/>
              <a:t> </a:t>
            </a:r>
            <a:r>
              <a:rPr lang="en-US" sz="2000" b="1" dirty="0" smtClean="0"/>
              <a:t>Rotation</a:t>
            </a:r>
            <a:endParaRPr lang="en-US" sz="2000" b="1" dirty="0" smtClean="0"/>
          </a:p>
          <a:p>
            <a:pPr>
              <a:buNone/>
            </a:pPr>
            <a:r>
              <a:rPr lang="en-GB" sz="2000" b="1" dirty="0" err="1"/>
              <a:t>Zig</a:t>
            </a:r>
            <a:r>
              <a:rPr lang="en-GB" sz="2000" b="1" dirty="0"/>
              <a:t> </a:t>
            </a:r>
            <a:r>
              <a:rPr lang="en-GB" sz="2000" b="1" dirty="0" smtClean="0"/>
              <a:t>Rotation:</a:t>
            </a:r>
            <a:endParaRPr lang="en-GB" sz="2000" b="1" dirty="0"/>
          </a:p>
          <a:p>
            <a:pPr>
              <a:buNone/>
            </a:pPr>
            <a:r>
              <a:rPr lang="en-GB" sz="2000" dirty="0"/>
              <a:t>The </a:t>
            </a:r>
            <a:r>
              <a:rPr lang="en-GB" sz="2000" b="1" dirty="0" err="1"/>
              <a:t>Zig</a:t>
            </a:r>
            <a:r>
              <a:rPr lang="en-GB" sz="2000" b="1" dirty="0"/>
              <a:t> Rotation</a:t>
            </a:r>
            <a:r>
              <a:rPr lang="en-GB" sz="2000" dirty="0"/>
              <a:t> in splay tree is similar to the single right rotation in AVL Tree rotations. In </a:t>
            </a:r>
            <a:r>
              <a:rPr lang="en-GB" sz="2000" dirty="0" err="1"/>
              <a:t>zig</a:t>
            </a:r>
            <a:r>
              <a:rPr lang="en-GB" sz="2000" dirty="0"/>
              <a:t> rotation, every node moves one position to the right from its current position. Consider the following example...</a:t>
            </a:r>
            <a:endParaRPr lang="en-GB" sz="2000" dirty="0"/>
          </a:p>
          <a:p>
            <a:pPr>
              <a:buNone/>
            </a:pPr>
            <a:br>
              <a:rPr lang="en-GB" dirty="0" smtClean="0"/>
            </a:br>
            <a:endParaRPr lang="en-US" b="1" dirty="0"/>
          </a:p>
          <a:p>
            <a:endParaRPr lang="en-US" dirty="0"/>
          </a:p>
        </p:txBody>
      </p:sp>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1"/>
          <p:cNvPicPr>
            <a:picLocks noChangeAspect="1" noChangeArrowheads="1"/>
          </p:cNvPicPr>
          <p:nvPr/>
        </p:nvPicPr>
        <p:blipFill>
          <a:blip r:embed="rId1"/>
          <a:srcRect/>
          <a:stretch>
            <a:fillRect/>
          </a:stretch>
        </p:blipFill>
        <p:spPr bwMode="auto">
          <a:xfrm>
            <a:off x="1214414" y="4286256"/>
            <a:ext cx="6162675" cy="1838325"/>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457200" y="285728"/>
            <a:ext cx="8229600" cy="6143668"/>
          </a:xfrm>
        </p:spPr>
        <p:txBody>
          <a:bodyPr>
            <a:normAutofit/>
          </a:bodyPr>
          <a:lstStyle/>
          <a:p>
            <a:pPr>
              <a:buNone/>
            </a:pPr>
            <a:r>
              <a:rPr lang="en-GB" sz="1800" b="1" dirty="0" err="1"/>
              <a:t>Zag</a:t>
            </a:r>
            <a:r>
              <a:rPr lang="en-GB" sz="1800" b="1" dirty="0"/>
              <a:t> Rotation</a:t>
            </a:r>
            <a:endParaRPr lang="en-GB" sz="1800" b="1" dirty="0"/>
          </a:p>
          <a:p>
            <a:r>
              <a:rPr lang="en-GB" sz="1800" dirty="0"/>
              <a:t>The </a:t>
            </a:r>
            <a:r>
              <a:rPr lang="en-GB" sz="1800" b="1" dirty="0" err="1"/>
              <a:t>Zag</a:t>
            </a:r>
            <a:r>
              <a:rPr lang="en-GB" sz="1800" b="1" dirty="0"/>
              <a:t> Rotation</a:t>
            </a:r>
            <a:r>
              <a:rPr lang="en-GB" sz="1800" dirty="0"/>
              <a:t> in splay tree is similar to the single left rotation in AVL Tree rotations. In </a:t>
            </a:r>
            <a:r>
              <a:rPr lang="en-GB" sz="1800" dirty="0" err="1"/>
              <a:t>zag</a:t>
            </a:r>
            <a:r>
              <a:rPr lang="en-GB" sz="1800" dirty="0"/>
              <a:t> rotation, every node moves one position to the left from its current position. Consider the following example</a:t>
            </a:r>
            <a:r>
              <a:rPr lang="en-GB" sz="1800" dirty="0" smtClean="0"/>
              <a:t>...</a:t>
            </a:r>
            <a:endParaRPr lang="en-GB" sz="1800" dirty="0" smtClean="0"/>
          </a:p>
          <a:p>
            <a:endParaRPr lang="en-GB" sz="1800" dirty="0"/>
          </a:p>
          <a:p>
            <a:endParaRPr lang="en-GB" sz="1800" dirty="0" smtClean="0"/>
          </a:p>
          <a:p>
            <a:endParaRPr lang="en-GB" sz="1800" dirty="0"/>
          </a:p>
          <a:p>
            <a:endParaRPr lang="en-GB" sz="1800" dirty="0" smtClean="0"/>
          </a:p>
          <a:p>
            <a:endParaRPr lang="en-GB" sz="1800" dirty="0"/>
          </a:p>
          <a:p>
            <a:pPr>
              <a:buNone/>
            </a:pPr>
            <a:r>
              <a:rPr lang="en-GB" sz="1800" b="1" dirty="0" err="1" smtClean="0"/>
              <a:t>Zig-Zig</a:t>
            </a:r>
            <a:r>
              <a:rPr lang="en-GB" sz="1800" b="1" dirty="0" smtClean="0"/>
              <a:t> </a:t>
            </a:r>
            <a:r>
              <a:rPr lang="en-GB" sz="1800" b="1" dirty="0"/>
              <a:t>Rotation</a:t>
            </a:r>
            <a:endParaRPr lang="en-GB" sz="1800" b="1" dirty="0"/>
          </a:p>
          <a:p>
            <a:r>
              <a:rPr lang="en-GB" sz="1800" dirty="0"/>
              <a:t>The </a:t>
            </a:r>
            <a:r>
              <a:rPr lang="en-GB" sz="1800" b="1" dirty="0" err="1"/>
              <a:t>Zig-Zig</a:t>
            </a:r>
            <a:r>
              <a:rPr lang="en-GB" sz="1800" b="1" dirty="0"/>
              <a:t> Rotation</a:t>
            </a:r>
            <a:r>
              <a:rPr lang="en-GB" sz="1800" dirty="0"/>
              <a:t> in splay tree is a double </a:t>
            </a:r>
            <a:r>
              <a:rPr lang="en-GB" sz="1800" dirty="0" err="1"/>
              <a:t>zig</a:t>
            </a:r>
            <a:r>
              <a:rPr lang="en-GB" sz="1800" dirty="0"/>
              <a:t> rotation. In </a:t>
            </a:r>
            <a:r>
              <a:rPr lang="en-GB" sz="1800" dirty="0" err="1"/>
              <a:t>zig-zig</a:t>
            </a:r>
            <a:r>
              <a:rPr lang="en-GB" sz="1800" dirty="0"/>
              <a:t> rotation, every node moves two positions to the right from its current position. Consider the following example...</a:t>
            </a:r>
            <a:endParaRPr lang="en-GB" sz="1800" dirty="0"/>
          </a:p>
          <a:p>
            <a:endParaRPr lang="en-GB" sz="1800" dirty="0"/>
          </a:p>
        </p:txBody>
      </p:sp>
      <p:pic>
        <p:nvPicPr>
          <p:cNvPr id="6" name="Picture 1"/>
          <p:cNvPicPr>
            <a:picLocks noChangeAspect="1" noChangeArrowheads="1"/>
          </p:cNvPicPr>
          <p:nvPr/>
        </p:nvPicPr>
        <p:blipFill>
          <a:blip r:embed="rId1"/>
          <a:srcRect/>
          <a:stretch>
            <a:fillRect/>
          </a:stretch>
        </p:blipFill>
        <p:spPr bwMode="auto">
          <a:xfrm>
            <a:off x="1285852" y="1571613"/>
            <a:ext cx="5819775" cy="1500198"/>
          </a:xfrm>
          <a:prstGeom prst="rect">
            <a:avLst/>
          </a:prstGeom>
          <a:noFill/>
          <a:ln w="9525">
            <a:noFill/>
            <a:miter lim="800000"/>
            <a:headEnd/>
            <a:tailEnd/>
          </a:ln>
          <a:effectLst/>
        </p:spPr>
      </p:pic>
      <p:pic>
        <p:nvPicPr>
          <p:cNvPr id="7" name="Picture 1"/>
          <p:cNvPicPr>
            <a:picLocks noChangeAspect="1" noChangeArrowheads="1"/>
          </p:cNvPicPr>
          <p:nvPr/>
        </p:nvPicPr>
        <p:blipFill>
          <a:blip r:embed="rId2"/>
          <a:srcRect/>
          <a:stretch>
            <a:fillRect/>
          </a:stretch>
        </p:blipFill>
        <p:spPr bwMode="auto">
          <a:xfrm>
            <a:off x="857224" y="4500571"/>
            <a:ext cx="6810375" cy="1857388"/>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457200" y="285728"/>
            <a:ext cx="8229600" cy="6143668"/>
          </a:xfrm>
        </p:spPr>
        <p:txBody>
          <a:bodyPr>
            <a:normAutofit/>
          </a:bodyPr>
          <a:lstStyle/>
          <a:p>
            <a:pPr>
              <a:buNone/>
            </a:pPr>
            <a:r>
              <a:rPr lang="en-GB" sz="1800" b="1" dirty="0" err="1"/>
              <a:t>Zag-Zag</a:t>
            </a:r>
            <a:r>
              <a:rPr lang="en-GB" sz="1800" b="1" dirty="0"/>
              <a:t> Rotation</a:t>
            </a:r>
            <a:endParaRPr lang="en-GB" sz="1800" b="1" dirty="0"/>
          </a:p>
          <a:p>
            <a:r>
              <a:rPr lang="en-GB" sz="1800" dirty="0"/>
              <a:t>The </a:t>
            </a:r>
            <a:r>
              <a:rPr lang="en-GB" sz="1800" b="1" dirty="0" err="1"/>
              <a:t>Zag-Zag</a:t>
            </a:r>
            <a:r>
              <a:rPr lang="en-GB" sz="1800" b="1" dirty="0"/>
              <a:t> Rotation</a:t>
            </a:r>
            <a:r>
              <a:rPr lang="en-GB" sz="1800" dirty="0"/>
              <a:t> in splay tree is a double </a:t>
            </a:r>
            <a:r>
              <a:rPr lang="en-GB" sz="1800" dirty="0" err="1"/>
              <a:t>zag</a:t>
            </a:r>
            <a:r>
              <a:rPr lang="en-GB" sz="1800" dirty="0"/>
              <a:t> rotation. In </a:t>
            </a:r>
            <a:r>
              <a:rPr lang="en-GB" sz="1800" dirty="0" err="1"/>
              <a:t>zag-zag</a:t>
            </a:r>
            <a:r>
              <a:rPr lang="en-GB" sz="1800" dirty="0"/>
              <a:t> rotation, every node moves two positions to the left from its current position. Consider the following example.</a:t>
            </a:r>
            <a:endParaRPr lang="en-GB" sz="1800" dirty="0"/>
          </a:p>
          <a:p>
            <a:pPr>
              <a:buNone/>
            </a:pPr>
            <a:endParaRPr lang="en-IN" dirty="0" smtClean="0"/>
          </a:p>
          <a:p>
            <a:pPr>
              <a:buNone/>
            </a:pPr>
            <a:endParaRPr lang="en-IN" dirty="0"/>
          </a:p>
          <a:p>
            <a:pPr>
              <a:buNone/>
            </a:pPr>
            <a:endParaRPr lang="en-IN" dirty="0" smtClean="0"/>
          </a:p>
          <a:p>
            <a:pPr>
              <a:buNone/>
            </a:pPr>
            <a:r>
              <a:rPr lang="en-GB" sz="1900" b="1" dirty="0" err="1" smtClean="0"/>
              <a:t>Zig-Zag</a:t>
            </a:r>
            <a:r>
              <a:rPr lang="en-GB" sz="1900" b="1" dirty="0" smtClean="0"/>
              <a:t> </a:t>
            </a:r>
            <a:r>
              <a:rPr lang="en-GB" sz="1900" b="1" dirty="0"/>
              <a:t>Rotation</a:t>
            </a:r>
            <a:endParaRPr lang="en-GB" sz="1900" b="1" dirty="0"/>
          </a:p>
          <a:p>
            <a:r>
              <a:rPr lang="en-GB" sz="1900" dirty="0"/>
              <a:t>The </a:t>
            </a:r>
            <a:r>
              <a:rPr lang="en-GB" sz="1900" b="1" dirty="0" err="1"/>
              <a:t>Zig-Zag</a:t>
            </a:r>
            <a:r>
              <a:rPr lang="en-GB" sz="1900" b="1" dirty="0"/>
              <a:t> Rotation</a:t>
            </a:r>
            <a:r>
              <a:rPr lang="en-GB" sz="1900" dirty="0"/>
              <a:t> in splay tree is a sequence of </a:t>
            </a:r>
            <a:r>
              <a:rPr lang="en-GB" sz="1900" dirty="0" err="1"/>
              <a:t>zig</a:t>
            </a:r>
            <a:r>
              <a:rPr lang="en-GB" sz="1900" dirty="0"/>
              <a:t> rotation followed by </a:t>
            </a:r>
            <a:r>
              <a:rPr lang="en-GB" sz="1900" dirty="0" err="1"/>
              <a:t>zag</a:t>
            </a:r>
            <a:r>
              <a:rPr lang="en-GB" sz="1900" dirty="0"/>
              <a:t> rotation. In </a:t>
            </a:r>
            <a:r>
              <a:rPr lang="en-GB" sz="1900" dirty="0" err="1"/>
              <a:t>zig-zag</a:t>
            </a:r>
            <a:r>
              <a:rPr lang="en-GB" sz="1900" dirty="0"/>
              <a:t> rotation, every node moves one position to the right followed by one position to the left from its current position. Consider the following example...</a:t>
            </a:r>
            <a:endParaRPr lang="en-GB" sz="1900" dirty="0"/>
          </a:p>
          <a:p>
            <a:pPr>
              <a:buNone/>
            </a:pPr>
            <a:endParaRPr lang="en-US" dirty="0"/>
          </a:p>
        </p:txBody>
      </p:sp>
      <p:pic>
        <p:nvPicPr>
          <p:cNvPr id="6" name="Picture 2"/>
          <p:cNvPicPr>
            <a:picLocks noChangeAspect="1" noChangeArrowheads="1"/>
          </p:cNvPicPr>
          <p:nvPr/>
        </p:nvPicPr>
        <p:blipFill>
          <a:blip r:embed="rId1"/>
          <a:srcRect/>
          <a:stretch>
            <a:fillRect/>
          </a:stretch>
        </p:blipFill>
        <p:spPr bwMode="auto">
          <a:xfrm>
            <a:off x="1357290" y="1500174"/>
            <a:ext cx="6391275" cy="1714512"/>
          </a:xfrm>
          <a:prstGeom prst="rect">
            <a:avLst/>
          </a:prstGeom>
          <a:noFill/>
          <a:ln w="9525">
            <a:noFill/>
            <a:miter lim="800000"/>
            <a:headEnd/>
            <a:tailEnd/>
          </a:ln>
          <a:effectLst/>
        </p:spPr>
      </p:pic>
      <p:pic>
        <p:nvPicPr>
          <p:cNvPr id="7" name="Picture 1"/>
          <p:cNvPicPr>
            <a:picLocks noChangeAspect="1" noChangeArrowheads="1"/>
          </p:cNvPicPr>
          <p:nvPr/>
        </p:nvPicPr>
        <p:blipFill>
          <a:blip r:embed="rId2"/>
          <a:srcRect/>
          <a:stretch>
            <a:fillRect/>
          </a:stretch>
        </p:blipFill>
        <p:spPr bwMode="auto">
          <a:xfrm>
            <a:off x="1071538" y="4929198"/>
            <a:ext cx="6734175" cy="1500198"/>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p:cNvSpPr>
            <a:spLocks noGrp="1"/>
          </p:cNvSpPr>
          <p:nvPr>
            <p:ph idx="1"/>
          </p:nvPr>
        </p:nvSpPr>
        <p:spPr>
          <a:xfrm>
            <a:off x="457200" y="285728"/>
            <a:ext cx="8229600" cy="6072230"/>
          </a:xfrm>
        </p:spPr>
        <p:txBody>
          <a:bodyPr/>
          <a:lstStyle/>
          <a:p>
            <a:pPr>
              <a:buNone/>
            </a:pPr>
            <a:r>
              <a:rPr lang="en-GB" sz="1800" b="1" dirty="0" err="1"/>
              <a:t>Zag-Zig</a:t>
            </a:r>
            <a:r>
              <a:rPr lang="en-GB" sz="1800" b="1" dirty="0"/>
              <a:t> Rotation</a:t>
            </a:r>
            <a:endParaRPr lang="en-GB" sz="1800" b="1" dirty="0"/>
          </a:p>
          <a:p>
            <a:r>
              <a:rPr lang="en-GB" sz="1800" dirty="0"/>
              <a:t>The </a:t>
            </a:r>
            <a:r>
              <a:rPr lang="en-GB" sz="1800" b="1" dirty="0" err="1"/>
              <a:t>Zag-Zig</a:t>
            </a:r>
            <a:r>
              <a:rPr lang="en-GB" sz="1800" b="1" dirty="0"/>
              <a:t> Rotation</a:t>
            </a:r>
            <a:r>
              <a:rPr lang="en-GB" sz="1800" dirty="0"/>
              <a:t> in splay tree is a sequence of </a:t>
            </a:r>
            <a:r>
              <a:rPr lang="en-GB" sz="1800" dirty="0" err="1"/>
              <a:t>zag</a:t>
            </a:r>
            <a:r>
              <a:rPr lang="en-GB" sz="1800" dirty="0"/>
              <a:t> rotation followed by </a:t>
            </a:r>
            <a:r>
              <a:rPr lang="en-GB" sz="1800" dirty="0" err="1"/>
              <a:t>zig</a:t>
            </a:r>
            <a:r>
              <a:rPr lang="en-GB" sz="1800" dirty="0"/>
              <a:t> rotation. In </a:t>
            </a:r>
            <a:r>
              <a:rPr lang="en-GB" sz="1800" dirty="0" err="1"/>
              <a:t>zag-zig</a:t>
            </a:r>
            <a:r>
              <a:rPr lang="en-GB" sz="1800" dirty="0"/>
              <a:t> rotation, every node moves one position to the left followed by one position to the right from its current position. Consider the following example</a:t>
            </a:r>
            <a:r>
              <a:rPr lang="en-GB" sz="1800" dirty="0" smtClean="0"/>
              <a:t>...</a:t>
            </a:r>
            <a:endParaRPr lang="en-GB" sz="1800" dirty="0" smtClean="0"/>
          </a:p>
          <a:p>
            <a:endParaRPr lang="en-GB" sz="1800" dirty="0"/>
          </a:p>
          <a:p>
            <a:endParaRPr lang="en-GB" sz="1800" dirty="0" smtClean="0"/>
          </a:p>
          <a:p>
            <a:endParaRPr lang="en-GB" sz="1800" dirty="0"/>
          </a:p>
          <a:p>
            <a:endParaRPr lang="en-GB" sz="1800" dirty="0" smtClean="0"/>
          </a:p>
          <a:p>
            <a:endParaRPr lang="en-GB" sz="1800" dirty="0"/>
          </a:p>
          <a:p>
            <a:endParaRPr lang="en-GB" sz="1800" dirty="0" smtClean="0"/>
          </a:p>
          <a:p>
            <a:pPr>
              <a:buNone/>
            </a:pPr>
            <a:r>
              <a:rPr lang="en-GB" sz="1800" b="1" dirty="0"/>
              <a:t>Insertion Operation in Splay Tree</a:t>
            </a:r>
            <a:endParaRPr lang="en-GB" sz="1800" b="1" dirty="0"/>
          </a:p>
          <a:p>
            <a:r>
              <a:rPr lang="en-GB" sz="1800" dirty="0"/>
              <a:t>The insertion operation in Splay tree is performed using following steps...</a:t>
            </a:r>
            <a:endParaRPr lang="en-GB" sz="1800" dirty="0"/>
          </a:p>
          <a:p>
            <a:pPr>
              <a:buNone/>
            </a:pPr>
            <a:r>
              <a:rPr lang="en-GB" sz="1800" b="1" dirty="0"/>
              <a:t>Step 1 - </a:t>
            </a:r>
            <a:r>
              <a:rPr lang="en-GB" sz="1800" dirty="0"/>
              <a:t>Check whether tree is Empty.</a:t>
            </a:r>
            <a:endParaRPr lang="en-GB" sz="1800" dirty="0"/>
          </a:p>
          <a:p>
            <a:pPr>
              <a:buNone/>
            </a:pPr>
            <a:r>
              <a:rPr lang="en-GB" sz="1800" b="1" dirty="0"/>
              <a:t>Step 2 - </a:t>
            </a:r>
            <a:r>
              <a:rPr lang="en-GB" sz="1800" dirty="0"/>
              <a:t>If tree is Empty then insert the </a:t>
            </a:r>
            <a:r>
              <a:rPr lang="en-GB" sz="1800" b="1" dirty="0" err="1"/>
              <a:t>newNode</a:t>
            </a:r>
            <a:r>
              <a:rPr lang="en-GB" sz="1800" dirty="0"/>
              <a:t> as Root node and exit from the operation.</a:t>
            </a:r>
            <a:endParaRPr lang="en-GB" sz="1800" dirty="0"/>
          </a:p>
          <a:p>
            <a:pPr>
              <a:buNone/>
            </a:pPr>
            <a:r>
              <a:rPr lang="en-GB" sz="1800" b="1" dirty="0"/>
              <a:t>Step 3 - </a:t>
            </a:r>
            <a:r>
              <a:rPr lang="en-GB" sz="1800" dirty="0"/>
              <a:t>If tree is not Empty then insert the </a:t>
            </a:r>
            <a:r>
              <a:rPr lang="en-GB" sz="1800" dirty="0" err="1"/>
              <a:t>newNode</a:t>
            </a:r>
            <a:r>
              <a:rPr lang="en-GB" sz="1800" dirty="0"/>
              <a:t> as leaf node using Binary Search tree insertion logic.</a:t>
            </a:r>
            <a:endParaRPr lang="en-GB" sz="1800" dirty="0"/>
          </a:p>
          <a:p>
            <a:pPr>
              <a:buNone/>
            </a:pPr>
            <a:r>
              <a:rPr lang="en-GB" sz="1800" b="1" dirty="0"/>
              <a:t>Step 4 - </a:t>
            </a:r>
            <a:r>
              <a:rPr lang="en-GB" sz="1800" dirty="0"/>
              <a:t>After insertion, </a:t>
            </a:r>
            <a:r>
              <a:rPr lang="en-GB" sz="1800" b="1" dirty="0"/>
              <a:t>Splay</a:t>
            </a:r>
            <a:r>
              <a:rPr lang="en-GB" sz="1800" dirty="0"/>
              <a:t> the </a:t>
            </a:r>
            <a:r>
              <a:rPr lang="en-GB" sz="1800" b="1" dirty="0" err="1"/>
              <a:t>newNode</a:t>
            </a:r>
            <a:endParaRPr lang="en-GB" sz="1800" dirty="0"/>
          </a:p>
          <a:p>
            <a:endParaRPr lang="en-GB" sz="1800" dirty="0"/>
          </a:p>
          <a:p>
            <a:pPr>
              <a:buNone/>
            </a:pPr>
            <a:endParaRPr lang="en-US" dirty="0"/>
          </a:p>
        </p:txBody>
      </p:sp>
      <p:pic>
        <p:nvPicPr>
          <p:cNvPr id="9" name="Picture 2"/>
          <p:cNvPicPr>
            <a:picLocks noChangeAspect="1" noChangeArrowheads="1"/>
          </p:cNvPicPr>
          <p:nvPr/>
        </p:nvPicPr>
        <p:blipFill>
          <a:blip r:embed="rId1"/>
          <a:srcRect/>
          <a:stretch>
            <a:fillRect/>
          </a:stretch>
        </p:blipFill>
        <p:spPr bwMode="auto">
          <a:xfrm>
            <a:off x="1428728" y="1928802"/>
            <a:ext cx="6286500" cy="1710538"/>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457200" y="285728"/>
            <a:ext cx="8229600" cy="5840435"/>
          </a:xfrm>
        </p:spPr>
        <p:txBody>
          <a:bodyPr/>
          <a:lstStyle/>
          <a:p>
            <a:pPr>
              <a:buNone/>
            </a:pPr>
            <a:r>
              <a:rPr lang="en-GB" sz="1800" b="1" dirty="0"/>
              <a:t>Deletion Operation in Splay Tree</a:t>
            </a:r>
            <a:endParaRPr lang="en-GB" sz="1800" b="1" dirty="0"/>
          </a:p>
          <a:p>
            <a:pPr>
              <a:buNone/>
            </a:pPr>
            <a:r>
              <a:rPr lang="en-GB" sz="1800" dirty="0"/>
              <a:t>The deletion operation in splay tree is similar to deletion operation in Binary Search Tree. But before deleting the element, we first need to </a:t>
            </a:r>
            <a:r>
              <a:rPr lang="en-GB" sz="1800" b="1" dirty="0"/>
              <a:t>splay</a:t>
            </a:r>
            <a:r>
              <a:rPr lang="en-GB" sz="1800" dirty="0"/>
              <a:t> that element and then delete it from the root position. Finally join the remaining tree using binary search tree logic.</a:t>
            </a:r>
            <a:endParaRPr lang="en-GB" sz="1800" dirty="0"/>
          </a:p>
          <a:p>
            <a:pPr>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072230"/>
          </a:xfrm>
        </p:spPr>
        <p:txBody>
          <a:bodyPr>
            <a:normAutofit/>
          </a:bodyPr>
          <a:lstStyle/>
          <a:p>
            <a:pPr>
              <a:buNone/>
            </a:pPr>
            <a:r>
              <a:rPr lang="en-US" sz="2000" b="1" dirty="0" smtClean="0"/>
              <a:t>Red - Black Tree </a:t>
            </a:r>
            <a:r>
              <a:rPr lang="en-US" sz="2000" b="1" dirty="0" smtClean="0"/>
              <a:t>Data structure:</a:t>
            </a:r>
            <a:endParaRPr lang="en-US" sz="2000" b="1" dirty="0" smtClean="0"/>
          </a:p>
          <a:p>
            <a:r>
              <a:rPr lang="en-US" sz="2000" b="1" dirty="0" smtClean="0"/>
              <a:t>Red Black Tree is a Binary Search Tree in which </a:t>
            </a:r>
            <a:r>
              <a:rPr lang="en-US" sz="2000" b="1" dirty="0" smtClean="0"/>
              <a:t>every </a:t>
            </a:r>
            <a:r>
              <a:rPr lang="en-US" sz="2000" b="1" dirty="0" smtClean="0"/>
              <a:t>node is colored either RED or BLACK</a:t>
            </a:r>
            <a:r>
              <a:rPr lang="en-US" sz="2000" b="1" dirty="0" smtClean="0"/>
              <a:t>.</a:t>
            </a:r>
            <a:endParaRPr lang="en-US" sz="2000" b="1" dirty="0" smtClean="0"/>
          </a:p>
          <a:p>
            <a:r>
              <a:rPr lang="en-US" sz="2000" dirty="0" smtClean="0"/>
              <a:t>In Red Black Tree, the color of a node is decided based on the properties of Red-Black Tree. Every Red Black Tree has the following properties</a:t>
            </a:r>
            <a:r>
              <a:rPr lang="en-US" sz="2000" dirty="0" smtClean="0"/>
              <a:t>.</a:t>
            </a:r>
            <a:endParaRPr lang="en-US" sz="2000" dirty="0" smtClean="0"/>
          </a:p>
          <a:p>
            <a:pPr>
              <a:buNone/>
            </a:pPr>
            <a:r>
              <a:rPr lang="en-US" sz="2000" b="1" dirty="0" smtClean="0"/>
              <a:t>Properties of Red Black Tree</a:t>
            </a:r>
            <a:endParaRPr lang="en-US" sz="2000" b="1" dirty="0" smtClean="0"/>
          </a:p>
          <a:p>
            <a:pPr>
              <a:buNone/>
            </a:pPr>
            <a:r>
              <a:rPr lang="en-US" sz="2000" b="1" dirty="0" smtClean="0"/>
              <a:t>Property #1:</a:t>
            </a:r>
            <a:r>
              <a:rPr lang="en-US" sz="2000" dirty="0" smtClean="0"/>
              <a:t> Red - Black Tree must be a Binary Search Tree.</a:t>
            </a:r>
            <a:endParaRPr lang="en-US" sz="2000" dirty="0" smtClean="0"/>
          </a:p>
          <a:p>
            <a:pPr>
              <a:buNone/>
            </a:pPr>
            <a:r>
              <a:rPr lang="en-US" sz="2000" b="1" dirty="0" smtClean="0"/>
              <a:t>Property #2:</a:t>
            </a:r>
            <a:r>
              <a:rPr lang="en-US" sz="2000" dirty="0" smtClean="0"/>
              <a:t> The ROOT node must be colored BLACK.</a:t>
            </a:r>
            <a:endParaRPr lang="en-US" sz="2000" dirty="0" smtClean="0"/>
          </a:p>
          <a:p>
            <a:pPr>
              <a:buNone/>
            </a:pPr>
            <a:r>
              <a:rPr lang="en-US" sz="2000" b="1" dirty="0" smtClean="0"/>
              <a:t>Property #3:</a:t>
            </a:r>
            <a:r>
              <a:rPr lang="en-US" sz="2000" dirty="0" smtClean="0"/>
              <a:t> The children of Red colored node must be colored BLACK. (There should not be two consecutive RED nodes).</a:t>
            </a:r>
            <a:endParaRPr lang="en-US" sz="2000" dirty="0" smtClean="0"/>
          </a:p>
          <a:p>
            <a:pPr>
              <a:buNone/>
            </a:pPr>
            <a:r>
              <a:rPr lang="en-US" sz="2000" b="1" dirty="0" smtClean="0"/>
              <a:t>Property #4:</a:t>
            </a:r>
            <a:r>
              <a:rPr lang="en-US" sz="2000" dirty="0" smtClean="0"/>
              <a:t> In all the paths of the tree, there should be same number of BLACK colored nodes.</a:t>
            </a:r>
            <a:endParaRPr lang="en-US" sz="2000" dirty="0" smtClean="0"/>
          </a:p>
          <a:p>
            <a:pPr>
              <a:buNone/>
            </a:pPr>
            <a:r>
              <a:rPr lang="en-US" sz="2000" b="1" dirty="0" smtClean="0"/>
              <a:t>Property #5:</a:t>
            </a:r>
            <a:r>
              <a:rPr lang="en-US" sz="2000" dirty="0" smtClean="0"/>
              <a:t> Every new node must be inserted with RED color.</a:t>
            </a:r>
            <a:endParaRPr lang="en-US" sz="2000" dirty="0" smtClean="0"/>
          </a:p>
          <a:p>
            <a:pPr>
              <a:buNone/>
            </a:pPr>
            <a:r>
              <a:rPr lang="en-US" sz="2000" b="1" dirty="0" smtClean="0"/>
              <a:t>Property #6:</a:t>
            </a:r>
            <a:r>
              <a:rPr lang="en-US" sz="2000" dirty="0" smtClean="0"/>
              <a:t> Every leaf (</a:t>
            </a:r>
            <a:r>
              <a:rPr lang="en-US" sz="2000" dirty="0" err="1" smtClean="0"/>
              <a:t>e.i</a:t>
            </a:r>
            <a:r>
              <a:rPr lang="en-US" sz="2000" dirty="0" smtClean="0"/>
              <a:t>. NULL node) must be colored BLACK</a:t>
            </a:r>
            <a:r>
              <a:rPr lang="en-US" sz="2000" dirty="0" smtClean="0"/>
              <a:t>.</a:t>
            </a:r>
            <a:endParaRPr lang="en-US" sz="2000" dirty="0" smtClean="0"/>
          </a:p>
          <a:p>
            <a:pPr>
              <a:buNone/>
            </a:pPr>
            <a:endParaRPr lang="en-US" sz="2000" dirty="0" smtClean="0"/>
          </a:p>
          <a:p>
            <a:pPr>
              <a:buNone/>
            </a:pPr>
            <a:r>
              <a:rPr lang="en-US" sz="2000" b="1" dirty="0" smtClean="0"/>
              <a:t>Every Red Black Tree is a binary search tree but every Binary Search Tree need not be Red Black tree.</a:t>
            </a:r>
            <a:endParaRPr lang="en-US" sz="2000" dirty="0" smtClean="0"/>
          </a:p>
          <a:p>
            <a:pPr>
              <a:buNone/>
            </a:pPr>
            <a:endParaRPr lang="en-US" sz="2000" dirty="0"/>
          </a:p>
        </p:txBody>
      </p:sp>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6072230"/>
          </a:xfrm>
        </p:spPr>
        <p:txBody>
          <a:bodyPr/>
          <a:lstStyle/>
          <a:p>
            <a:pPr>
              <a:buNone/>
            </a:pPr>
            <a:r>
              <a:rPr lang="en-US" b="1" dirty="0" smtClean="0"/>
              <a:t>Example</a:t>
            </a:r>
            <a:endParaRPr lang="en-US" b="1" dirty="0" smtClean="0"/>
          </a:p>
          <a:p>
            <a:endParaRPr lang="en-US" dirty="0"/>
          </a:p>
        </p:txBody>
      </p:sp>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p:cNvPicPr>
            <a:picLocks noChangeAspect="1" noChangeArrowheads="1"/>
          </p:cNvPicPr>
          <p:nvPr/>
        </p:nvPicPr>
        <p:blipFill>
          <a:blip r:embed="rId1"/>
          <a:srcRect/>
          <a:stretch>
            <a:fillRect/>
          </a:stretch>
        </p:blipFill>
        <p:spPr bwMode="auto">
          <a:xfrm>
            <a:off x="714349" y="1000108"/>
            <a:ext cx="7715304" cy="4929222"/>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457200" y="285728"/>
            <a:ext cx="8229600" cy="6215106"/>
          </a:xfrm>
        </p:spPr>
        <p:txBody>
          <a:bodyPr>
            <a:normAutofit fontScale="70000" lnSpcReduction="20000"/>
          </a:bodyPr>
          <a:lstStyle/>
          <a:p>
            <a:pPr>
              <a:buNone/>
            </a:pPr>
            <a:r>
              <a:rPr lang="en-US" b="1" dirty="0" smtClean="0"/>
              <a:t>Insertion into RED BLACK </a:t>
            </a:r>
            <a:r>
              <a:rPr lang="en-US" b="1" dirty="0" smtClean="0"/>
              <a:t>Tree:</a:t>
            </a:r>
            <a:endParaRPr lang="en-US" b="1" dirty="0" smtClean="0"/>
          </a:p>
          <a:p>
            <a:pPr>
              <a:buNone/>
            </a:pPr>
            <a:r>
              <a:rPr lang="en-US" b="1" dirty="0" smtClean="0"/>
              <a:t>Step 1 - </a:t>
            </a:r>
            <a:r>
              <a:rPr lang="en-US" dirty="0" smtClean="0"/>
              <a:t>Check whether tree is Empty.</a:t>
            </a:r>
            <a:endParaRPr lang="en-US" dirty="0" smtClean="0"/>
          </a:p>
          <a:p>
            <a:pPr>
              <a:buNone/>
            </a:pPr>
            <a:r>
              <a:rPr lang="en-US" b="1" dirty="0" smtClean="0"/>
              <a:t>Step 2 - </a:t>
            </a:r>
            <a:r>
              <a:rPr lang="en-US" dirty="0" smtClean="0"/>
              <a:t>If tree is Empty then insert the </a:t>
            </a:r>
            <a:r>
              <a:rPr lang="en-US" b="1" dirty="0" err="1" smtClean="0"/>
              <a:t>newNode</a:t>
            </a:r>
            <a:r>
              <a:rPr lang="en-US" dirty="0" smtClean="0"/>
              <a:t> as Root node with color </a:t>
            </a:r>
            <a:r>
              <a:rPr lang="en-US" b="1" dirty="0" smtClean="0"/>
              <a:t>Black</a:t>
            </a:r>
            <a:r>
              <a:rPr lang="en-US" dirty="0" smtClean="0"/>
              <a:t> and exit from the operation.</a:t>
            </a:r>
            <a:endParaRPr lang="en-US" dirty="0" smtClean="0"/>
          </a:p>
          <a:p>
            <a:pPr>
              <a:buNone/>
            </a:pPr>
            <a:r>
              <a:rPr lang="en-US" b="1" dirty="0" smtClean="0"/>
              <a:t>Step 3 - </a:t>
            </a:r>
            <a:r>
              <a:rPr lang="en-US" dirty="0" smtClean="0"/>
              <a:t>If tree is not Empty then insert the </a:t>
            </a:r>
            <a:r>
              <a:rPr lang="en-US" dirty="0" err="1" smtClean="0"/>
              <a:t>newNode</a:t>
            </a:r>
            <a:r>
              <a:rPr lang="en-US" dirty="0" smtClean="0"/>
              <a:t> as leaf node with color Red.</a:t>
            </a:r>
            <a:endParaRPr lang="en-US" dirty="0" smtClean="0"/>
          </a:p>
          <a:p>
            <a:pPr>
              <a:buNone/>
            </a:pPr>
            <a:r>
              <a:rPr lang="en-US" b="1" dirty="0" smtClean="0"/>
              <a:t>Step 4 - </a:t>
            </a:r>
            <a:r>
              <a:rPr lang="en-US" dirty="0" smtClean="0"/>
              <a:t>If the parent of </a:t>
            </a:r>
            <a:r>
              <a:rPr lang="en-US" dirty="0" err="1" smtClean="0"/>
              <a:t>newNode</a:t>
            </a:r>
            <a:r>
              <a:rPr lang="en-US" dirty="0" smtClean="0"/>
              <a:t> is Black then exit from the operation.</a:t>
            </a:r>
            <a:endParaRPr lang="en-US" dirty="0" smtClean="0"/>
          </a:p>
          <a:p>
            <a:pPr>
              <a:buNone/>
            </a:pPr>
            <a:r>
              <a:rPr lang="en-US" b="1" dirty="0" smtClean="0"/>
              <a:t>Step 5 - </a:t>
            </a:r>
            <a:r>
              <a:rPr lang="en-US" dirty="0" smtClean="0"/>
              <a:t>If the parent of </a:t>
            </a:r>
            <a:r>
              <a:rPr lang="en-US" dirty="0" err="1" smtClean="0"/>
              <a:t>newNode</a:t>
            </a:r>
            <a:r>
              <a:rPr lang="en-US" dirty="0" smtClean="0"/>
              <a:t> is Red then check the color of </a:t>
            </a:r>
            <a:r>
              <a:rPr lang="en-US" dirty="0" err="1" smtClean="0"/>
              <a:t>parentnode's</a:t>
            </a:r>
            <a:r>
              <a:rPr lang="en-US" dirty="0" smtClean="0"/>
              <a:t> sibling of </a:t>
            </a:r>
            <a:r>
              <a:rPr lang="en-US" dirty="0" err="1" smtClean="0"/>
              <a:t>newNode</a:t>
            </a:r>
            <a:r>
              <a:rPr lang="en-US" dirty="0" smtClean="0"/>
              <a:t>.</a:t>
            </a:r>
            <a:endParaRPr lang="en-US" dirty="0" smtClean="0"/>
          </a:p>
          <a:p>
            <a:pPr>
              <a:buNone/>
            </a:pPr>
            <a:r>
              <a:rPr lang="en-US" b="1" dirty="0" smtClean="0"/>
              <a:t>Step 6 - </a:t>
            </a:r>
            <a:r>
              <a:rPr lang="en-US" dirty="0" smtClean="0"/>
              <a:t>If it is colored Black or NULL then make suitable Rotation and Recolor it.</a:t>
            </a:r>
            <a:endParaRPr lang="en-US" dirty="0" smtClean="0"/>
          </a:p>
          <a:p>
            <a:pPr>
              <a:buNone/>
            </a:pPr>
            <a:r>
              <a:rPr lang="en-US" b="1" dirty="0" smtClean="0"/>
              <a:t>Step 7 - </a:t>
            </a:r>
            <a:r>
              <a:rPr lang="en-US" dirty="0" smtClean="0"/>
              <a:t>If it is colored Red then perform Recolor. Repeat the same until tree becomes Red Black Tree</a:t>
            </a:r>
            <a:r>
              <a:rPr lang="en-US" dirty="0" smtClean="0"/>
              <a:t>.</a:t>
            </a:r>
            <a:endParaRPr lang="en-US" dirty="0" smtClean="0"/>
          </a:p>
          <a:p>
            <a:pPr>
              <a:buNone/>
            </a:pPr>
            <a:r>
              <a:rPr lang="en-US" b="1" dirty="0" smtClean="0"/>
              <a:t>Deletion </a:t>
            </a:r>
            <a:r>
              <a:rPr lang="en-US" b="1" dirty="0" smtClean="0"/>
              <a:t>Operation in Red Black Tree</a:t>
            </a:r>
            <a:endParaRPr lang="en-US" b="1" dirty="0" smtClean="0"/>
          </a:p>
          <a:p>
            <a:r>
              <a:rPr lang="en-US" dirty="0" smtClean="0"/>
              <a:t>The deletion operation in Red-Black Tree is similar to deletion operation in BST. But after every deletion operation, we need to check with the Red-Black Tree properties. If any of the properties are violated then make suitable operations like Recolor, Rotation and Rotation followed by Recolor to make it Red-Black Tree.</a:t>
            </a:r>
            <a:endParaRPr lang="en-US" dirty="0" smtClean="0"/>
          </a:p>
          <a:p>
            <a:pPr>
              <a:buNone/>
            </a:pPr>
            <a:endParaRPr lang="en-US" dirty="0" smtClean="0"/>
          </a:p>
          <a:p>
            <a:pPr>
              <a:buNone/>
            </a:pPr>
            <a:endParaRPr lang="en-US" b="1" dirty="0" smtClean="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p:cNvPicPr>
            <a:picLocks noGrp="1" noChangeAspect="1" noChangeArrowheads="1"/>
          </p:cNvPicPr>
          <p:nvPr>
            <p:ph idx="1"/>
          </p:nvPr>
        </p:nvPicPr>
        <p:blipFill>
          <a:blip r:embed="rId1"/>
          <a:srcRect/>
          <a:stretch>
            <a:fillRect/>
          </a:stretch>
        </p:blipFill>
        <p:spPr bwMode="auto">
          <a:xfrm>
            <a:off x="642910" y="285729"/>
            <a:ext cx="8001056" cy="3571899"/>
          </a:xfrm>
          <a:prstGeom prst="rect">
            <a:avLst/>
          </a:prstGeom>
          <a:noFill/>
          <a:ln w="9525">
            <a:noFill/>
            <a:miter lim="800000"/>
            <a:headEnd/>
            <a:tailEnd/>
          </a:ln>
          <a:effectLst/>
        </p:spPr>
      </p:pic>
      <p:pic>
        <p:nvPicPr>
          <p:cNvPr id="6" name="Picture 2"/>
          <p:cNvPicPr>
            <a:picLocks noChangeAspect="1" noChangeArrowheads="1"/>
          </p:cNvPicPr>
          <p:nvPr/>
        </p:nvPicPr>
        <p:blipFill>
          <a:blip r:embed="rId2"/>
          <a:srcRect/>
          <a:stretch>
            <a:fillRect/>
          </a:stretch>
        </p:blipFill>
        <p:spPr bwMode="auto">
          <a:xfrm>
            <a:off x="1142976" y="3857628"/>
            <a:ext cx="6715172" cy="2428892"/>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7" name="Picture 3"/>
          <p:cNvPicPr>
            <a:picLocks noGrp="1" noChangeAspect="1" noChangeArrowheads="1"/>
          </p:cNvPicPr>
          <p:nvPr>
            <p:ph idx="1"/>
          </p:nvPr>
        </p:nvPicPr>
        <p:blipFill>
          <a:blip r:embed="rId1"/>
          <a:srcRect/>
          <a:stretch>
            <a:fillRect/>
          </a:stretch>
        </p:blipFill>
        <p:spPr bwMode="auto">
          <a:xfrm>
            <a:off x="571500" y="428604"/>
            <a:ext cx="8115300" cy="5500725"/>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0" name="Picture 2"/>
          <p:cNvPicPr>
            <a:picLocks noGrp="1" noChangeAspect="1" noChangeArrowheads="1"/>
          </p:cNvPicPr>
          <p:nvPr>
            <p:ph idx="1"/>
          </p:nvPr>
        </p:nvPicPr>
        <p:blipFill>
          <a:blip r:embed="rId1"/>
          <a:srcRect/>
          <a:stretch>
            <a:fillRect/>
          </a:stretch>
        </p:blipFill>
        <p:spPr bwMode="auto">
          <a:xfrm>
            <a:off x="500034" y="714357"/>
            <a:ext cx="8001056" cy="5072098"/>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3" name="Picture 3"/>
          <p:cNvPicPr>
            <a:picLocks noGrp="1" noChangeAspect="1" noChangeArrowheads="1"/>
          </p:cNvPicPr>
          <p:nvPr>
            <p:ph idx="1"/>
          </p:nvPr>
        </p:nvPicPr>
        <p:blipFill>
          <a:blip r:embed="rId1"/>
          <a:srcRect/>
          <a:stretch>
            <a:fillRect/>
          </a:stretch>
        </p:blipFill>
        <p:spPr bwMode="auto">
          <a:xfrm>
            <a:off x="585787" y="285728"/>
            <a:ext cx="7972425" cy="3000396"/>
          </a:xfrm>
          <a:prstGeom prst="rect">
            <a:avLst/>
          </a:prstGeom>
          <a:noFill/>
          <a:ln w="9525">
            <a:noFill/>
            <a:miter lim="800000"/>
            <a:headEnd/>
            <a:tailEnd/>
          </a:ln>
          <a:effectLst/>
        </p:spPr>
      </p:pic>
      <p:pic>
        <p:nvPicPr>
          <p:cNvPr id="10244" name="Picture 4"/>
          <p:cNvPicPr>
            <a:picLocks noChangeAspect="1" noChangeArrowheads="1"/>
          </p:cNvPicPr>
          <p:nvPr/>
        </p:nvPicPr>
        <p:blipFill>
          <a:blip r:embed="rId2"/>
          <a:srcRect/>
          <a:stretch>
            <a:fillRect/>
          </a:stretch>
        </p:blipFill>
        <p:spPr bwMode="auto">
          <a:xfrm>
            <a:off x="614363" y="3286124"/>
            <a:ext cx="7915275" cy="2571768"/>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14" name="Picture 2"/>
          <p:cNvPicPr>
            <a:picLocks noGrp="1" noChangeAspect="1" noChangeArrowheads="1"/>
          </p:cNvPicPr>
          <p:nvPr>
            <p:ph idx="1"/>
          </p:nvPr>
        </p:nvPicPr>
        <p:blipFill>
          <a:blip r:embed="rId1"/>
          <a:srcRect/>
          <a:stretch>
            <a:fillRect/>
          </a:stretch>
        </p:blipFill>
        <p:spPr bwMode="auto">
          <a:xfrm>
            <a:off x="590550" y="285729"/>
            <a:ext cx="7962900" cy="2714644"/>
          </a:xfrm>
          <a:prstGeom prst="rect">
            <a:avLst/>
          </a:prstGeom>
          <a:noFill/>
          <a:ln w="9525">
            <a:noFill/>
            <a:miter lim="800000"/>
            <a:headEnd/>
            <a:tailEnd/>
          </a:ln>
          <a:effectLst/>
        </p:spPr>
      </p:pic>
      <p:pic>
        <p:nvPicPr>
          <p:cNvPr id="13315" name="Picture 3"/>
          <p:cNvPicPr>
            <a:picLocks noChangeAspect="1" noChangeArrowheads="1"/>
          </p:cNvPicPr>
          <p:nvPr/>
        </p:nvPicPr>
        <p:blipFill>
          <a:blip r:embed="rId2"/>
          <a:srcRect/>
          <a:stretch>
            <a:fillRect/>
          </a:stretch>
        </p:blipFill>
        <p:spPr bwMode="auto">
          <a:xfrm>
            <a:off x="542925" y="3143248"/>
            <a:ext cx="8058150" cy="2428892"/>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285728"/>
            <a:ext cx="8215370" cy="6143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338" name="Picture 2"/>
          <p:cNvPicPr>
            <a:picLocks noGrp="1" noChangeAspect="1" noChangeArrowheads="1"/>
          </p:cNvPicPr>
          <p:nvPr>
            <p:ph idx="1"/>
          </p:nvPr>
        </p:nvPicPr>
        <p:blipFill>
          <a:blip r:embed="rId1"/>
          <a:srcRect/>
          <a:stretch>
            <a:fillRect/>
          </a:stretch>
        </p:blipFill>
        <p:spPr bwMode="auto">
          <a:xfrm>
            <a:off x="714348" y="214290"/>
            <a:ext cx="7891489" cy="1857388"/>
          </a:xfrm>
          <a:prstGeom prst="rect">
            <a:avLst/>
          </a:prstGeom>
          <a:noFill/>
          <a:ln w="9525">
            <a:noFill/>
            <a:miter lim="800000"/>
            <a:headEnd/>
            <a:tailEnd/>
          </a:ln>
          <a:effectLst/>
        </p:spPr>
      </p:pic>
      <p:pic>
        <p:nvPicPr>
          <p:cNvPr id="14341" name="Picture 5"/>
          <p:cNvPicPr>
            <a:picLocks noChangeAspect="1" noChangeArrowheads="1"/>
          </p:cNvPicPr>
          <p:nvPr/>
        </p:nvPicPr>
        <p:blipFill>
          <a:blip r:embed="rId2"/>
          <a:srcRect/>
          <a:stretch>
            <a:fillRect/>
          </a:stretch>
        </p:blipFill>
        <p:spPr bwMode="auto">
          <a:xfrm>
            <a:off x="785787" y="2071679"/>
            <a:ext cx="7572428" cy="1785949"/>
          </a:xfrm>
          <a:prstGeom prst="rect">
            <a:avLst/>
          </a:prstGeom>
          <a:noFill/>
          <a:ln w="9525">
            <a:noFill/>
            <a:miter lim="800000"/>
            <a:headEnd/>
            <a:tailEnd/>
          </a:ln>
          <a:effectLst/>
        </p:spPr>
      </p:pic>
      <p:pic>
        <p:nvPicPr>
          <p:cNvPr id="8" name="Picture 2"/>
          <p:cNvPicPr>
            <a:picLocks noChangeAspect="1" noChangeArrowheads="1"/>
          </p:cNvPicPr>
          <p:nvPr/>
        </p:nvPicPr>
        <p:blipFill>
          <a:blip r:embed="rId3"/>
          <a:srcRect/>
          <a:stretch>
            <a:fillRect/>
          </a:stretch>
        </p:blipFill>
        <p:spPr bwMode="auto">
          <a:xfrm>
            <a:off x="785786" y="3857628"/>
            <a:ext cx="7524750" cy="250033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14468</Words>
  <Application>WPS Presentation</Application>
  <PresentationFormat>On-screen Show (4:3)</PresentationFormat>
  <Paragraphs>276</Paragraphs>
  <Slides>35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35</vt:i4>
      </vt:variant>
    </vt:vector>
  </HeadingPairs>
  <TitlesOfParts>
    <vt:vector size="42" baseType="lpstr">
      <vt:lpstr>Arial</vt:lpstr>
      <vt:lpstr>SimSun</vt:lpstr>
      <vt:lpstr>Wingdings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KMCE CSE HOD</dc:creator>
  <cp:lastModifiedBy>KMCE CSE HOD</cp:lastModifiedBy>
  <cp:revision>18</cp:revision>
  <dcterms:created xsi:type="dcterms:W3CDTF">2024-11-21T04:52:00Z</dcterms:created>
  <dcterms:modified xsi:type="dcterms:W3CDTF">2024-12-11T05:40:47Z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F0991A5DA695431D91EFEEA0BBDDAE2D_13</vt:lpwstr>
  </property>
  <property fmtid="{D5CDD505-2E9C-101B-9397-08002B2CF9AE}" pid="3" name="KSOProductBuildVer">
    <vt:lpwstr>2057-12.2.0.19307</vt:lpwstr>
  </property>
</Properties>
</file>