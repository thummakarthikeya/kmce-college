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DAC60-6E3A-4946-ACA6-AD24B8E77DB3}" type="datetimeFigureOut">
              <a:rPr lang="en-US" smtClean="0"/>
              <a:t>13-Dec-24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8BA7C-A487-4AD6-BAA2-F94621F475B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07223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B - Tree </a:t>
            </a:r>
            <a:r>
              <a:rPr lang="en-US" b="1" dirty="0" err="1" smtClean="0"/>
              <a:t>Datastructure</a:t>
            </a:r>
            <a:r>
              <a:rPr lang="en-US" b="1" dirty="0" smtClean="0"/>
              <a:t>:</a:t>
            </a:r>
          </a:p>
          <a:p>
            <a:r>
              <a:rPr lang="en-US" b="1" dirty="0" smtClean="0"/>
              <a:t>B-Tree is a self-balanced search tree in which every node contains multiple keys and has more than two children.</a:t>
            </a:r>
          </a:p>
          <a:p>
            <a:r>
              <a:rPr lang="en-US" dirty="0" smtClean="0"/>
              <a:t> B-Tree was developed in the year 1972 by </a:t>
            </a:r>
            <a:r>
              <a:rPr lang="en-US" b="1" dirty="0" smtClean="0"/>
              <a:t>Bayer and </a:t>
            </a:r>
            <a:r>
              <a:rPr lang="en-US" b="1" dirty="0" err="1" smtClean="0"/>
              <a:t>McCreight</a:t>
            </a:r>
            <a:r>
              <a:rPr lang="en-US" dirty="0" smtClean="0"/>
              <a:t> with the name </a:t>
            </a:r>
            <a:r>
              <a:rPr lang="en-US" b="1" i="1" dirty="0" smtClean="0"/>
              <a:t>Height Balanced m-way Search Tree</a:t>
            </a:r>
            <a:r>
              <a:rPr lang="en-US" dirty="0" smtClean="0"/>
              <a:t>. Later it was named as B-Tree.</a:t>
            </a:r>
          </a:p>
          <a:p>
            <a:pPr>
              <a:buNone/>
            </a:pPr>
            <a:r>
              <a:rPr lang="en-US" b="1" dirty="0" smtClean="0"/>
              <a:t>B-Tree of Order m has the following properties...</a:t>
            </a:r>
          </a:p>
          <a:p>
            <a:pPr>
              <a:buNone/>
            </a:pPr>
            <a:r>
              <a:rPr lang="en-US" b="1" dirty="0" smtClean="0"/>
              <a:t>Property #1</a:t>
            </a:r>
            <a:r>
              <a:rPr lang="en-US" dirty="0" smtClean="0"/>
              <a:t> - All </a:t>
            </a:r>
            <a:r>
              <a:rPr lang="en-US" b="1" dirty="0" smtClean="0"/>
              <a:t>leaf nodes</a:t>
            </a:r>
            <a:r>
              <a:rPr lang="en-US" dirty="0" smtClean="0"/>
              <a:t> must be </a:t>
            </a:r>
            <a:r>
              <a:rPr lang="en-US" b="1" dirty="0" smtClean="0"/>
              <a:t>at same level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Property #2</a:t>
            </a:r>
            <a:r>
              <a:rPr lang="en-US" dirty="0" smtClean="0"/>
              <a:t> - All nodes except root must have at least </a:t>
            </a:r>
            <a:r>
              <a:rPr lang="en-US" b="1" dirty="0" smtClean="0"/>
              <a:t>[m/2]-1</a:t>
            </a:r>
            <a:r>
              <a:rPr lang="en-US" dirty="0" smtClean="0"/>
              <a:t> keys and maximum of </a:t>
            </a:r>
            <a:r>
              <a:rPr lang="en-US" b="1" dirty="0" smtClean="0"/>
              <a:t>m-1</a:t>
            </a:r>
            <a:r>
              <a:rPr lang="en-US" dirty="0" smtClean="0"/>
              <a:t> keys.</a:t>
            </a:r>
          </a:p>
          <a:p>
            <a:pPr>
              <a:buNone/>
            </a:pPr>
            <a:r>
              <a:rPr lang="en-US" b="1" dirty="0" smtClean="0"/>
              <a:t>Property #3</a:t>
            </a:r>
            <a:r>
              <a:rPr lang="en-US" dirty="0" smtClean="0"/>
              <a:t> - All non leaf nodes except root (i.e. all internal nodes) must have at least </a:t>
            </a:r>
            <a:r>
              <a:rPr lang="en-US" b="1" dirty="0" smtClean="0"/>
              <a:t>m/2</a:t>
            </a:r>
            <a:r>
              <a:rPr lang="en-US" dirty="0" smtClean="0"/>
              <a:t> children.</a:t>
            </a:r>
          </a:p>
          <a:p>
            <a:pPr>
              <a:buNone/>
            </a:pPr>
            <a:r>
              <a:rPr lang="en-US" b="1" dirty="0" smtClean="0"/>
              <a:t>Property #4</a:t>
            </a:r>
            <a:r>
              <a:rPr lang="en-US" dirty="0" smtClean="0"/>
              <a:t> - If the root node is a non leaf node, then it must have </a:t>
            </a:r>
            <a:r>
              <a:rPr lang="en-US" b="1" dirty="0" err="1" smtClean="0"/>
              <a:t>atleast</a:t>
            </a:r>
            <a:r>
              <a:rPr lang="en-US" b="1" dirty="0" smtClean="0"/>
              <a:t> 2</a:t>
            </a:r>
            <a:r>
              <a:rPr lang="en-US" dirty="0" smtClean="0"/>
              <a:t> children.</a:t>
            </a:r>
          </a:p>
          <a:p>
            <a:pPr>
              <a:buNone/>
            </a:pPr>
            <a:r>
              <a:rPr lang="en-US" b="1" dirty="0" smtClean="0"/>
              <a:t>Property #5</a:t>
            </a:r>
            <a:r>
              <a:rPr lang="en-US" dirty="0" smtClean="0"/>
              <a:t> - A non leaf node with </a:t>
            </a:r>
            <a:r>
              <a:rPr lang="en-US" b="1" dirty="0" smtClean="0"/>
              <a:t>n-1</a:t>
            </a:r>
            <a:r>
              <a:rPr lang="en-US" dirty="0" smtClean="0"/>
              <a:t> keys must have </a:t>
            </a:r>
            <a:r>
              <a:rPr lang="en-US" b="1" dirty="0" smtClean="0"/>
              <a:t>n</a:t>
            </a:r>
            <a:r>
              <a:rPr lang="en-US" dirty="0" smtClean="0"/>
              <a:t> number of children.</a:t>
            </a:r>
          </a:p>
          <a:p>
            <a:pPr>
              <a:buNone/>
            </a:pPr>
            <a:r>
              <a:rPr lang="en-US" b="1" dirty="0" smtClean="0"/>
              <a:t>Property #6</a:t>
            </a:r>
            <a:r>
              <a:rPr lang="en-US" dirty="0" smtClean="0"/>
              <a:t> - All the </a:t>
            </a:r>
            <a:r>
              <a:rPr lang="en-US" b="1" dirty="0" smtClean="0"/>
              <a:t>key values in a node</a:t>
            </a:r>
            <a:r>
              <a:rPr lang="en-US" dirty="0" smtClean="0"/>
              <a:t> must be in </a:t>
            </a:r>
            <a:r>
              <a:rPr lang="en-US" b="1" dirty="0" smtClean="0"/>
              <a:t>Ascending Order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For example, B-Tree of Order 4 contains a maximum of 3 key values in a node and maximum of 4 children for a node.</a:t>
            </a:r>
          </a:p>
          <a:p>
            <a:pPr>
              <a:buNone/>
            </a:pPr>
            <a:endParaRPr lang="en-US" b="1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607223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1800" dirty="0" smtClean="0"/>
              <a:t>EXAMPLE: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Operations on a B-Tree</a:t>
            </a:r>
          </a:p>
          <a:p>
            <a:pPr>
              <a:buNone/>
            </a:pPr>
            <a:r>
              <a:rPr lang="en-US" dirty="0" smtClean="0"/>
              <a:t>The following operations are performed on a B-Tree...</a:t>
            </a:r>
          </a:p>
          <a:p>
            <a:r>
              <a:rPr lang="en-US" b="1" dirty="0" smtClean="0"/>
              <a:t>Search</a:t>
            </a:r>
          </a:p>
          <a:p>
            <a:r>
              <a:rPr lang="en-US" b="1" dirty="0" smtClean="0"/>
              <a:t>Insertion</a:t>
            </a:r>
          </a:p>
          <a:p>
            <a:r>
              <a:rPr lang="en-US" b="1" dirty="0" smtClean="0"/>
              <a:t>Deletion</a:t>
            </a:r>
          </a:p>
          <a:p>
            <a:pPr>
              <a:buNone/>
            </a:pPr>
            <a:r>
              <a:rPr lang="en-US" b="1" dirty="0" smtClean="0"/>
              <a:t>Search Operation in B-Tree</a:t>
            </a:r>
          </a:p>
          <a:p>
            <a:pPr>
              <a:buNone/>
            </a:pPr>
            <a:r>
              <a:rPr lang="en-US" dirty="0" smtClean="0"/>
              <a:t>The search operation in B-Tree is similar to the search operation in Binary Search Tree. In a Binary search tree, the search process starts from the root node and we make a 2-way decision every time (we go to either left </a:t>
            </a:r>
            <a:r>
              <a:rPr lang="en-US" dirty="0" err="1" smtClean="0"/>
              <a:t>subtree</a:t>
            </a:r>
            <a:r>
              <a:rPr lang="en-US" dirty="0" smtClean="0"/>
              <a:t> or right </a:t>
            </a:r>
            <a:r>
              <a:rPr lang="en-US" dirty="0" err="1" smtClean="0"/>
              <a:t>subtree</a:t>
            </a:r>
            <a:r>
              <a:rPr lang="en-US" dirty="0" smtClean="0"/>
              <a:t>). </a:t>
            </a:r>
          </a:p>
          <a:p>
            <a:pPr>
              <a:buNone/>
            </a:pPr>
            <a:r>
              <a:rPr lang="en-US" dirty="0" smtClean="0"/>
              <a:t>In B-Tree also search process starts from the root node but here we make an n-way decision every time. Where 'n' is the total number of children the node has. In a B-Tree, the search operation is performed with </a:t>
            </a:r>
            <a:r>
              <a:rPr lang="en-US" b="1" dirty="0" smtClean="0"/>
              <a:t>O(log n)</a:t>
            </a:r>
            <a:r>
              <a:rPr lang="en-US" dirty="0" smtClean="0"/>
              <a:t> time complexity. The search operation is performed as follows...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357166"/>
            <a:ext cx="6643734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00079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sz="2600" b="1" dirty="0" smtClean="0"/>
          </a:p>
          <a:p>
            <a:pPr>
              <a:buNone/>
            </a:pPr>
            <a:r>
              <a:rPr lang="en-US" sz="2400" b="1" dirty="0" smtClean="0"/>
              <a:t>Search Operation in B-Tree</a:t>
            </a:r>
          </a:p>
          <a:p>
            <a:pPr>
              <a:buNone/>
            </a:pPr>
            <a:endParaRPr lang="en-US" sz="2600" b="1" dirty="0" smtClean="0"/>
          </a:p>
          <a:p>
            <a:pPr>
              <a:buNone/>
            </a:pPr>
            <a:r>
              <a:rPr lang="en-US" sz="2600" b="1" dirty="0" smtClean="0"/>
              <a:t>Step 1 - </a:t>
            </a:r>
            <a:r>
              <a:rPr lang="en-US" sz="2600" dirty="0" smtClean="0"/>
              <a:t>Read the search element from the user.</a:t>
            </a:r>
          </a:p>
          <a:p>
            <a:pPr>
              <a:buNone/>
            </a:pPr>
            <a:r>
              <a:rPr lang="en-US" sz="2600" b="1" dirty="0" smtClean="0"/>
              <a:t>Step 2 - </a:t>
            </a:r>
            <a:r>
              <a:rPr lang="en-US" sz="2600" dirty="0" smtClean="0"/>
              <a:t>Compare the search element with first key value of root node in the tree.</a:t>
            </a:r>
          </a:p>
          <a:p>
            <a:pPr>
              <a:buNone/>
            </a:pPr>
            <a:r>
              <a:rPr lang="en-US" sz="2600" b="1" dirty="0" smtClean="0"/>
              <a:t>Step 3 - </a:t>
            </a:r>
            <a:r>
              <a:rPr lang="en-US" sz="2600" dirty="0" smtClean="0"/>
              <a:t>If both are matched, then display "Given node is found!!!" and terminate the function</a:t>
            </a:r>
          </a:p>
          <a:p>
            <a:pPr>
              <a:buNone/>
            </a:pPr>
            <a:r>
              <a:rPr lang="en-US" sz="2600" b="1" dirty="0" smtClean="0"/>
              <a:t>Step 4 - </a:t>
            </a:r>
            <a:r>
              <a:rPr lang="en-US" sz="2600" dirty="0" smtClean="0"/>
              <a:t>If both are not matched, then check whether search element is smaller or larger than that key value.</a:t>
            </a:r>
          </a:p>
          <a:p>
            <a:pPr>
              <a:buNone/>
            </a:pPr>
            <a:r>
              <a:rPr lang="en-US" sz="2600" b="1" dirty="0" smtClean="0"/>
              <a:t>Step 5 - </a:t>
            </a:r>
            <a:r>
              <a:rPr lang="en-US" sz="2600" dirty="0" smtClean="0"/>
              <a:t>If search element is smaller, then continue the search process in left </a:t>
            </a:r>
            <a:r>
              <a:rPr lang="en-US" sz="2600" dirty="0" err="1" smtClean="0"/>
              <a:t>subtree</a:t>
            </a:r>
            <a:r>
              <a:rPr lang="en-US" sz="2600" dirty="0" smtClean="0"/>
              <a:t>.</a:t>
            </a:r>
          </a:p>
          <a:p>
            <a:pPr>
              <a:buNone/>
            </a:pPr>
            <a:r>
              <a:rPr lang="en-US" sz="2600" b="1" dirty="0" smtClean="0"/>
              <a:t>Step 6 - </a:t>
            </a:r>
            <a:r>
              <a:rPr lang="en-US" sz="2600" dirty="0" smtClean="0"/>
              <a:t>If search element is larger, then compare the search element with next key value in the same node and </a:t>
            </a:r>
            <a:r>
              <a:rPr lang="en-US" sz="2600" dirty="0" err="1" smtClean="0"/>
              <a:t>repeate</a:t>
            </a:r>
            <a:r>
              <a:rPr lang="en-US" sz="2600" dirty="0" smtClean="0"/>
              <a:t> steps 3, 4, 5 and 6 until we find the exact match or until the search element is compared with last key value in the leaf node.</a:t>
            </a:r>
          </a:p>
          <a:p>
            <a:pPr>
              <a:buNone/>
            </a:pPr>
            <a:r>
              <a:rPr lang="en-US" sz="2600" b="1" dirty="0" smtClean="0"/>
              <a:t>Step 7 - </a:t>
            </a:r>
            <a:r>
              <a:rPr lang="en-US" sz="2600" dirty="0" smtClean="0"/>
              <a:t>If the last key value in the leaf node is also not matched then display "Element is not found" and terminate the function.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07223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Insertion Operation in B-Tree</a:t>
            </a:r>
          </a:p>
          <a:p>
            <a:pPr>
              <a:buNone/>
            </a:pPr>
            <a:r>
              <a:rPr lang="en-US" dirty="0" smtClean="0"/>
              <a:t>In a B-Tree, a new element must be added only at the leaf node. That means, the new </a:t>
            </a:r>
            <a:r>
              <a:rPr lang="en-US" dirty="0" err="1" smtClean="0"/>
              <a:t>keyValue</a:t>
            </a:r>
            <a:r>
              <a:rPr lang="en-US" dirty="0" smtClean="0"/>
              <a:t> is always attached to the leaf node only. The insertion operation is performed as follows...</a:t>
            </a:r>
          </a:p>
          <a:p>
            <a:pPr>
              <a:buNone/>
            </a:pPr>
            <a:r>
              <a:rPr lang="en-US" b="1" dirty="0" smtClean="0"/>
              <a:t>Step 1 - </a:t>
            </a:r>
            <a:r>
              <a:rPr lang="en-US" dirty="0" smtClean="0"/>
              <a:t>Check whether tree is Empty.</a:t>
            </a:r>
          </a:p>
          <a:p>
            <a:pPr>
              <a:buNone/>
            </a:pPr>
            <a:r>
              <a:rPr lang="en-US" b="1" dirty="0" smtClean="0"/>
              <a:t>Step 2 - </a:t>
            </a:r>
            <a:r>
              <a:rPr lang="en-US" dirty="0" smtClean="0"/>
              <a:t>If tree is </a:t>
            </a:r>
            <a:r>
              <a:rPr lang="en-US" b="1" dirty="0" smtClean="0"/>
              <a:t>Empty</a:t>
            </a:r>
            <a:r>
              <a:rPr lang="en-US" dirty="0" smtClean="0"/>
              <a:t>, then create a new node with new key value and insert it into the tree as a root node.</a:t>
            </a:r>
          </a:p>
          <a:p>
            <a:pPr>
              <a:buNone/>
            </a:pPr>
            <a:r>
              <a:rPr lang="en-US" b="1" dirty="0" smtClean="0"/>
              <a:t>Step 3 - </a:t>
            </a:r>
            <a:r>
              <a:rPr lang="en-US" dirty="0" smtClean="0"/>
              <a:t>If tree is </a:t>
            </a:r>
            <a:r>
              <a:rPr lang="en-US" b="1" dirty="0" smtClean="0"/>
              <a:t>Not Empty</a:t>
            </a:r>
            <a:r>
              <a:rPr lang="en-US" dirty="0" smtClean="0"/>
              <a:t>, then find the suitable leaf node to which the new key value is added using Binary Search Tree logic.</a:t>
            </a:r>
          </a:p>
          <a:p>
            <a:pPr>
              <a:buNone/>
            </a:pPr>
            <a:r>
              <a:rPr lang="en-US" b="1" dirty="0" smtClean="0"/>
              <a:t>Step 4 - </a:t>
            </a:r>
            <a:r>
              <a:rPr lang="en-US" dirty="0" smtClean="0"/>
              <a:t>If that leaf node has empty position, add the new key value to that leaf node in ascending order of key value within the node.</a:t>
            </a:r>
          </a:p>
          <a:p>
            <a:pPr>
              <a:buNone/>
            </a:pPr>
            <a:r>
              <a:rPr lang="en-US" b="1" dirty="0" smtClean="0"/>
              <a:t>Step 5 - </a:t>
            </a:r>
            <a:r>
              <a:rPr lang="en-US" dirty="0" smtClean="0"/>
              <a:t>If that leaf node is already full, </a:t>
            </a:r>
            <a:r>
              <a:rPr lang="en-US" b="1" dirty="0" smtClean="0"/>
              <a:t>split</a:t>
            </a:r>
            <a:r>
              <a:rPr lang="en-US" dirty="0" smtClean="0"/>
              <a:t> that leaf node by sending middle value to its parent node. Repeat the same until the sending value is fixed into a node.</a:t>
            </a:r>
          </a:p>
          <a:p>
            <a:pPr>
              <a:buNone/>
            </a:pPr>
            <a:r>
              <a:rPr lang="en-US" b="1" dirty="0" smtClean="0"/>
              <a:t>Step 6 - </a:t>
            </a:r>
            <a:r>
              <a:rPr lang="en-US" dirty="0" smtClean="0"/>
              <a:t>If the </a:t>
            </a:r>
            <a:r>
              <a:rPr lang="en-US" dirty="0" err="1" smtClean="0"/>
              <a:t>spilting</a:t>
            </a:r>
            <a:r>
              <a:rPr lang="en-US" dirty="0" smtClean="0"/>
              <a:t> is performed at root node then the middle value becomes new root node for the tree and the height of the tree is increased by one.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072230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/>
              <a:t>Example</a:t>
            </a:r>
          </a:p>
          <a:p>
            <a:pPr>
              <a:buNone/>
            </a:pPr>
            <a:r>
              <a:rPr lang="en-US" sz="2000" dirty="0" smtClean="0"/>
              <a:t>Construct a </a:t>
            </a:r>
            <a:r>
              <a:rPr lang="en-US" sz="2000" b="1" dirty="0" smtClean="0"/>
              <a:t>B-Tree of Order 3</a:t>
            </a:r>
            <a:r>
              <a:rPr lang="en-US" sz="2000" dirty="0" smtClean="0"/>
              <a:t> by inserting numbers from 1 to 10.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214422"/>
            <a:ext cx="7643866" cy="4714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57166"/>
            <a:ext cx="7000924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0722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285729"/>
            <a:ext cx="7929619" cy="5595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0075" y="285728"/>
            <a:ext cx="794385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286256"/>
            <a:ext cx="6029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0034" y="285728"/>
            <a:ext cx="8215370" cy="6143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714357"/>
            <a:ext cx="7143800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UNIVERSEE</dc:creator>
  <cp:lastModifiedBy>UNIVERSEE</cp:lastModifiedBy>
  <cp:revision>1</cp:revision>
  <dcterms:created xsi:type="dcterms:W3CDTF">2024-12-13T09:34:29Z</dcterms:created>
  <dcterms:modified xsi:type="dcterms:W3CDTF">2024-12-13T09:34:50Z</dcterms:modified>
</cp:coreProperties>
</file>