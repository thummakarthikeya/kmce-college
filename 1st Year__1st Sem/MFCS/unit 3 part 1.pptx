
<file path=[Content_Types].xml><?xml version="1.0" encoding="utf-8"?>
<Types xmlns="http://schemas.openxmlformats.org/package/2006/content-types">
  <Default ContentType="image/x-wmf" Extension="wmf"/>
  <Default ContentType="application/xml" Extension="xml"/>
  <Default ContentType="image/png" Extension="png"/>
  <Default ContentType="image/jpeg" Extension="jpeg"/>
  <Default ContentType="audio/wav" Extension="wav"/>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tags+xml" PartName="/ppt/tags/tag13.xml"/>
  <Override ContentType="application/vnd.openxmlformats-officedocument.presentationml.tags+xml" PartName="/ppt/tags/tag64.xml"/>
  <Override ContentType="application/vnd.openxmlformats-officedocument.presentationml.tags+xml" PartName="/ppt/tags/tag39.xml"/>
  <Override ContentType="application/vnd.openxmlformats-officedocument.presentationml.tags+xml" PartName="/ppt/tags/tag21.xml"/>
  <Override ContentType="application/vnd.openxmlformats-officedocument.presentationml.tags+xml" PartName="/ppt/tags/tag4.xml"/>
  <Override ContentType="application/vnd.openxmlformats-officedocument.presentationml.tags+xml" PartName="/ppt/tags/tag30.xml"/>
  <Override ContentType="application/vnd.openxmlformats-officedocument.presentationml.tags+xml" PartName="/ppt/tags/tag65.xml"/>
  <Override ContentType="application/vnd.openxmlformats-officedocument.presentationml.tags+xml" PartName="/ppt/tags/tag47.xml"/>
  <Override ContentType="application/vnd.openxmlformats-officedocument.presentationml.tags+xml" PartName="/ppt/tags/tag56.xml"/>
  <Override ContentType="application/vnd.openxmlformats-officedocument.presentationml.tags+xml" PartName="/ppt/tags/tag63.xml"/>
  <Override ContentType="application/vnd.openxmlformats-officedocument.presentationml.tags+xml" PartName="/ppt/tags/tag38.xml"/>
  <Override ContentType="application/vnd.openxmlformats-officedocument.presentationml.tags+xml" PartName="/ppt/tags/tag20.xml"/>
  <Override ContentType="application/vnd.openxmlformats-officedocument.presentationml.tags+xml" PartName="/ppt/tags/tag5.xml"/>
  <Override ContentType="application/vnd.openxmlformats-officedocument.presentationml.tags+xml" PartName="/ppt/tags/tag29.xml"/>
  <Override ContentType="application/vnd.openxmlformats-officedocument.presentationml.tags+xml" PartName="/ppt/tags/tag12.xml"/>
  <Override ContentType="application/vnd.openxmlformats-officedocument.presentationml.tags+xml" PartName="/ppt/tags/tag55.xml"/>
  <Override ContentType="application/vnd.openxmlformats-officedocument.presentationml.tags+xml" PartName="/ppt/tags/tag46.xml"/>
  <Override ContentType="application/vnd.openxmlformats-officedocument.presentationml.tags+xml" PartName="/ppt/tags/tag2.xml"/>
  <Override ContentType="application/vnd.openxmlformats-officedocument.presentationml.tags+xml" PartName="/ppt/tags/tag70.xml"/>
  <Override ContentType="application/vnd.openxmlformats-officedocument.presentationml.tags+xml" PartName="/ppt/tags/tag10.xml"/>
  <Override ContentType="application/vnd.openxmlformats-officedocument.presentationml.tags+xml" PartName="/ppt/tags/tag24.xml"/>
  <Override ContentType="application/vnd.openxmlformats-officedocument.presentationml.tags+xml" PartName="/ppt/tags/tag23.xml"/>
  <Override ContentType="application/vnd.openxmlformats-officedocument.presentationml.tags+xml" PartName="/ppt/tags/tag37.xml"/>
  <Override ContentType="application/vnd.openxmlformats-officedocument.presentationml.tags+xml" PartName="/ppt/tags/tag11.xml"/>
  <Override ContentType="application/vnd.openxmlformats-officedocument.presentationml.tags+xml" PartName="/ppt/tags/tag54.xml"/>
  <Override ContentType="application/vnd.openxmlformats-officedocument.presentationml.tags+xml" PartName="/ppt/tags/tag71.xml"/>
  <Override ContentType="application/vnd.openxmlformats-officedocument.presentationml.tags+xml" PartName="/ppt/tags/tag67.xml"/>
  <Override ContentType="application/vnd.openxmlformats-officedocument.presentationml.tags+xml" PartName="/ppt/tags/tag41.xml"/>
  <Override ContentType="application/vnd.openxmlformats-officedocument.presentationml.tags+xml" PartName="/ppt/tags/tag19.xml"/>
  <Override ContentType="application/vnd.openxmlformats-officedocument.presentationml.tags+xml" PartName="/ppt/tags/tag52.xml"/>
  <Override ContentType="application/vnd.openxmlformats-officedocument.presentationml.tags+xml" PartName="/ppt/tags/tag22.xml"/>
  <Override ContentType="application/vnd.openxmlformats-officedocument.presentationml.tags+xml" PartName="/ppt/tags/tag49.xml"/>
  <Override ContentType="application/vnd.openxmlformats-officedocument.presentationml.tags+xml" PartName="/ppt/tags/tag3.xml"/>
  <Override ContentType="application/vnd.openxmlformats-officedocument.presentationml.tags+xml" PartName="/ppt/tags/tag36.xml"/>
  <Override ContentType="application/vnd.openxmlformats-officedocument.presentationml.tags+xml" PartName="/ppt/tags/tag35.xml"/>
  <Override ContentType="application/vnd.openxmlformats-officedocument.presentationml.tags+xml" PartName="/ppt/tags/tag53.xml"/>
  <Override ContentType="application/vnd.openxmlformats-officedocument.presentationml.tags+xml" PartName="/ppt/tags/tag48.xml"/>
  <Override ContentType="application/vnd.openxmlformats-officedocument.presentationml.tags+xml" PartName="/ppt/tags/tag66.xml"/>
  <Override ContentType="application/vnd.openxmlformats-officedocument.presentationml.tags+xml" PartName="/ppt/tags/tag18.xml"/>
  <Override ContentType="application/vnd.openxmlformats-officedocument.presentationml.tags+xml" PartName="/ppt/tags/tag40.xml"/>
  <Override ContentType="application/vnd.openxmlformats-officedocument.presentationml.tags+xml" PartName="/ppt/tags/tag26.xml"/>
  <Override ContentType="application/vnd.openxmlformats-officedocument.presentationml.tags+xml" PartName="/ppt/tags/tag51.xml"/>
  <Override ContentType="application/vnd.openxmlformats-officedocument.presentationml.tags+xml" PartName="/ppt/tags/tag69.xml"/>
  <Override ContentType="application/vnd.openxmlformats-officedocument.presentationml.tags+xml" PartName="/ppt/tags/tag9.xml"/>
  <Override ContentType="application/vnd.openxmlformats-officedocument.presentationml.tags+xml" PartName="/ppt/tags/tag34.xml"/>
  <Override ContentType="application/vnd.openxmlformats-officedocument.presentationml.tags+xml" PartName="/ppt/tags/tag60.xml"/>
  <Override ContentType="application/vnd.openxmlformats-officedocument.presentationml.tags+xml" PartName="/ppt/tags/tag43.xml"/>
  <Override ContentType="application/vnd.openxmlformats-officedocument.presentationml.tags+xml" PartName="/ppt/tags/tag17.xml"/>
  <Override ContentType="application/vnd.openxmlformats-officedocument.presentationml.tags+xml" PartName="/ppt/tags/tag8.xml"/>
  <Override ContentType="application/vnd.openxmlformats-officedocument.presentationml.tags+xml" PartName="/ppt/tags/tag68.xml"/>
  <Override ContentType="application/vnd.openxmlformats-officedocument.presentationml.tags+xml" PartName="/ppt/tags/tag33.xml"/>
  <Override ContentType="application/vnd.openxmlformats-officedocument.presentationml.tags+xml" PartName="/ppt/tags/tag25.xml"/>
  <Override ContentType="application/vnd.openxmlformats-officedocument.presentationml.tags+xml" PartName="/ppt/tags/tag50.xml"/>
  <Override ContentType="application/vnd.openxmlformats-officedocument.presentationml.tags+xml" PartName="/ppt/tags/tag59.xml"/>
  <Override ContentType="application/vnd.openxmlformats-officedocument.presentationml.tags+xml" PartName="/ppt/tags/tag16.xml"/>
  <Override ContentType="application/vnd.openxmlformats-officedocument.presentationml.tags+xml" PartName="/ppt/tags/tag42.xml"/>
  <Override ContentType="application/vnd.openxmlformats-officedocument.presentationml.tags+xml" PartName="/ppt/tags/tag45.xml"/>
  <Override ContentType="application/vnd.openxmlformats-officedocument.presentationml.tags+xml" PartName="/ppt/tags/tag32.xml"/>
  <Override ContentType="application/vnd.openxmlformats-officedocument.presentationml.tags+xml" PartName="/ppt/tags/tag7.xml"/>
  <Override ContentType="application/vnd.openxmlformats-officedocument.presentationml.tags+xml" PartName="/ppt/tags/tag62.xml"/>
  <Override ContentType="application/vnd.openxmlformats-officedocument.presentationml.tags+xml" PartName="/ppt/tags/tag28.xml"/>
  <Override ContentType="application/vnd.openxmlformats-officedocument.presentationml.tags+xml" PartName="/ppt/tags/tag58.xml"/>
  <Override ContentType="application/vnd.openxmlformats-officedocument.presentationml.tags+xml" PartName="/ppt/tags/tag15.xml"/>
  <Override ContentType="application/vnd.openxmlformats-officedocument.presentationml.tags+xml" PartName="/ppt/tags/tag14.xml"/>
  <Override ContentType="application/vnd.openxmlformats-officedocument.presentationml.tags+xml" PartName="/ppt/tags/tag44.xml"/>
  <Override ContentType="application/vnd.openxmlformats-officedocument.presentationml.tags+xml" PartName="/ppt/tags/tag27.xml"/>
  <Override ContentType="application/vnd.openxmlformats-officedocument.presentationml.tags+xml" PartName="/ppt/tags/tag6.xml"/>
  <Override ContentType="application/vnd.openxmlformats-officedocument.presentationml.tags+xml" PartName="/ppt/tags/tag61.xml"/>
  <Override ContentType="application/vnd.openxmlformats-officedocument.presentationml.tags+xml" PartName="/ppt/tags/tag31.xml"/>
  <Override ContentType="application/vnd.openxmlformats-officedocument.presentationml.tags+xml" PartName="/ppt/tags/tag57.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Lst>
  <p:sldSz cy="6858000" cx="9144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schemas.openxmlformats.org/officeDocument/2006/relationships/slide" Target="slides/slide78.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D0618E-1193-4D7D-8DDC-CC55F7CAEA60}" type="datetimeFigureOut">
              <a:rPr lang="en-US" smtClean="0"/>
              <a:pPr/>
              <a:t>10/21/2020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52DEFD-3730-4175-8706-350099C5F1D2}" type="slidenum">
              <a:rPr lang="en-US" smtClean="0"/>
              <a:pPr/>
              <a:t>‹#›</a:t>
            </a:fld>
            <a:endParaRPr lang="en-US"/>
          </a:p>
        </p:txBody>
      </p:sp>
    </p:spTree>
    <p:extLst>
      <p:ext uri="{BB962C8B-B14F-4D97-AF65-F5344CB8AC3E}">
        <p14:creationId xmlns:p14="http://schemas.microsoft.com/office/powerpoint/2010/main" val="3192669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652DEFD-3730-4175-8706-350099C5F1D2}" type="slidenum">
              <a:rPr lang="en-US" smtClean="0"/>
              <a:pPr/>
              <a:t>64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CA217EF-0505-4C33-BB20-8A8DF203902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10/21/2020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D15220D-0BB5-4C71-B862-812B075D02FE}" type="datetimeFigureOut">
              <a:rPr lang="en-US" smtClean="0"/>
              <a:pPr/>
              <a:t>10/21/2020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CA217EF-0505-4C33-BB20-8A8DF203902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audio" Target="../media/audio1.wav"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4.wmf"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2.xml" /><Relationship Id="rId4" Type="http://schemas.openxmlformats.org/officeDocument/2006/relationships/image" Target="../media/image8.jpeg"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slideLayout" Target="../slideLayouts/slideLayout2.xml" /><Relationship Id="rId1" Type="http://schemas.openxmlformats.org/officeDocument/2006/relationships/tags" Target="../tags/tag2.xml" /></Relationships>
</file>

<file path=ppt/slides/_rels/slide33.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4.xml" /><Relationship Id="rId1" Type="http://schemas.openxmlformats.org/officeDocument/2006/relationships/tags" Target="../tags/tag3.xml" /><Relationship Id="rId5" Type="http://schemas.openxmlformats.org/officeDocument/2006/relationships/image" Target="../media/image12.png" /><Relationship Id="rId4" Type="http://schemas.openxmlformats.org/officeDocument/2006/relationships/image" Target="../media/image11.png" /></Relationships>
</file>

<file path=ppt/slides/_rels/slide35.xml.rels><?xml version="1.0" encoding="UTF-8" standalone="yes"?>
<Relationships xmlns="http://schemas.openxmlformats.org/package/2006/relationships"><Relationship Id="rId8" Type="http://schemas.openxmlformats.org/officeDocument/2006/relationships/image" Target="../media/image14.png" /><Relationship Id="rId3" Type="http://schemas.openxmlformats.org/officeDocument/2006/relationships/tags" Target="../tags/tag7.xml" /><Relationship Id="rId7" Type="http://schemas.openxmlformats.org/officeDocument/2006/relationships/image" Target="../media/image13.png" /><Relationship Id="rId2" Type="http://schemas.openxmlformats.org/officeDocument/2006/relationships/tags" Target="../tags/tag6.xml" /><Relationship Id="rId1" Type="http://schemas.openxmlformats.org/officeDocument/2006/relationships/tags" Target="../tags/tag5.xml" /><Relationship Id="rId6" Type="http://schemas.openxmlformats.org/officeDocument/2006/relationships/slideLayout" Target="../slideLayouts/slideLayout2.xml" /><Relationship Id="rId11" Type="http://schemas.openxmlformats.org/officeDocument/2006/relationships/image" Target="../media/image17.png" /><Relationship Id="rId5" Type="http://schemas.openxmlformats.org/officeDocument/2006/relationships/tags" Target="../tags/tag9.xml" /><Relationship Id="rId10" Type="http://schemas.openxmlformats.org/officeDocument/2006/relationships/image" Target="../media/image16.png" /><Relationship Id="rId4" Type="http://schemas.openxmlformats.org/officeDocument/2006/relationships/tags" Target="../tags/tag8.xml" /><Relationship Id="rId9" Type="http://schemas.openxmlformats.org/officeDocument/2006/relationships/image" Target="../media/image15.png" /></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11.xml" /><Relationship Id="rId1" Type="http://schemas.openxmlformats.org/officeDocument/2006/relationships/tags" Target="../tags/tag10.xml" /><Relationship Id="rId6" Type="http://schemas.openxmlformats.org/officeDocument/2006/relationships/image" Target="../media/image16.png" /><Relationship Id="rId5" Type="http://schemas.openxmlformats.org/officeDocument/2006/relationships/image" Target="../media/image13.png" /><Relationship Id="rId4" Type="http://schemas.openxmlformats.org/officeDocument/2006/relationships/image" Target="../media/image18.jpeg" /></Relationships>
</file>

<file path=ppt/slides/_rels/slide37.xml.rels><?xml version="1.0" encoding="UTF-8" standalone="yes"?>
<Relationships xmlns="http://schemas.openxmlformats.org/package/2006/relationships"><Relationship Id="rId8" Type="http://schemas.openxmlformats.org/officeDocument/2006/relationships/tags" Target="../tags/tag19.xml" /><Relationship Id="rId13" Type="http://schemas.openxmlformats.org/officeDocument/2006/relationships/image" Target="../media/image19.png" /><Relationship Id="rId18" Type="http://schemas.openxmlformats.org/officeDocument/2006/relationships/image" Target="../media/image23.png" /><Relationship Id="rId3" Type="http://schemas.openxmlformats.org/officeDocument/2006/relationships/tags" Target="../tags/tag14.xml" /><Relationship Id="rId7" Type="http://schemas.openxmlformats.org/officeDocument/2006/relationships/tags" Target="../tags/tag18.xml" /><Relationship Id="rId12" Type="http://schemas.openxmlformats.org/officeDocument/2006/relationships/image" Target="../media/image13.png" /><Relationship Id="rId17" Type="http://schemas.openxmlformats.org/officeDocument/2006/relationships/image" Target="../media/image12.png" /><Relationship Id="rId2" Type="http://schemas.openxmlformats.org/officeDocument/2006/relationships/tags" Target="../tags/tag13.xml" /><Relationship Id="rId16" Type="http://schemas.openxmlformats.org/officeDocument/2006/relationships/image" Target="../media/image22.png" /><Relationship Id="rId1" Type="http://schemas.openxmlformats.org/officeDocument/2006/relationships/tags" Target="../tags/tag12.xml" /><Relationship Id="rId6" Type="http://schemas.openxmlformats.org/officeDocument/2006/relationships/tags" Target="../tags/tag17.xml" /><Relationship Id="rId11" Type="http://schemas.openxmlformats.org/officeDocument/2006/relationships/slideLayout" Target="../slideLayouts/slideLayout2.xml" /><Relationship Id="rId5" Type="http://schemas.openxmlformats.org/officeDocument/2006/relationships/tags" Target="../tags/tag16.xml" /><Relationship Id="rId15" Type="http://schemas.openxmlformats.org/officeDocument/2006/relationships/image" Target="../media/image21.png" /><Relationship Id="rId10" Type="http://schemas.openxmlformats.org/officeDocument/2006/relationships/tags" Target="../tags/tag21.xml" /><Relationship Id="rId19" Type="http://schemas.openxmlformats.org/officeDocument/2006/relationships/image" Target="../media/image24.png" /><Relationship Id="rId4" Type="http://schemas.openxmlformats.org/officeDocument/2006/relationships/tags" Target="../tags/tag15.xml" /><Relationship Id="rId9" Type="http://schemas.openxmlformats.org/officeDocument/2006/relationships/tags" Target="../tags/tag20.xml" /><Relationship Id="rId14" Type="http://schemas.openxmlformats.org/officeDocument/2006/relationships/image" Target="../media/image20.png"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23.xml" /><Relationship Id="rId1" Type="http://schemas.openxmlformats.org/officeDocument/2006/relationships/tags" Target="../tags/tag22.xml" /><Relationship Id="rId5" Type="http://schemas.openxmlformats.org/officeDocument/2006/relationships/image" Target="../media/image26.png" /><Relationship Id="rId4" Type="http://schemas.openxmlformats.org/officeDocument/2006/relationships/image" Target="../media/image25.png" /></Relationships>
</file>

<file path=ppt/slides/_rels/slide40.xml.rels><?xml version="1.0" encoding="UTF-8" standalone="yes"?>
<Relationships xmlns="http://schemas.openxmlformats.org/package/2006/relationships"><Relationship Id="rId8" Type="http://schemas.openxmlformats.org/officeDocument/2006/relationships/image" Target="../media/image28.png" /><Relationship Id="rId3" Type="http://schemas.openxmlformats.org/officeDocument/2006/relationships/tags" Target="../tags/tag26.xml" /><Relationship Id="rId7" Type="http://schemas.openxmlformats.org/officeDocument/2006/relationships/image" Target="../media/image27.png" /><Relationship Id="rId2" Type="http://schemas.openxmlformats.org/officeDocument/2006/relationships/tags" Target="../tags/tag25.xml" /><Relationship Id="rId1" Type="http://schemas.openxmlformats.org/officeDocument/2006/relationships/tags" Target="../tags/tag24.xml" /><Relationship Id="rId6" Type="http://schemas.openxmlformats.org/officeDocument/2006/relationships/slideLayout" Target="../slideLayouts/slideLayout2.xml" /><Relationship Id="rId11" Type="http://schemas.openxmlformats.org/officeDocument/2006/relationships/image" Target="../media/image31.png" /><Relationship Id="rId5" Type="http://schemas.openxmlformats.org/officeDocument/2006/relationships/tags" Target="../tags/tag28.xml" /><Relationship Id="rId10" Type="http://schemas.openxmlformats.org/officeDocument/2006/relationships/image" Target="../media/image30.png" /><Relationship Id="rId4" Type="http://schemas.openxmlformats.org/officeDocument/2006/relationships/tags" Target="../tags/tag27.xml" /><Relationship Id="rId9" Type="http://schemas.openxmlformats.org/officeDocument/2006/relationships/image" Target="../media/image29.png" /></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30.xml" /><Relationship Id="rId1" Type="http://schemas.openxmlformats.org/officeDocument/2006/relationships/tags" Target="../tags/tag29.xml" /><Relationship Id="rId5" Type="http://schemas.openxmlformats.org/officeDocument/2006/relationships/image" Target="../media/image33.png" /><Relationship Id="rId4" Type="http://schemas.openxmlformats.org/officeDocument/2006/relationships/image" Target="../media/image32.png" /></Relationships>
</file>

<file path=ppt/slides/_rels/slide42.xml.rels><?xml version="1.0" encoding="UTF-8" standalone="yes"?>
<Relationships xmlns="http://schemas.openxmlformats.org/package/2006/relationships"><Relationship Id="rId2" Type="http://schemas.openxmlformats.org/officeDocument/2006/relationships/image" Target="../media/image34.jpe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32.xml" /><Relationship Id="rId1" Type="http://schemas.openxmlformats.org/officeDocument/2006/relationships/tags" Target="../tags/tag31.xml" /><Relationship Id="rId5" Type="http://schemas.openxmlformats.org/officeDocument/2006/relationships/image" Target="../media/image36.png" /><Relationship Id="rId4" Type="http://schemas.openxmlformats.org/officeDocument/2006/relationships/image" Target="../media/image35.png" /></Relationships>
</file>

<file path=ppt/slides/_rels/slide48.xml.rels><?xml version="1.0" encoding="UTF-8" standalone="yes"?>
<Relationships xmlns="http://schemas.openxmlformats.org/package/2006/relationships"><Relationship Id="rId8" Type="http://schemas.openxmlformats.org/officeDocument/2006/relationships/image" Target="../media/image37.png" /><Relationship Id="rId3" Type="http://schemas.openxmlformats.org/officeDocument/2006/relationships/tags" Target="../tags/tag35.xml" /><Relationship Id="rId7" Type="http://schemas.openxmlformats.org/officeDocument/2006/relationships/slideLayout" Target="../slideLayouts/slideLayout2.xml" /><Relationship Id="rId12" Type="http://schemas.openxmlformats.org/officeDocument/2006/relationships/image" Target="../media/image41.png" /><Relationship Id="rId2" Type="http://schemas.openxmlformats.org/officeDocument/2006/relationships/tags" Target="../tags/tag34.xml" /><Relationship Id="rId1" Type="http://schemas.openxmlformats.org/officeDocument/2006/relationships/tags" Target="../tags/tag33.xml" /><Relationship Id="rId6" Type="http://schemas.openxmlformats.org/officeDocument/2006/relationships/tags" Target="../tags/tag38.xml" /><Relationship Id="rId11" Type="http://schemas.openxmlformats.org/officeDocument/2006/relationships/image" Target="../media/image40.png" /><Relationship Id="rId5" Type="http://schemas.openxmlformats.org/officeDocument/2006/relationships/tags" Target="../tags/tag37.xml" /><Relationship Id="rId10" Type="http://schemas.openxmlformats.org/officeDocument/2006/relationships/image" Target="../media/image39.png" /><Relationship Id="rId4" Type="http://schemas.openxmlformats.org/officeDocument/2006/relationships/tags" Target="../tags/tag36.xml" /><Relationship Id="rId9" Type="http://schemas.openxmlformats.org/officeDocument/2006/relationships/image" Target="../media/image38.png" /></Relationships>
</file>

<file path=ppt/slides/_rels/slide49.xml.rels><?xml version="1.0" encoding="UTF-8" standalone="yes"?>
<Relationships xmlns="http://schemas.openxmlformats.org/package/2006/relationships"><Relationship Id="rId8" Type="http://schemas.openxmlformats.org/officeDocument/2006/relationships/image" Target="../media/image20.png" /><Relationship Id="rId3" Type="http://schemas.openxmlformats.org/officeDocument/2006/relationships/tags" Target="../tags/tag41.xml" /><Relationship Id="rId7" Type="http://schemas.openxmlformats.org/officeDocument/2006/relationships/image" Target="../media/image35.png" /><Relationship Id="rId2" Type="http://schemas.openxmlformats.org/officeDocument/2006/relationships/tags" Target="../tags/tag40.xml" /><Relationship Id="rId1" Type="http://schemas.openxmlformats.org/officeDocument/2006/relationships/tags" Target="../tags/tag39.xml" /><Relationship Id="rId6" Type="http://schemas.openxmlformats.org/officeDocument/2006/relationships/image" Target="../media/image42.png" /><Relationship Id="rId5" Type="http://schemas.openxmlformats.org/officeDocument/2006/relationships/slideLayout" Target="../slideLayouts/slideLayout2.xml" /><Relationship Id="rId4" Type="http://schemas.openxmlformats.org/officeDocument/2006/relationships/tags" Target="../tags/tag4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8" Type="http://schemas.openxmlformats.org/officeDocument/2006/relationships/image" Target="../media/image43.png" /><Relationship Id="rId3" Type="http://schemas.openxmlformats.org/officeDocument/2006/relationships/tags" Target="../tags/tag45.xml" /><Relationship Id="rId7" Type="http://schemas.openxmlformats.org/officeDocument/2006/relationships/image" Target="../media/image42.png" /><Relationship Id="rId2" Type="http://schemas.openxmlformats.org/officeDocument/2006/relationships/tags" Target="../tags/tag44.xml" /><Relationship Id="rId1" Type="http://schemas.openxmlformats.org/officeDocument/2006/relationships/tags" Target="../tags/tag43.xml" /><Relationship Id="rId6" Type="http://schemas.openxmlformats.org/officeDocument/2006/relationships/slideLayout" Target="../slideLayouts/slideLayout2.xml" /><Relationship Id="rId5" Type="http://schemas.openxmlformats.org/officeDocument/2006/relationships/tags" Target="../tags/tag47.xml" /><Relationship Id="rId10" Type="http://schemas.openxmlformats.org/officeDocument/2006/relationships/image" Target="../media/image44.png" /><Relationship Id="rId4" Type="http://schemas.openxmlformats.org/officeDocument/2006/relationships/tags" Target="../tags/tag46.xml" /><Relationship Id="rId9" Type="http://schemas.openxmlformats.org/officeDocument/2006/relationships/image" Target="../media/image20.png" /></Relationships>
</file>

<file path=ppt/slides/_rels/slide53.xml.rels><?xml version="1.0" encoding="UTF-8" standalone="yes"?>
<Relationships xmlns="http://schemas.openxmlformats.org/package/2006/relationships"><Relationship Id="rId8" Type="http://schemas.openxmlformats.org/officeDocument/2006/relationships/image" Target="../media/image45.png" /><Relationship Id="rId3" Type="http://schemas.openxmlformats.org/officeDocument/2006/relationships/tags" Target="../tags/tag50.xml" /><Relationship Id="rId7" Type="http://schemas.openxmlformats.org/officeDocument/2006/relationships/image" Target="../media/image26.png" /><Relationship Id="rId2" Type="http://schemas.openxmlformats.org/officeDocument/2006/relationships/tags" Target="../tags/tag49.xml" /><Relationship Id="rId1" Type="http://schemas.openxmlformats.org/officeDocument/2006/relationships/tags" Target="../tags/tag48.xml" /><Relationship Id="rId6" Type="http://schemas.openxmlformats.org/officeDocument/2006/relationships/image" Target="../media/image25.png" /><Relationship Id="rId5" Type="http://schemas.openxmlformats.org/officeDocument/2006/relationships/slideLayout" Target="../slideLayouts/slideLayout2.xml" /><Relationship Id="rId4" Type="http://schemas.openxmlformats.org/officeDocument/2006/relationships/tags" Target="../tags/tag51.xml" /><Relationship Id="rId9" Type="http://schemas.openxmlformats.org/officeDocument/2006/relationships/image" Target="../media/image46.png"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3" Type="http://schemas.openxmlformats.org/officeDocument/2006/relationships/tags" Target="../tags/tag54.xml" /><Relationship Id="rId7" Type="http://schemas.openxmlformats.org/officeDocument/2006/relationships/image" Target="../media/image49.png" /><Relationship Id="rId2" Type="http://schemas.openxmlformats.org/officeDocument/2006/relationships/tags" Target="../tags/tag53.xml" /><Relationship Id="rId1" Type="http://schemas.openxmlformats.org/officeDocument/2006/relationships/tags" Target="../tags/tag52.xml" /><Relationship Id="rId6" Type="http://schemas.openxmlformats.org/officeDocument/2006/relationships/image" Target="../media/image48.png" /><Relationship Id="rId5" Type="http://schemas.openxmlformats.org/officeDocument/2006/relationships/image" Target="../media/image47.png" /><Relationship Id="rId4"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56.xml" /><Relationship Id="rId1" Type="http://schemas.openxmlformats.org/officeDocument/2006/relationships/tags" Target="../tags/tag55.xml" /><Relationship Id="rId5" Type="http://schemas.openxmlformats.org/officeDocument/2006/relationships/image" Target="../media/image51.png" /><Relationship Id="rId4" Type="http://schemas.openxmlformats.org/officeDocument/2006/relationships/image" Target="../media/image50.png" /></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xml" /><Relationship Id="rId2" Type="http://schemas.openxmlformats.org/officeDocument/2006/relationships/slideLayout" Target="../slideLayouts/slideLayout2.xml" /><Relationship Id="rId1" Type="http://schemas.openxmlformats.org/officeDocument/2006/relationships/tags" Target="../tags/tag57.xml" /><Relationship Id="rId4" Type="http://schemas.openxmlformats.org/officeDocument/2006/relationships/image" Target="../media/image52.png" /></Relationships>
</file>

<file path=ppt/slides/_rels/slide65.xml.rels><?xml version="1.0" encoding="UTF-8" standalone="yes"?>
<Relationships xmlns="http://schemas.openxmlformats.org/package/2006/relationships"><Relationship Id="rId3" Type="http://schemas.openxmlformats.org/officeDocument/2006/relationships/tags" Target="../tags/tag60.xml" /><Relationship Id="rId7" Type="http://schemas.openxmlformats.org/officeDocument/2006/relationships/image" Target="../media/image54.png" /><Relationship Id="rId2" Type="http://schemas.openxmlformats.org/officeDocument/2006/relationships/tags" Target="../tags/tag59.xml" /><Relationship Id="rId1" Type="http://schemas.openxmlformats.org/officeDocument/2006/relationships/tags" Target="../tags/tag58.xml" /><Relationship Id="rId6" Type="http://schemas.openxmlformats.org/officeDocument/2006/relationships/image" Target="../media/image53.png" /><Relationship Id="rId5" Type="http://schemas.openxmlformats.org/officeDocument/2006/relationships/slideLayout" Target="../slideLayouts/slideLayout2.xml" /><Relationship Id="rId4" Type="http://schemas.openxmlformats.org/officeDocument/2006/relationships/tags" Target="../tags/tag61.xml" /></Relationships>
</file>

<file path=ppt/slides/_rels/slide66.xml.rels><?xml version="1.0" encoding="UTF-8" standalone="yes"?>
<Relationships xmlns="http://schemas.openxmlformats.org/package/2006/relationships"><Relationship Id="rId3" Type="http://schemas.openxmlformats.org/officeDocument/2006/relationships/image" Target="../media/image53.png" /><Relationship Id="rId2" Type="http://schemas.openxmlformats.org/officeDocument/2006/relationships/slideLayout" Target="../slideLayouts/slideLayout2.xml" /><Relationship Id="rId1" Type="http://schemas.openxmlformats.org/officeDocument/2006/relationships/tags" Target="../tags/tag6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3" Type="http://schemas.openxmlformats.org/officeDocument/2006/relationships/image" Target="../media/image53.png" /><Relationship Id="rId2" Type="http://schemas.openxmlformats.org/officeDocument/2006/relationships/slideLayout" Target="../slideLayouts/slideLayout2.xml" /><Relationship Id="rId1" Type="http://schemas.openxmlformats.org/officeDocument/2006/relationships/tags" Target="../tags/tag63.xml" /></Relationships>
</file>

<file path=ppt/slides/_rels/slide69.xml.rels><?xml version="1.0" encoding="UTF-8" standalone="yes"?>
<Relationships xmlns="http://schemas.openxmlformats.org/package/2006/relationships"><Relationship Id="rId8" Type="http://schemas.openxmlformats.org/officeDocument/2006/relationships/tags" Target="../tags/tag71.xml" /><Relationship Id="rId3" Type="http://schemas.openxmlformats.org/officeDocument/2006/relationships/tags" Target="../tags/tag66.xml" /><Relationship Id="rId7" Type="http://schemas.openxmlformats.org/officeDocument/2006/relationships/tags" Target="../tags/tag70.xml" /><Relationship Id="rId2" Type="http://schemas.openxmlformats.org/officeDocument/2006/relationships/tags" Target="../tags/tag65.xml" /><Relationship Id="rId1" Type="http://schemas.openxmlformats.org/officeDocument/2006/relationships/tags" Target="../tags/tag64.xml" /><Relationship Id="rId6" Type="http://schemas.openxmlformats.org/officeDocument/2006/relationships/tags" Target="../tags/tag69.xml" /><Relationship Id="rId5" Type="http://schemas.openxmlformats.org/officeDocument/2006/relationships/tags" Target="../tags/tag68.xml" /><Relationship Id="rId10" Type="http://schemas.openxmlformats.org/officeDocument/2006/relationships/image" Target="../media/image53.png" /><Relationship Id="rId4" Type="http://schemas.openxmlformats.org/officeDocument/2006/relationships/tags" Target="../tags/tag67.xml" /><Relationship Id="rId9"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2" Type="http://schemas.openxmlformats.org/officeDocument/2006/relationships/image" Target="../media/image55.jpeg" /><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2" Type="http://schemas.openxmlformats.org/officeDocument/2006/relationships/image" Target="../media/image56.jpeg" /><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2" Type="http://schemas.openxmlformats.org/officeDocument/2006/relationships/image" Target="../media/image57.png" /><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2" Type="http://schemas.openxmlformats.org/officeDocument/2006/relationships/image" Target="../media/image58.png" /><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Algorithms</a:t>
            </a:r>
          </a:p>
        </p:txBody>
      </p:sp>
      <p:sp>
        <p:nvSpPr>
          <p:cNvPr id="3" name="Subtitle 2"/>
          <p:cNvSpPr>
            <a:spLocks noGrp="1"/>
          </p:cNvSpPr>
          <p:nvPr>
            <p:ph type="subTitle" idx="1"/>
          </p:nvPr>
        </p:nvSpPr>
        <p:spPr/>
        <p:txBody>
          <a:bodyPr/>
          <a:lstStyle/>
          <a:p>
            <a:r>
              <a:rPr lang="en-US" dirty="0"/>
              <a:t>Chapter 3</a:t>
            </a:r>
          </a:p>
        </p:txBody>
      </p:sp>
      <p:sp>
        <p:nvSpPr>
          <p:cNvPr id="4" name="TextBox 3"/>
          <p:cNvSpPr txBox="1"/>
          <p:nvPr/>
        </p:nvSpPr>
        <p:spPr>
          <a:xfrm>
            <a:off x="2286000" y="4648200"/>
            <a:ext cx="3962400" cy="369332"/>
          </a:xfrm>
          <a:prstGeom prst="rect">
            <a:avLst/>
          </a:prstGeom>
          <a:noFill/>
        </p:spPr>
        <p:txBody>
          <a:bodyPr wrap="square" rtlCol="0">
            <a:spAutoFit/>
          </a:bodyPr>
          <a:lstStyle/>
          <a:p>
            <a:r>
              <a:rPr lang="en-US" dirty="0"/>
              <a:t>With Question/Answer Animations</a:t>
            </a:r>
          </a:p>
        </p:txBody>
      </p:sp>
      <p:sp>
        <p:nvSpPr>
          <p:cNvPr id="5" name="Text Box 3"/>
          <p:cNvSpPr txBox="1">
            <a:spLocks noChangeArrowheads="1"/>
          </p:cNvSpPr>
          <p:nvPr/>
        </p:nvSpPr>
        <p:spPr bwMode="auto">
          <a:xfrm>
            <a:off x="0" y="6324600"/>
            <a:ext cx="914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ctr" eaLnBrk="1" hangingPunct="1">
              <a:spcBef>
                <a:spcPct val="50000"/>
              </a:spcBef>
              <a:buFontTx/>
              <a:buNone/>
            </a:pPr>
            <a:r>
              <a:rPr lang="en-US" altLang="en-US" sz="1000" dirty="0"/>
              <a:t>Copyright ©  McGraw-Hill Education.  All rights reserved. No reproduction or distribution without the prior written consent of McGraw-Hill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Summary</a:t>
            </a:r>
          </a:p>
        </p:txBody>
      </p:sp>
      <p:sp>
        <p:nvSpPr>
          <p:cNvPr id="3" name="Content Placeholder 2"/>
          <p:cNvSpPr>
            <a:spLocks noGrp="1"/>
          </p:cNvSpPr>
          <p:nvPr>
            <p:ph idx="1"/>
          </p:nvPr>
        </p:nvSpPr>
        <p:spPr/>
        <p:txBody>
          <a:bodyPr>
            <a:normAutofit/>
          </a:bodyPr>
          <a:lstStyle/>
          <a:p>
            <a:r>
              <a:rPr lang="en-US" dirty="0"/>
              <a:t>Algorithms </a:t>
            </a:r>
          </a:p>
          <a:p>
            <a:pPr lvl="1"/>
            <a:r>
              <a:rPr lang="en-US" dirty="0"/>
              <a:t>Example Algorithms </a:t>
            </a:r>
          </a:p>
          <a:p>
            <a:pPr lvl="1"/>
            <a:r>
              <a:rPr lang="en-US" dirty="0"/>
              <a:t>Algorithmic Paradigms</a:t>
            </a:r>
          </a:p>
          <a:p>
            <a:r>
              <a:rPr lang="en-US" dirty="0"/>
              <a:t>Growth of Functions</a:t>
            </a:r>
          </a:p>
          <a:p>
            <a:pPr lvl="1"/>
            <a:r>
              <a:rPr lang="en-US" dirty="0"/>
              <a:t>Big-</a:t>
            </a:r>
            <a:r>
              <a:rPr lang="en-US" i="1" dirty="0"/>
              <a:t>O</a:t>
            </a:r>
            <a:r>
              <a:rPr lang="en-US" dirty="0"/>
              <a:t> and other Notation</a:t>
            </a:r>
          </a:p>
          <a:p>
            <a:r>
              <a:rPr lang="en-US" dirty="0"/>
              <a:t>Complexity of Algorithms</a:t>
            </a:r>
          </a:p>
          <a:p>
            <a:pPr>
              <a:buNone/>
            </a:pPr>
            <a:endParaRPr lang="en-US" dirty="0"/>
          </a:p>
          <a:p>
            <a:pPr lvl="1">
              <a:buNone/>
            </a:pPr>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Algorithms</a:t>
            </a:r>
          </a:p>
        </p:txBody>
      </p:sp>
      <p:sp>
        <p:nvSpPr>
          <p:cNvPr id="3" name="Subtitle 2"/>
          <p:cNvSpPr>
            <a:spLocks noGrp="1"/>
          </p:cNvSpPr>
          <p:nvPr>
            <p:ph type="subTitle" idx="1"/>
          </p:nvPr>
        </p:nvSpPr>
        <p:spPr/>
        <p:txBody>
          <a:bodyPr/>
          <a:lstStyle/>
          <a:p>
            <a:r>
              <a:rPr lang="en-US" dirty="0"/>
              <a:t>Section 3.1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Properties of Algorithms</a:t>
            </a:r>
          </a:p>
          <a:p>
            <a:r>
              <a:rPr lang="en-US" dirty="0"/>
              <a:t>Algorithms for Searching and Sorting</a:t>
            </a:r>
          </a:p>
          <a:p>
            <a:r>
              <a:rPr lang="en-US" dirty="0"/>
              <a:t>Greedy Algorithms</a:t>
            </a:r>
          </a:p>
          <a:p>
            <a:r>
              <a:rPr lang="en-US" dirty="0"/>
              <a:t>Halting Problem</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and Algorithms</a:t>
            </a:r>
          </a:p>
        </p:txBody>
      </p:sp>
      <p:sp>
        <p:nvSpPr>
          <p:cNvPr id="3" name="Content Placeholder 2"/>
          <p:cNvSpPr>
            <a:spLocks noGrp="1"/>
          </p:cNvSpPr>
          <p:nvPr>
            <p:ph idx="1"/>
          </p:nvPr>
        </p:nvSpPr>
        <p:spPr/>
        <p:txBody>
          <a:bodyPr>
            <a:normAutofit/>
          </a:bodyPr>
          <a:lstStyle/>
          <a:p>
            <a:r>
              <a:rPr lang="en-US" dirty="0"/>
              <a:t>In many domains there are key general problems that ask for output with specific properties when given valid input.</a:t>
            </a:r>
          </a:p>
          <a:p>
            <a:r>
              <a:rPr lang="en-US" dirty="0"/>
              <a:t>The first step is to precisely state the problem, using the appropriate structures to specify the input and the desired output.</a:t>
            </a:r>
          </a:p>
          <a:p>
            <a:r>
              <a:rPr lang="en-US" dirty="0"/>
              <a:t>We then solve the general problem by specifying the steps  of a procedure that takes a valid input and produces the desired output.  This procedure is called an </a:t>
            </a:r>
            <a:r>
              <a:rPr lang="en-US" i="1" dirty="0"/>
              <a:t>algorithm</a:t>
            </a:r>
            <a:r>
              <a:rPr 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Algorithms</a:t>
            </a:r>
          </a:p>
        </p:txBody>
      </p:sp>
      <p:sp>
        <p:nvSpPr>
          <p:cNvPr id="3" name="Content Placeholder 2"/>
          <p:cNvSpPr>
            <a:spLocks noGrp="1"/>
          </p:cNvSpPr>
          <p:nvPr>
            <p:ph idx="1"/>
          </p:nvPr>
        </p:nvSpPr>
        <p:spPr/>
        <p:txBody>
          <a:bodyPr>
            <a:normAutofit fontScale="92500" lnSpcReduction="20000"/>
          </a:bodyPr>
          <a:lstStyle/>
          <a:p>
            <a:pPr>
              <a:buNone/>
            </a:pPr>
            <a:r>
              <a:rPr lang="en-US" b="1" dirty="0"/>
              <a:t>   Definition</a:t>
            </a:r>
            <a:r>
              <a:rPr lang="en-US" dirty="0"/>
              <a:t>: An </a:t>
            </a:r>
            <a:r>
              <a:rPr lang="en-US" i="1" dirty="0"/>
              <a:t>algorithm</a:t>
            </a:r>
            <a:r>
              <a:rPr lang="en-US" dirty="0"/>
              <a:t> is a finite set of precise instructions for performing a computation or for solving a problem.</a:t>
            </a:r>
          </a:p>
          <a:p>
            <a:pPr>
              <a:buNone/>
            </a:pPr>
            <a:r>
              <a:rPr lang="en-US" dirty="0"/>
              <a:t>   </a:t>
            </a:r>
            <a:r>
              <a:rPr lang="en-US" b="1" dirty="0"/>
              <a:t>Example</a:t>
            </a:r>
            <a:r>
              <a:rPr lang="en-US" dirty="0"/>
              <a:t>: Describe an algorithm for finding the maximum value in a finite sequence of integers.</a:t>
            </a:r>
          </a:p>
          <a:p>
            <a:pPr>
              <a:buNone/>
            </a:pPr>
            <a:r>
              <a:rPr lang="en-US" dirty="0"/>
              <a:t>   </a:t>
            </a:r>
            <a:r>
              <a:rPr lang="en-US" b="1" dirty="0"/>
              <a:t>Solution: </a:t>
            </a:r>
            <a:r>
              <a:rPr lang="en-US" dirty="0"/>
              <a:t>Perform the following steps:</a:t>
            </a:r>
          </a:p>
          <a:p>
            <a:pPr marL="1154430" lvl="2" indent="-514350">
              <a:buFont typeface="+mj-lt"/>
              <a:buAutoNum type="arabicPeriod"/>
            </a:pPr>
            <a:r>
              <a:rPr lang="en-US" dirty="0"/>
              <a:t>Set the temporary maximum equal to the first integer in the sequence.</a:t>
            </a:r>
          </a:p>
          <a:p>
            <a:pPr marL="1154430" lvl="2" indent="-514350">
              <a:buFont typeface="+mj-lt"/>
              <a:buAutoNum type="arabicPeriod"/>
            </a:pPr>
            <a:r>
              <a:rPr lang="en-US" dirty="0"/>
              <a:t>Compare the next integer in the sequence to the temporary maximum.</a:t>
            </a:r>
          </a:p>
          <a:p>
            <a:pPr marL="1428750" lvl="3" indent="-514350"/>
            <a:r>
              <a:rPr lang="en-US" dirty="0"/>
              <a:t>If it is larger than the temporary maximum, set the temporary maximum equal to this integer.</a:t>
            </a:r>
          </a:p>
          <a:p>
            <a:pPr marL="1154430" lvl="2" indent="-514350">
              <a:buFont typeface="+mj-lt"/>
              <a:buAutoNum type="arabicPeriod"/>
            </a:pPr>
            <a:r>
              <a:rPr lang="en-US" dirty="0"/>
              <a:t>Repeat the previous step if there are more integers. If not, stop.</a:t>
            </a:r>
          </a:p>
          <a:p>
            <a:pPr marL="1154430" lvl="2" indent="-514350">
              <a:buFont typeface="+mj-lt"/>
              <a:buAutoNum type="arabicPeriod"/>
            </a:pPr>
            <a:r>
              <a:rPr lang="en-US" dirty="0"/>
              <a:t>When the algorithm terminates, the temporary maximum is the largest integer in the sequence.</a:t>
            </a:r>
          </a:p>
        </p:txBody>
      </p:sp>
      <p:pic>
        <p:nvPicPr>
          <p:cNvPr id="4" name="Picture 3" descr="0301.jpg"/>
          <p:cNvPicPr>
            <a:picLocks noChangeAspect="1"/>
          </p:cNvPicPr>
          <p:nvPr/>
        </p:nvPicPr>
        <p:blipFill>
          <a:blip r:embed="rId2" cstate="print"/>
          <a:stretch>
            <a:fillRect/>
          </a:stretch>
        </p:blipFill>
        <p:spPr>
          <a:xfrm>
            <a:off x="5181600" y="228600"/>
            <a:ext cx="886968" cy="1027176"/>
          </a:xfrm>
          <a:prstGeom prst="rect">
            <a:avLst/>
          </a:prstGeom>
        </p:spPr>
      </p:pic>
      <p:sp>
        <p:nvSpPr>
          <p:cNvPr id="5" name="TextBox 4"/>
          <p:cNvSpPr txBox="1"/>
          <p:nvPr/>
        </p:nvSpPr>
        <p:spPr>
          <a:xfrm>
            <a:off x="3733800" y="1219200"/>
            <a:ext cx="5257800" cy="646331"/>
          </a:xfrm>
          <a:prstGeom prst="rect">
            <a:avLst/>
          </a:prstGeom>
          <a:noFill/>
        </p:spPr>
        <p:txBody>
          <a:bodyPr wrap="square" rtlCol="0">
            <a:spAutoFit/>
          </a:bodyPr>
          <a:lstStyle/>
          <a:p>
            <a:r>
              <a:rPr lang="en-US" dirty="0"/>
              <a:t>Abu </a:t>
            </a:r>
            <a:r>
              <a:rPr lang="en-US" dirty="0" err="1"/>
              <a:t>Ja’far</a:t>
            </a:r>
            <a:r>
              <a:rPr lang="en-US" dirty="0"/>
              <a:t> Mohammed </a:t>
            </a:r>
            <a:r>
              <a:rPr lang="en-US" dirty="0" err="1"/>
              <a:t>Ibin</a:t>
            </a:r>
            <a:r>
              <a:rPr lang="en-US" dirty="0"/>
              <a:t> Musa Al-</a:t>
            </a:r>
            <a:r>
              <a:rPr lang="en-US" dirty="0" err="1"/>
              <a:t>Khowarizmi</a:t>
            </a:r>
            <a:endParaRPr lang="en-US" dirty="0"/>
          </a:p>
          <a:p>
            <a:r>
              <a:rPr lang="en-US" dirty="0"/>
              <a:t>(</a:t>
            </a:r>
            <a:r>
              <a:rPr lang="en-US" dirty="0">
                <a:latin typeface="Cambria Math" pitchFamily="18" charset="0"/>
                <a:ea typeface="Cambria Math" pitchFamily="18" charset="0"/>
              </a:rPr>
              <a:t>780-850</a:t>
            </a:r>
            <a:r>
              <a:rPr 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Specifying Algorithms</a:t>
            </a:r>
          </a:p>
        </p:txBody>
      </p:sp>
      <p:sp>
        <p:nvSpPr>
          <p:cNvPr id="3" name="Content Placeholder 2"/>
          <p:cNvSpPr>
            <a:spLocks noGrp="1"/>
          </p:cNvSpPr>
          <p:nvPr>
            <p:ph idx="1"/>
          </p:nvPr>
        </p:nvSpPr>
        <p:spPr/>
        <p:txBody>
          <a:bodyPr>
            <a:normAutofit fontScale="92500" lnSpcReduction="20000"/>
          </a:bodyPr>
          <a:lstStyle/>
          <a:p>
            <a:pPr algn="just"/>
            <a:r>
              <a:rPr lang="en-US" sz="2400" dirty="0"/>
              <a:t>Algorithms can be specified in different ways. Their steps can be described in English or in  </a:t>
            </a:r>
            <a:r>
              <a:rPr lang="en-US" sz="2400" i="1" dirty="0" err="1"/>
              <a:t>pseudocode</a:t>
            </a:r>
            <a:r>
              <a:rPr lang="en-US" sz="2400" i="1" dirty="0"/>
              <a:t>.</a:t>
            </a:r>
            <a:endParaRPr lang="en-US" sz="2400" dirty="0"/>
          </a:p>
          <a:p>
            <a:pPr algn="just"/>
            <a:r>
              <a:rPr lang="en-US" sz="2400" dirty="0" err="1"/>
              <a:t>Pseudocode</a:t>
            </a:r>
            <a:r>
              <a:rPr lang="en-US" sz="2400" dirty="0"/>
              <a:t> is an intermediate step between an English language description of the steps and a coding of these steps using a programming language. </a:t>
            </a:r>
          </a:p>
          <a:p>
            <a:pPr algn="just"/>
            <a:r>
              <a:rPr lang="en-US" sz="2400" dirty="0"/>
              <a:t>It uses some of the structures found in popular languages such as C++ and Java.</a:t>
            </a:r>
          </a:p>
          <a:p>
            <a:pPr algn="just"/>
            <a:r>
              <a:rPr lang="en-US" sz="2400" dirty="0"/>
              <a:t>Programmers can use the description of an algorithm in </a:t>
            </a:r>
            <a:r>
              <a:rPr lang="en-US" sz="2400" dirty="0" err="1"/>
              <a:t>pseudocode</a:t>
            </a:r>
            <a:r>
              <a:rPr lang="en-US" sz="2400" dirty="0"/>
              <a:t> to construct a program in a particular language. </a:t>
            </a:r>
          </a:p>
          <a:p>
            <a:pPr algn="just"/>
            <a:r>
              <a:rPr lang="en-US" sz="2400" dirty="0" err="1"/>
              <a:t>Pseudocode</a:t>
            </a:r>
            <a:r>
              <a:rPr lang="en-US" sz="2400" dirty="0"/>
              <a:t> helps us analyze the time required to solve a problem using an algorithm, independent of the actual programming language used to implement algorithm. </a:t>
            </a:r>
          </a:p>
          <a:p>
            <a:pPr algn="just"/>
            <a:endParaRPr lang="en-US" dirty="0"/>
          </a:p>
          <a:p>
            <a:pPr algn="just">
              <a:buNone/>
            </a:pPr>
            <a:r>
              <a:rPr lang="en-US"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457200" y="457200"/>
            <a:ext cx="8305800" cy="6016625"/>
          </a:xfrm>
          <a:prstGeom prst="rect">
            <a:avLst/>
          </a:prstGeom>
          <a:noFill/>
          <a:ln w="9525">
            <a:noFill/>
            <a:miter lim="800000"/>
            <a:headEnd/>
            <a:tailEnd/>
          </a:ln>
          <a:effectLst/>
        </p:spPr>
        <p:txBody>
          <a:bodyPr>
            <a:spAutoFit/>
          </a:bodyPr>
          <a:lstStyle/>
          <a:p>
            <a:pPr algn="just">
              <a:spcBef>
                <a:spcPct val="50000"/>
              </a:spcBef>
              <a:defRPr/>
            </a:pPr>
            <a:r>
              <a:rPr lang="en-US" altLang="ja-JP" sz="2200" u="sng" dirty="0"/>
              <a:t>The properties </a:t>
            </a:r>
            <a:r>
              <a:rPr lang="en-US" altLang="ja-JP" sz="2200" u="sng"/>
              <a:t>of an algorithm</a:t>
            </a:r>
            <a:r>
              <a:rPr lang="en-US" altLang="ja-JP" sz="2200" u="sng" dirty="0"/>
              <a:t>:</a:t>
            </a:r>
          </a:p>
          <a:p>
            <a:pPr marL="457200" indent="-457200" algn="just">
              <a:spcBef>
                <a:spcPct val="50000"/>
              </a:spcBef>
              <a:buFont typeface="+mj-lt"/>
              <a:buAutoNum type="arabicPeriod"/>
              <a:defRPr/>
            </a:pPr>
            <a:r>
              <a:rPr lang="en-US" altLang="ja-JP" sz="2200" dirty="0"/>
              <a:t>Input:</a:t>
            </a:r>
            <a:r>
              <a:rPr lang="en-US" sz="2200" dirty="0"/>
              <a:t> An algorithm has input values from a specified set.</a:t>
            </a:r>
            <a:r>
              <a:rPr lang="en-US" altLang="ja-JP" sz="2200" dirty="0"/>
              <a:t> </a:t>
            </a:r>
          </a:p>
          <a:p>
            <a:pPr marL="457200" indent="-457200" algn="just">
              <a:spcBef>
                <a:spcPct val="50000"/>
              </a:spcBef>
              <a:buFont typeface="+mj-lt"/>
              <a:buAutoNum type="arabicPeriod"/>
              <a:defRPr/>
            </a:pPr>
            <a:r>
              <a:rPr lang="en-US" altLang="ja-JP" sz="2200" dirty="0"/>
              <a:t>Output:</a:t>
            </a:r>
            <a:r>
              <a:rPr lang="en-US" sz="2200" dirty="0"/>
              <a:t> From each set of input values, an algorithm produces  output values from a specified set. The output values are the solution to the problem.</a:t>
            </a:r>
          </a:p>
          <a:p>
            <a:pPr marL="457200" indent="-457200" algn="just">
              <a:spcBef>
                <a:spcPct val="50000"/>
              </a:spcBef>
              <a:buFont typeface="+mj-lt"/>
              <a:buAutoNum type="arabicPeriod"/>
              <a:defRPr/>
            </a:pPr>
            <a:r>
              <a:rPr lang="en-US" altLang="ja-JP" sz="2200" dirty="0"/>
              <a:t>Definiteness: The steps of an algorithm must be defined precisely.</a:t>
            </a:r>
          </a:p>
          <a:p>
            <a:pPr marL="457200" indent="-457200" algn="just">
              <a:spcBef>
                <a:spcPct val="50000"/>
              </a:spcBef>
              <a:buFont typeface="+mj-lt"/>
              <a:buAutoNum type="arabicPeriod"/>
              <a:defRPr/>
            </a:pPr>
            <a:r>
              <a:rPr lang="en-US" altLang="ja-JP" sz="2200" dirty="0"/>
              <a:t>Correctness:</a:t>
            </a:r>
            <a:r>
              <a:rPr lang="en-US" sz="2200" dirty="0"/>
              <a:t> An algorithm should produce the correct output values for each set of input values.</a:t>
            </a:r>
          </a:p>
          <a:p>
            <a:pPr marL="457200" indent="-457200" algn="just">
              <a:spcBef>
                <a:spcPct val="50000"/>
              </a:spcBef>
              <a:buFont typeface="+mj-lt"/>
              <a:buAutoNum type="arabicPeriod"/>
              <a:defRPr/>
            </a:pPr>
            <a:r>
              <a:rPr lang="en-US" altLang="ja-JP" sz="2200" dirty="0"/>
              <a:t>Finiteness:</a:t>
            </a:r>
            <a:r>
              <a:rPr lang="en-US" sz="2200" dirty="0"/>
              <a:t> An algorithm should produce the desired output after a finite number of steps for any input in the set.</a:t>
            </a:r>
          </a:p>
          <a:p>
            <a:pPr marL="457200" indent="-457200" algn="just">
              <a:spcBef>
                <a:spcPct val="50000"/>
              </a:spcBef>
              <a:buFont typeface="+mj-lt"/>
              <a:buAutoNum type="arabicPeriod"/>
              <a:defRPr/>
            </a:pPr>
            <a:r>
              <a:rPr lang="en-US" altLang="ja-JP" sz="2200" dirty="0"/>
              <a:t>Effectiveness:</a:t>
            </a:r>
            <a:r>
              <a:rPr lang="en-US" sz="2200" dirty="0"/>
              <a:t> It must be possible to perform each step of the algorithm exactly and in a finite amount of time.</a:t>
            </a:r>
          </a:p>
          <a:p>
            <a:pPr marL="457200" indent="-457200" algn="just">
              <a:spcBef>
                <a:spcPct val="50000"/>
              </a:spcBef>
              <a:buFont typeface="+mj-lt"/>
              <a:buAutoNum type="arabicPeriod"/>
              <a:defRPr/>
            </a:pPr>
            <a:r>
              <a:rPr lang="en-US" altLang="ja-JP" sz="2200" dirty="0"/>
              <a:t>Generality:</a:t>
            </a:r>
            <a:r>
              <a:rPr lang="en-US" sz="2000" dirty="0"/>
              <a:t> </a:t>
            </a:r>
            <a:r>
              <a:rPr lang="en-US" sz="2200" dirty="0"/>
              <a:t>The procedure should be applicable for all problems of the desired form, not just for a particular set of input values.</a:t>
            </a:r>
            <a:endParaRPr lang="en-US" altLang="ja-JP" sz="2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 calcmode="lin" valueType="num">
                                      <p:cBhvr additive="base">
                                        <p:cTn id="7" dur="500" fill="hold"/>
                                        <p:tgtEl>
                                          <p:spTgt spid="512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2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22">
                                            <p:txEl>
                                              <p:pRg st="1" end="1"/>
                                            </p:txEl>
                                          </p:spTgt>
                                        </p:tgtEl>
                                        <p:attrNameLst>
                                          <p:attrName>style.visibility</p:attrName>
                                        </p:attrNameLst>
                                      </p:cBhvr>
                                      <p:to>
                                        <p:strVal val="visible"/>
                                      </p:to>
                                    </p:set>
                                    <p:anim calcmode="lin" valueType="num">
                                      <p:cBhvr additive="base">
                                        <p:cTn id="13" dur="500" fill="hold"/>
                                        <p:tgtEl>
                                          <p:spTgt spid="512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12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22">
                                            <p:txEl>
                                              <p:pRg st="2" end="2"/>
                                            </p:txEl>
                                          </p:spTgt>
                                        </p:tgtEl>
                                        <p:attrNameLst>
                                          <p:attrName>style.visibility</p:attrName>
                                        </p:attrNameLst>
                                      </p:cBhvr>
                                      <p:to>
                                        <p:strVal val="visible"/>
                                      </p:to>
                                    </p:set>
                                    <p:anim calcmode="lin" valueType="num">
                                      <p:cBhvr additive="base">
                                        <p:cTn id="19" dur="500" fill="hold"/>
                                        <p:tgtEl>
                                          <p:spTgt spid="512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12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122">
                                            <p:txEl>
                                              <p:pRg st="3" end="3"/>
                                            </p:txEl>
                                          </p:spTgt>
                                        </p:tgtEl>
                                        <p:attrNameLst>
                                          <p:attrName>style.visibility</p:attrName>
                                        </p:attrNameLst>
                                      </p:cBhvr>
                                      <p:to>
                                        <p:strVal val="visible"/>
                                      </p:to>
                                    </p:set>
                                    <p:anim calcmode="lin" valueType="num">
                                      <p:cBhvr additive="base">
                                        <p:cTn id="25" dur="500" fill="hold"/>
                                        <p:tgtEl>
                                          <p:spTgt spid="512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12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122">
                                            <p:txEl>
                                              <p:pRg st="4" end="4"/>
                                            </p:txEl>
                                          </p:spTgt>
                                        </p:tgtEl>
                                        <p:attrNameLst>
                                          <p:attrName>style.visibility</p:attrName>
                                        </p:attrNameLst>
                                      </p:cBhvr>
                                      <p:to>
                                        <p:strVal val="visible"/>
                                      </p:to>
                                    </p:set>
                                    <p:anim calcmode="lin" valueType="num">
                                      <p:cBhvr additive="base">
                                        <p:cTn id="31" dur="500" fill="hold"/>
                                        <p:tgtEl>
                                          <p:spTgt spid="512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12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122">
                                            <p:txEl>
                                              <p:pRg st="5" end="5"/>
                                            </p:txEl>
                                          </p:spTgt>
                                        </p:tgtEl>
                                        <p:attrNameLst>
                                          <p:attrName>style.visibility</p:attrName>
                                        </p:attrNameLst>
                                      </p:cBhvr>
                                      <p:to>
                                        <p:strVal val="visible"/>
                                      </p:to>
                                    </p:set>
                                    <p:anim calcmode="lin" valueType="num">
                                      <p:cBhvr additive="base">
                                        <p:cTn id="37" dur="500" fill="hold"/>
                                        <p:tgtEl>
                                          <p:spTgt spid="5122">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122">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122">
                                            <p:txEl>
                                              <p:pRg st="6" end="6"/>
                                            </p:txEl>
                                          </p:spTgt>
                                        </p:tgtEl>
                                        <p:attrNameLst>
                                          <p:attrName>style.visibility</p:attrName>
                                        </p:attrNameLst>
                                      </p:cBhvr>
                                      <p:to>
                                        <p:strVal val="visible"/>
                                      </p:to>
                                    </p:set>
                                    <p:anim calcmode="lin" valueType="num">
                                      <p:cBhvr additive="base">
                                        <p:cTn id="43" dur="500" fill="hold"/>
                                        <p:tgtEl>
                                          <p:spTgt spid="5122">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122">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rbrake.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122">
                                            <p:txEl>
                                              <p:pRg st="7" end="7"/>
                                            </p:txEl>
                                          </p:spTgt>
                                        </p:tgtEl>
                                        <p:attrNameLst>
                                          <p:attrName>style.visibility</p:attrName>
                                        </p:attrNameLst>
                                      </p:cBhvr>
                                      <p:to>
                                        <p:strVal val="visible"/>
                                      </p:to>
                                    </p:set>
                                    <p:anim calcmode="lin" valueType="num">
                                      <p:cBhvr additive="base">
                                        <p:cTn id="49" dur="500" fill="hold"/>
                                        <p:tgtEl>
                                          <p:spTgt spid="5122">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122">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Finding the Maximum Element in a Finite Sequence</a:t>
            </a:r>
          </a:p>
        </p:txBody>
      </p:sp>
      <p:sp>
        <p:nvSpPr>
          <p:cNvPr id="3" name="Content Placeholder 2"/>
          <p:cNvSpPr>
            <a:spLocks noGrp="1"/>
          </p:cNvSpPr>
          <p:nvPr>
            <p:ph idx="1"/>
          </p:nvPr>
        </p:nvSpPr>
        <p:spPr>
          <a:xfrm>
            <a:off x="685800" y="1905000"/>
            <a:ext cx="8229600" cy="4525963"/>
          </a:xfrm>
        </p:spPr>
        <p:txBody>
          <a:bodyPr/>
          <a:lstStyle/>
          <a:p>
            <a:r>
              <a:rPr lang="en-US" dirty="0"/>
              <a:t>The algorithm in </a:t>
            </a:r>
            <a:r>
              <a:rPr lang="en-US" dirty="0" err="1"/>
              <a:t>pseudocode</a:t>
            </a:r>
            <a:r>
              <a:rPr lang="en-US" dirty="0"/>
              <a:t>:</a:t>
            </a:r>
          </a:p>
          <a:p>
            <a:endParaRPr lang="en-US" dirty="0"/>
          </a:p>
          <a:p>
            <a:endParaRPr lang="en-US" dirty="0"/>
          </a:p>
          <a:p>
            <a:endParaRPr lang="en-US" dirty="0"/>
          </a:p>
          <a:p>
            <a:endParaRPr lang="en-US" dirty="0"/>
          </a:p>
          <a:p>
            <a:endParaRPr lang="en-US" dirty="0"/>
          </a:p>
          <a:p>
            <a:endParaRPr lang="en-US" dirty="0"/>
          </a:p>
          <a:p>
            <a:r>
              <a:rPr lang="en-US" dirty="0"/>
              <a:t>Does this algorithm have all the properties listed on the previous slide?   </a:t>
            </a:r>
          </a:p>
          <a:p>
            <a:pPr>
              <a:buNone/>
            </a:pPr>
            <a:endParaRPr lang="en-US" dirty="0"/>
          </a:p>
        </p:txBody>
      </p:sp>
      <p:sp>
        <p:nvSpPr>
          <p:cNvPr id="4" name="Content Placeholder 2"/>
          <p:cNvSpPr txBox="1">
            <a:spLocks/>
          </p:cNvSpPr>
          <p:nvPr/>
        </p:nvSpPr>
        <p:spPr>
          <a:xfrm>
            <a:off x="1143000" y="2971800"/>
            <a:ext cx="4572000" cy="1828800"/>
          </a:xfrm>
          <a:prstGeom prst="rect">
            <a:avLst/>
          </a:prstGeom>
          <a:ln>
            <a:solidFill>
              <a:schemeClr val="tx2"/>
            </a:solidFill>
          </a:ln>
        </p:spPr>
        <p:txBody>
          <a:bodyPr vert="horz">
            <a:normAutofit fontScale="70000" lnSpcReduction="20000"/>
          </a:bodyPr>
          <a:lstStyle/>
          <a:p>
            <a:pPr marL="274320" marR="0" lvl="0" indent="-274320" algn="l" defTabSz="914400" rtl="0" eaLnBrk="1" fontAlgn="auto" latinLnBrk="0" hangingPunct="1">
              <a:lnSpc>
                <a:spcPct val="100000"/>
              </a:lnSpc>
              <a:spcBef>
                <a:spcPts val="0"/>
              </a:spcBef>
              <a:spcAft>
                <a:spcPts val="0"/>
              </a:spcAft>
              <a:buClr>
                <a:schemeClr val="accent3"/>
              </a:buClr>
              <a:buSzPct val="95000"/>
              <a:buFont typeface="Wingdings 2"/>
              <a:buNone/>
              <a:tabLst/>
              <a:defRPr/>
            </a:pPr>
            <a:r>
              <a:rPr lang="en-US" sz="2600" b="1" dirty="0"/>
              <a:t>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max</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integers)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p>
          <a:p>
            <a:pPr marL="274320" lvl="0" indent="-274320">
              <a:spcBef>
                <a:spcPct val="20000"/>
              </a:spcBef>
              <a:buClr>
                <a:schemeClr val="accent3"/>
              </a:buClr>
              <a:buSzPct val="95000"/>
            </a:pPr>
            <a:r>
              <a:rPr kumimoji="0" lang="en-US" sz="2600" b="0" i="0" u="none" strike="noStrike" kern="1200" cap="none" spc="0" normalizeH="0" baseline="0" noProof="0" dirty="0">
                <a:ln>
                  <a:noFill/>
                </a:ln>
                <a:solidFill>
                  <a:schemeClr val="tx1"/>
                </a:solidFill>
                <a:effectLst/>
                <a:uLnTx/>
                <a:uFillTx/>
                <a:latin typeface="+mn-lt"/>
                <a:ea typeface="+mn-ea"/>
                <a:cs typeface="+mn-cs"/>
              </a:rPr>
              <a:t>         if</a:t>
            </a:r>
            <a:r>
              <a:rPr kumimoji="0" lang="en-US" sz="2600" b="0" i="0" u="none" strike="noStrike" kern="1200" cap="none" spc="0" normalizeH="0" noProof="0" dirty="0">
                <a:ln>
                  <a:noFill/>
                </a:ln>
                <a:solidFill>
                  <a:schemeClr val="tx1"/>
                </a:solidFill>
                <a:effectLst/>
                <a:uLnTx/>
                <a:uFillTx/>
                <a:latin typeface="+mn-lt"/>
                <a:ea typeface="+mn-ea"/>
                <a:cs typeface="+mn-cs"/>
              </a:rPr>
              <a:t> </a:t>
            </a:r>
            <a:r>
              <a:rPr lang="en-US" sz="2600" i="1" dirty="0"/>
              <a:t>max</a:t>
            </a:r>
            <a:r>
              <a:rPr kumimoji="0" lang="en-US" sz="2600" b="0" i="0" u="none" strike="noStrike" kern="1200" cap="none" spc="0" normalizeH="0" baseline="0" noProof="0" dirty="0">
                <a:ln>
                  <a:noFill/>
                </a:ln>
                <a:solidFill>
                  <a:schemeClr val="tx1"/>
                </a:solidFill>
                <a:effectLst/>
                <a:uLnTx/>
                <a:uFillTx/>
                <a:latin typeface="+mn-lt"/>
                <a:ea typeface="+mn-ea"/>
                <a:cs typeface="+mn-cs"/>
              </a:rPr>
              <a:t> &lt;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then </a:t>
            </a:r>
            <a:r>
              <a:rPr lang="en-US" sz="2600" i="1" dirty="0"/>
              <a:t>max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endParaRPr kumimoji="0" lang="en-US" sz="2600" b="0" i="1" u="none" strike="noStrike" kern="1200" cap="none" spc="0" normalizeH="0" baseline="-25000" noProof="0" dirty="0">
              <a:ln>
                <a:noFill/>
              </a:ln>
              <a:solidFill>
                <a:schemeClr val="tx1"/>
              </a:solidFill>
              <a:effectLst/>
              <a:uLnTx/>
              <a:uFillTx/>
              <a:latin typeface="+mn-lt"/>
              <a:ea typeface="+mn-ea"/>
              <a:cs typeface="+mn-cs"/>
            </a:endParaRPr>
          </a:p>
          <a:p>
            <a:pPr marL="274320" lvl="0" indent="-274320">
              <a:spcBef>
                <a:spcPct val="20000"/>
              </a:spcBef>
              <a:buClr>
                <a:schemeClr val="accent3"/>
              </a:buClr>
              <a:buSzPct val="95000"/>
            </a:pPr>
            <a:r>
              <a:rPr kumimoji="0" lang="en-US" sz="2600" b="0" i="0" u="none" strike="noStrike" kern="1200" cap="none" spc="0" normalizeH="0" baseline="0" noProof="0" dirty="0">
                <a:ln>
                  <a:noFill/>
                </a:ln>
                <a:solidFill>
                  <a:schemeClr val="tx1"/>
                </a:solidFill>
                <a:effectLst/>
                <a:uLnTx/>
                <a:uFillTx/>
                <a:latin typeface="+mn-lt"/>
                <a:ea typeface="+mn-ea"/>
                <a:cs typeface="+mn-cs"/>
              </a:rPr>
              <a:t>    return </a:t>
            </a:r>
            <a:r>
              <a:rPr lang="en-US" sz="2600" i="1" dirty="0"/>
              <a:t>max</a:t>
            </a:r>
            <a:r>
              <a:rPr lang="en-US" sz="2600" dirty="0"/>
              <a:t>{</a:t>
            </a:r>
            <a:r>
              <a:rPr lang="en-US" sz="2600" i="1" dirty="0"/>
              <a:t>max </a:t>
            </a:r>
            <a:r>
              <a:rPr lang="en-US" sz="2600" dirty="0"/>
              <a:t>is the largest element}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Some Example Algorithm Problems</a:t>
            </a:r>
          </a:p>
        </p:txBody>
      </p:sp>
      <p:sp>
        <p:nvSpPr>
          <p:cNvPr id="3" name="Content Placeholder 2"/>
          <p:cNvSpPr>
            <a:spLocks noGrp="1"/>
          </p:cNvSpPr>
          <p:nvPr>
            <p:ph idx="1"/>
          </p:nvPr>
        </p:nvSpPr>
        <p:spPr/>
        <p:txBody>
          <a:bodyPr/>
          <a:lstStyle/>
          <a:p>
            <a:r>
              <a:rPr lang="en-US" dirty="0"/>
              <a:t>Three classes of problems will be studied in this section.</a:t>
            </a:r>
          </a:p>
          <a:p>
            <a:pPr marL="880110" lvl="1" indent="-514350">
              <a:buFont typeface="+mj-lt"/>
              <a:buAutoNum type="arabicPeriod"/>
            </a:pPr>
            <a:r>
              <a:rPr lang="en-US" i="1" dirty="0"/>
              <a:t>Searching Problems</a:t>
            </a:r>
            <a:r>
              <a:rPr lang="en-US" dirty="0"/>
              <a:t>: finding the position of a particular element in </a:t>
            </a:r>
            <a:r>
              <a:rPr lang="en-US"/>
              <a:t>a  list.</a:t>
            </a:r>
            <a:endParaRPr lang="en-US" dirty="0"/>
          </a:p>
          <a:p>
            <a:pPr marL="880110" lvl="1" indent="-514350">
              <a:buFont typeface="+mj-lt"/>
              <a:buAutoNum type="arabicPeriod"/>
            </a:pPr>
            <a:r>
              <a:rPr lang="en-US" i="1" dirty="0"/>
              <a:t>Sorting problems</a:t>
            </a:r>
            <a:r>
              <a:rPr lang="en-US" dirty="0"/>
              <a:t>: putting the elements of a list into increasing order.</a:t>
            </a:r>
          </a:p>
          <a:p>
            <a:pPr marL="880110" lvl="1" indent="-514350">
              <a:buFont typeface="+mj-lt"/>
              <a:buAutoNum type="arabicPeriod"/>
            </a:pPr>
            <a:r>
              <a:rPr lang="en-US" i="1" dirty="0"/>
              <a:t>Optimization Problems</a:t>
            </a:r>
            <a:r>
              <a:rPr lang="en-US" dirty="0"/>
              <a:t>: determining the optimal value (maximum or minimum) of a particular quantity over all possible inputs.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Problems</a:t>
            </a:r>
          </a:p>
        </p:txBody>
      </p:sp>
      <p:sp>
        <p:nvSpPr>
          <p:cNvPr id="3" name="Content Placeholder 2"/>
          <p:cNvSpPr>
            <a:spLocks noGrp="1"/>
          </p:cNvSpPr>
          <p:nvPr>
            <p:ph idx="1"/>
          </p:nvPr>
        </p:nvSpPr>
        <p:spPr/>
        <p:txBody>
          <a:bodyPr>
            <a:normAutofit lnSpcReduction="10000"/>
          </a:bodyPr>
          <a:lstStyle/>
          <a:p>
            <a:pPr>
              <a:buNone/>
            </a:pPr>
            <a:r>
              <a:rPr lang="en-US" dirty="0"/>
              <a:t>   </a:t>
            </a:r>
            <a:r>
              <a:rPr lang="en-US" b="1" dirty="0"/>
              <a:t>Definition</a:t>
            </a:r>
            <a:r>
              <a:rPr lang="en-US" dirty="0"/>
              <a:t>: The general </a:t>
            </a:r>
            <a:r>
              <a:rPr lang="en-US" i="1" dirty="0"/>
              <a:t>searching problem </a:t>
            </a:r>
            <a:r>
              <a:rPr lang="en-US" dirty="0"/>
              <a:t>is to locate an element </a:t>
            </a:r>
            <a:r>
              <a:rPr lang="en-US" i="1" dirty="0"/>
              <a:t>x </a:t>
            </a:r>
            <a:r>
              <a:rPr lang="en-US" dirty="0"/>
              <a:t>in the list of distinct elements </a:t>
            </a:r>
            <a:r>
              <a:rPr lang="en-US" i="1" dirty="0"/>
              <a:t>a</a:t>
            </a:r>
            <a:r>
              <a:rPr lang="en-US" baseline="-25000" dirty="0"/>
              <a:t>1</a:t>
            </a:r>
            <a:r>
              <a:rPr lang="en-US" i="1" dirty="0"/>
              <a:t>,a</a:t>
            </a:r>
            <a:r>
              <a:rPr lang="en-US" baseline="-25000" dirty="0"/>
              <a:t>2</a:t>
            </a:r>
            <a:r>
              <a:rPr lang="en-US" i="1" dirty="0"/>
              <a:t>,...,a</a:t>
            </a:r>
            <a:r>
              <a:rPr lang="en-US" i="1" baseline="-25000" dirty="0"/>
              <a:t>n</a:t>
            </a:r>
            <a:r>
              <a:rPr lang="en-US" dirty="0"/>
              <a:t>, or determine that it is not in the list.</a:t>
            </a:r>
          </a:p>
          <a:p>
            <a:pPr lvl="1"/>
            <a:r>
              <a:rPr lang="en-US" dirty="0"/>
              <a:t>The solution to a searching problem is the location of the term in the list that equals </a:t>
            </a:r>
            <a:r>
              <a:rPr lang="en-US" i="1" dirty="0"/>
              <a:t>x </a:t>
            </a:r>
            <a:r>
              <a:rPr lang="en-US" dirty="0"/>
              <a:t>(that is, </a:t>
            </a:r>
            <a:r>
              <a:rPr lang="en-US" i="1" dirty="0" err="1"/>
              <a:t>i</a:t>
            </a:r>
            <a:r>
              <a:rPr lang="en-US" i="1" dirty="0"/>
              <a:t> </a:t>
            </a:r>
            <a:r>
              <a:rPr lang="en-US" dirty="0"/>
              <a:t>is the solution if  </a:t>
            </a:r>
            <a:r>
              <a:rPr lang="en-US" i="1" dirty="0"/>
              <a:t>x = </a:t>
            </a:r>
            <a:r>
              <a:rPr lang="en-US" i="1" dirty="0" err="1"/>
              <a:t>a</a:t>
            </a:r>
            <a:r>
              <a:rPr lang="en-US" i="1" baseline="-25000" dirty="0" err="1"/>
              <a:t>i</a:t>
            </a:r>
            <a:r>
              <a:rPr lang="en-US" dirty="0"/>
              <a:t>) or </a:t>
            </a:r>
            <a:r>
              <a:rPr lang="en-US" dirty="0">
                <a:latin typeface="Cambria Math" pitchFamily="18" charset="0"/>
                <a:ea typeface="Cambria Math" pitchFamily="18" charset="0"/>
              </a:rPr>
              <a:t>0</a:t>
            </a:r>
            <a:r>
              <a:rPr lang="en-US" i="1" dirty="0"/>
              <a:t> </a:t>
            </a:r>
            <a:r>
              <a:rPr lang="en-US" dirty="0"/>
              <a:t>if </a:t>
            </a:r>
            <a:r>
              <a:rPr lang="en-US" i="1" dirty="0"/>
              <a:t>x</a:t>
            </a:r>
            <a:r>
              <a:rPr lang="en-US" dirty="0"/>
              <a:t> is not in the list.</a:t>
            </a:r>
          </a:p>
          <a:p>
            <a:pPr lvl="1"/>
            <a:r>
              <a:rPr lang="en-US" dirty="0"/>
              <a:t>For example, a library might want to check to see if a patron is on a list of those with overdue books before allowing him/her to checkout another book.</a:t>
            </a:r>
          </a:p>
          <a:p>
            <a:pPr lvl="1"/>
            <a:r>
              <a:rPr lang="en-US" dirty="0"/>
              <a:t>We will study two different searching algorithms; linear search and binary search.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 Algorithm</a:t>
            </a:r>
          </a:p>
        </p:txBody>
      </p:sp>
      <p:sp>
        <p:nvSpPr>
          <p:cNvPr id="3" name="Content Placeholder 2"/>
          <p:cNvSpPr>
            <a:spLocks noGrp="1"/>
          </p:cNvSpPr>
          <p:nvPr>
            <p:ph idx="1"/>
          </p:nvPr>
        </p:nvSpPr>
        <p:spPr/>
        <p:txBody>
          <a:bodyPr/>
          <a:lstStyle/>
          <a:p>
            <a:r>
              <a:rPr lang="en-US" sz="1800" dirty="0"/>
              <a:t>The linear search algorithm locates an item in a list by examining elements in the sequence one at a time, starting at the beginning.</a:t>
            </a:r>
          </a:p>
          <a:p>
            <a:pPr lvl="1"/>
            <a:r>
              <a:rPr lang="en-US" sz="1800" dirty="0"/>
              <a:t>First compare </a:t>
            </a:r>
            <a:r>
              <a:rPr lang="en-US" sz="1800" i="1" dirty="0"/>
              <a:t>x</a:t>
            </a:r>
            <a:r>
              <a:rPr lang="en-US" sz="1800" dirty="0"/>
              <a:t> with </a:t>
            </a:r>
            <a:r>
              <a:rPr lang="en-US" sz="1800" i="1" dirty="0"/>
              <a:t>a</a:t>
            </a:r>
            <a:r>
              <a:rPr lang="en-US" sz="1800" baseline="-25000" dirty="0"/>
              <a:t>1</a:t>
            </a:r>
            <a:r>
              <a:rPr lang="en-US" sz="1800" dirty="0"/>
              <a:t>. If they are equal, return the position </a:t>
            </a:r>
            <a:r>
              <a:rPr lang="en-US" sz="1800" dirty="0">
                <a:latin typeface="Cambria Math" pitchFamily="18" charset="0"/>
                <a:ea typeface="Cambria Math" pitchFamily="18" charset="0"/>
              </a:rPr>
              <a:t>1</a:t>
            </a:r>
            <a:r>
              <a:rPr lang="en-US" sz="1800" dirty="0"/>
              <a:t>.</a:t>
            </a:r>
          </a:p>
          <a:p>
            <a:pPr lvl="1"/>
            <a:r>
              <a:rPr lang="en-US" sz="1800" dirty="0"/>
              <a:t>If not, try </a:t>
            </a:r>
            <a:r>
              <a:rPr lang="en-US" sz="1800" i="1" dirty="0"/>
              <a:t>a</a:t>
            </a:r>
            <a:r>
              <a:rPr lang="en-US" sz="1800" baseline="-25000" dirty="0"/>
              <a:t>2</a:t>
            </a:r>
            <a:r>
              <a:rPr lang="en-US" sz="1800" dirty="0"/>
              <a:t>. If </a:t>
            </a:r>
            <a:r>
              <a:rPr lang="en-US" sz="1800" i="1" dirty="0"/>
              <a:t>x = a</a:t>
            </a:r>
            <a:r>
              <a:rPr lang="en-US" sz="1800" baseline="-25000" dirty="0"/>
              <a:t>2</a:t>
            </a:r>
            <a:r>
              <a:rPr lang="en-US" sz="1800" dirty="0"/>
              <a:t>, return the position </a:t>
            </a:r>
            <a:r>
              <a:rPr lang="en-US" sz="1800" dirty="0">
                <a:latin typeface="Cambria Math" pitchFamily="18" charset="0"/>
                <a:ea typeface="Cambria Math" pitchFamily="18" charset="0"/>
              </a:rPr>
              <a:t>2</a:t>
            </a:r>
            <a:r>
              <a:rPr lang="en-US" sz="1800" dirty="0"/>
              <a:t>.</a:t>
            </a:r>
          </a:p>
          <a:p>
            <a:pPr lvl="1"/>
            <a:r>
              <a:rPr lang="en-US" sz="1800" dirty="0"/>
              <a:t>Keep going, and if no match is found when the entire list is scanned,   return </a:t>
            </a:r>
            <a:r>
              <a:rPr lang="en-US" sz="1800" dirty="0">
                <a:latin typeface="Cambria Math" pitchFamily="18" charset="0"/>
                <a:ea typeface="Cambria Math" pitchFamily="18" charset="0"/>
              </a:rPr>
              <a:t>0</a:t>
            </a:r>
            <a:r>
              <a:rPr lang="en-US" sz="1800" dirty="0"/>
              <a:t>.</a:t>
            </a:r>
          </a:p>
          <a:p>
            <a:pPr lvl="1"/>
            <a:endParaRPr lang="en-US" dirty="0"/>
          </a:p>
          <a:p>
            <a:pPr>
              <a:buNone/>
            </a:pPr>
            <a:endParaRPr lang="en-US" dirty="0"/>
          </a:p>
        </p:txBody>
      </p:sp>
      <p:sp>
        <p:nvSpPr>
          <p:cNvPr id="4" name="Content Placeholder 2"/>
          <p:cNvSpPr txBox="1">
            <a:spLocks/>
          </p:cNvSpPr>
          <p:nvPr/>
        </p:nvSpPr>
        <p:spPr>
          <a:xfrm>
            <a:off x="1371600" y="3810000"/>
            <a:ext cx="6781800" cy="2743200"/>
          </a:xfrm>
          <a:prstGeom prst="rect">
            <a:avLst/>
          </a:prstGeom>
          <a:ln>
            <a:solidFill>
              <a:schemeClr val="accent1"/>
            </a:solidFill>
          </a:ln>
        </p:spPr>
        <p:txBody>
          <a:bodyPr vert="horz">
            <a:normAutofit fontScale="77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linear</a:t>
            </a:r>
            <a:r>
              <a:rPr kumimoji="0" lang="en-US" sz="2600" b="0" i="1" u="none" strike="noStrike" kern="1200" cap="none" spc="0" normalizeH="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search</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:integer,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distinct integers)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while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Cambria Math"/>
                <a:ea typeface="Cambria Math"/>
              </a:rPr>
              <a:t>≤</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and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lvl="0" indent="-274320">
              <a:spcBef>
                <a:spcPct val="20000"/>
              </a:spcBef>
              <a:buClr>
                <a:schemeClr val="accent3"/>
              </a:buClr>
              <a:buSzPct val="95000"/>
            </a:pPr>
            <a:r>
              <a:rPr kumimoji="0" lang="en-US" sz="2600" b="1" i="0" u="none" strike="noStrike" kern="1200" cap="none" spc="0" normalizeH="0" baseline="0" noProof="0" dirty="0">
                <a:ln>
                  <a:noFill/>
                </a:ln>
                <a:solidFill>
                  <a:schemeClr val="tx1"/>
                </a:solidFill>
                <a:effectLst/>
                <a:uLnTx/>
                <a:uFillTx/>
                <a:latin typeface="+mn-lt"/>
                <a:ea typeface="+mn-ea"/>
                <a:cs typeface="+mn-cs"/>
              </a:rPr>
              <a:t>if</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dirty="0">
                <a:latin typeface="Cambria Math"/>
                <a:ea typeface="Cambria Math"/>
              </a:rPr>
              <a:t>≤</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then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else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0</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return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lang="en-US" sz="2600" dirty="0"/>
              <a:t>{</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u="none" strike="noStrike" kern="1200" cap="none" spc="0" normalizeH="0" baseline="0" noProof="0" dirty="0">
                <a:ln>
                  <a:noFill/>
                </a:ln>
                <a:solidFill>
                  <a:schemeClr val="tx1"/>
                </a:solidFill>
                <a:effectLst/>
                <a:uLnTx/>
                <a:uFillTx/>
                <a:latin typeface="+mn-lt"/>
                <a:ea typeface="+mn-ea"/>
                <a:cs typeface="+mn-cs"/>
              </a:rPr>
              <a:t> is the subscript of the term that equals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u="none" strike="noStrike" kern="1200" cap="none" spc="0" normalizeH="0" baseline="0" noProof="0" dirty="0">
                <a:ln>
                  <a:noFill/>
                </a:ln>
                <a:solidFill>
                  <a:schemeClr val="tx1"/>
                </a:solidFill>
                <a:effectLst/>
                <a:uLnTx/>
                <a:uFillTx/>
                <a:latin typeface="+mn-lt"/>
                <a:ea typeface="+mn-ea"/>
                <a:cs typeface="+mn-cs"/>
              </a:rPr>
              <a:t>, or is </a:t>
            </a:r>
            <a:r>
              <a:rPr kumimoji="0" lang="en-US" sz="2600" b="0" u="none" strike="noStrike" kern="1200" cap="none" spc="0" normalizeH="0" baseline="0" noProof="0" dirty="0">
                <a:ln>
                  <a:noFill/>
                </a:ln>
                <a:solidFill>
                  <a:schemeClr val="tx1"/>
                </a:solidFill>
                <a:effectLst/>
                <a:uLnTx/>
                <a:uFillTx/>
                <a:latin typeface="Cambria Math" pitchFamily="18" charset="0"/>
                <a:ea typeface="Cambria Math" pitchFamily="18" charset="0"/>
              </a:rPr>
              <a:t>0</a:t>
            </a:r>
            <a:r>
              <a:rPr kumimoji="0" lang="en-US" sz="2600" b="0" u="none" strike="noStrike" kern="1200" cap="none" spc="0" normalizeH="0" baseline="0" noProof="0" dirty="0">
                <a:ln>
                  <a:noFill/>
                </a:ln>
                <a:solidFill>
                  <a:schemeClr val="tx1"/>
                </a:solidFill>
                <a:effectLst/>
                <a:uLnTx/>
                <a:uFillTx/>
                <a:latin typeface="+mn-lt"/>
                <a:ea typeface="+mn-ea"/>
                <a:cs typeface="+mn-cs"/>
              </a:rPr>
              <a:t> if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u="none" strike="noStrike" kern="1200" cap="none" spc="0" normalizeH="0" baseline="0" noProof="0" dirty="0">
                <a:ln>
                  <a:noFill/>
                </a:ln>
                <a:solidFill>
                  <a:schemeClr val="tx1"/>
                </a:solidFill>
                <a:effectLst/>
                <a:uLnTx/>
                <a:uFillTx/>
                <a:latin typeface="+mn-lt"/>
                <a:ea typeface="+mn-ea"/>
                <a:cs typeface="+mn-cs"/>
              </a:rPr>
              <a:t> is not found}</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Content Placeholder 2"/>
          <p:cNvSpPr>
            <a:spLocks noGrp="1"/>
          </p:cNvSpPr>
          <p:nvPr>
            <p:ph idx="1"/>
          </p:nvPr>
        </p:nvSpPr>
        <p:spPr/>
        <p:txBody>
          <a:bodyPr>
            <a:normAutofit fontScale="85000" lnSpcReduction="20000"/>
          </a:bodyPr>
          <a:lstStyle/>
          <a:p>
            <a:r>
              <a:rPr lang="en-US" dirty="0"/>
              <a:t>Assume the input is a  list of items  in increasing order.</a:t>
            </a:r>
          </a:p>
          <a:p>
            <a:r>
              <a:rPr lang="en-US" dirty="0"/>
              <a:t>The algorithm begins by comparing the element to be found with the middle element. </a:t>
            </a:r>
          </a:p>
          <a:p>
            <a:pPr lvl="1"/>
            <a:r>
              <a:rPr lang="en-US" dirty="0"/>
              <a:t>If the middle element is lower, the search proceeds with the upper half of the list.</a:t>
            </a:r>
          </a:p>
          <a:p>
            <a:pPr lvl="1"/>
            <a:r>
              <a:rPr lang="en-US" dirty="0"/>
              <a:t>If it is not lower, the search proceeds with the lower half of the list (through the middle position).</a:t>
            </a:r>
          </a:p>
          <a:p>
            <a:r>
              <a:rPr lang="en-US" dirty="0"/>
              <a:t>Repeat this process until we have a list of size </a:t>
            </a:r>
            <a:r>
              <a:rPr lang="en-US" dirty="0">
                <a:latin typeface="Cambria Math" pitchFamily="18" charset="0"/>
                <a:ea typeface="Cambria Math" pitchFamily="18" charset="0"/>
              </a:rPr>
              <a:t>1</a:t>
            </a:r>
            <a:r>
              <a:rPr lang="en-US" dirty="0"/>
              <a:t>.</a:t>
            </a:r>
          </a:p>
          <a:p>
            <a:pPr lvl="1"/>
            <a:r>
              <a:rPr lang="en-US" dirty="0"/>
              <a:t>If the element we are looking for is equal to the element in the list, the position is returned.</a:t>
            </a:r>
          </a:p>
          <a:p>
            <a:pPr lvl="1"/>
            <a:r>
              <a:rPr lang="en-US" dirty="0"/>
              <a:t>Otherwise, </a:t>
            </a:r>
            <a:r>
              <a:rPr lang="en-US" dirty="0">
                <a:latin typeface="Cambria Math" pitchFamily="18" charset="0"/>
                <a:ea typeface="Cambria Math" pitchFamily="18" charset="0"/>
              </a:rPr>
              <a:t>0</a:t>
            </a:r>
            <a:r>
              <a:rPr lang="en-US" dirty="0"/>
              <a:t> is returned to indicate that the element was not found. </a:t>
            </a:r>
          </a:p>
          <a:p>
            <a:r>
              <a:rPr lang="en-US" dirty="0"/>
              <a:t>In Section </a:t>
            </a:r>
            <a:r>
              <a:rPr lang="en-US" dirty="0">
                <a:latin typeface="Cambria Math" pitchFamily="18" charset="0"/>
                <a:ea typeface="Cambria Math" pitchFamily="18" charset="0"/>
              </a:rPr>
              <a:t>3.3</a:t>
            </a:r>
            <a:r>
              <a:rPr lang="en-US" dirty="0"/>
              <a:t>, we show that the binary search algorithm is much more efficient than linear search.</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Content Placeholder 2"/>
          <p:cNvSpPr>
            <a:spLocks noGrp="1"/>
          </p:cNvSpPr>
          <p:nvPr>
            <p:ph idx="1"/>
          </p:nvPr>
        </p:nvSpPr>
        <p:spPr/>
        <p:txBody>
          <a:bodyPr/>
          <a:lstStyle/>
          <a:p>
            <a:r>
              <a:rPr lang="en-US" dirty="0"/>
              <a:t>Here is a description of the binary search algorithm in </a:t>
            </a:r>
            <a:r>
              <a:rPr lang="en-US" dirty="0" err="1"/>
              <a:t>pseudocode</a:t>
            </a:r>
            <a:r>
              <a:rPr lang="en-US" dirty="0"/>
              <a:t>. </a:t>
            </a:r>
          </a:p>
          <a:p>
            <a:pPr>
              <a:buNone/>
            </a:pPr>
            <a:endParaRPr lang="en-US" dirty="0"/>
          </a:p>
        </p:txBody>
      </p:sp>
      <p:sp>
        <p:nvSpPr>
          <p:cNvPr id="4" name="Content Placeholder 2"/>
          <p:cNvSpPr txBox="1">
            <a:spLocks/>
          </p:cNvSpPr>
          <p:nvPr/>
        </p:nvSpPr>
        <p:spPr>
          <a:xfrm>
            <a:off x="762000" y="3200400"/>
            <a:ext cx="8153400" cy="3124199"/>
          </a:xfrm>
          <a:prstGeom prst="rect">
            <a:avLst/>
          </a:prstGeom>
          <a:ln>
            <a:solidFill>
              <a:schemeClr val="accent1"/>
            </a:solidFill>
          </a:ln>
        </p:spPr>
        <p:txBody>
          <a:bodyPr vert="horz">
            <a:normAutofit fontScale="70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   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binary</a:t>
            </a:r>
            <a:r>
              <a:rPr kumimoji="0" lang="en-US" sz="2600" b="0" i="0" u="none" strike="noStrike" kern="1200" cap="none" spc="0" normalizeH="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mn-lt"/>
                <a:ea typeface="+mn-ea"/>
                <a:cs typeface="+mn-cs"/>
              </a:rPr>
              <a:t>search(</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 integer,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increasing integers)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is the left endpoint of interval}</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a:ln>
                  <a:noFill/>
                </a:ln>
                <a:solidFill>
                  <a:schemeClr val="tx1"/>
                </a:solidFill>
                <a:effectLst/>
                <a:uLnTx/>
                <a:uFillTx/>
                <a:latin typeface="+mn-lt"/>
                <a:ea typeface="+mn-ea"/>
                <a:cs typeface="+mn-cs"/>
              </a:rPr>
              <a:t>    j</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is right endpoint of interval}</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while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&lt;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p>
          <a:p>
            <a:pPr marL="274320" lvl="0" indent="-274320">
              <a:spcBef>
                <a:spcPct val="20000"/>
              </a:spcBef>
              <a:buClr>
                <a:schemeClr val="accent3"/>
              </a:buClr>
              <a:buSzPct val="95000"/>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a:ea typeface="Cambria Math"/>
              </a:rPr>
              <a:t>⌊</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)/2</a:t>
            </a:r>
            <a:r>
              <a:rPr lang="en-US" sz="2600" dirty="0">
                <a:latin typeface="Cambria Math"/>
                <a:ea typeface="Cambria Math"/>
              </a:rPr>
              <a: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if</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 &gt;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m</a:t>
            </a:r>
            <a:r>
              <a:rPr kumimoji="0" lang="en-US" sz="2600" b="0" i="0" u="none" strike="noStrike" kern="1200" cap="none" spc="0" normalizeH="0" baseline="0" noProof="0" dirty="0">
                <a:ln>
                  <a:noFill/>
                </a:ln>
                <a:solidFill>
                  <a:schemeClr val="tx1"/>
                </a:solidFill>
                <a:effectLst/>
                <a:uLnTx/>
                <a:uFillTx/>
                <a:latin typeface="+mn-lt"/>
                <a:ea typeface="+mn-ea"/>
                <a:cs typeface="+mn-cs"/>
              </a:rPr>
              <a:t> then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m</a:t>
            </a:r>
            <a:r>
              <a:rPr kumimoji="0" lang="en-US" sz="2600" b="0" i="0" u="none" strike="noStrike" kern="1200" cap="none" spc="0" normalizeH="0" baseline="0" noProof="0" dirty="0">
                <a:ln>
                  <a:noFill/>
                </a:ln>
                <a:solidFill>
                  <a:schemeClr val="tx1"/>
                </a:solidFill>
                <a:effectLst/>
                <a:uLnTx/>
                <a:uFillTx/>
                <a:latin typeface="+mn-lt"/>
                <a:ea typeface="+mn-ea"/>
                <a:cs typeface="+mn-cs"/>
              </a:rPr>
              <a:t> + 1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u="none" strike="noStrike" kern="1200" cap="none" spc="0" normalizeH="0" baseline="0" noProof="0" dirty="0">
                <a:ln>
                  <a:noFill/>
                </a:ln>
                <a:solidFill>
                  <a:schemeClr val="tx1"/>
                </a:solidFill>
                <a:effectLst/>
                <a:uLnTx/>
                <a:uFillTx/>
                <a:latin typeface="+mn-lt"/>
                <a:ea typeface="+mn-ea"/>
                <a:cs typeface="+mn-cs"/>
              </a:rPr>
              <a:t>else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if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then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else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0</a:t>
            </a:r>
            <a:endParaRPr lang="en-US" sz="2600" dirty="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return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u="none" strike="noStrike" kern="1200" cap="none" spc="0" normalizeH="0" baseline="0" noProof="0" dirty="0">
                <a:ln>
                  <a:noFill/>
                </a:ln>
                <a:solidFill>
                  <a:schemeClr val="tx1"/>
                </a:solidFill>
                <a:effectLst/>
                <a:uLnTx/>
                <a:uFillTx/>
                <a:latin typeface="+mn-lt"/>
                <a:ea typeface="+mn-ea"/>
                <a:cs typeface="+mn-cs"/>
              </a:rPr>
              <a:t>{location</a:t>
            </a:r>
            <a:r>
              <a:rPr kumimoji="0" lang="en-US" sz="2600" b="0" u="none" strike="noStrike" kern="1200" cap="none" spc="0" normalizeH="0" noProof="0" dirty="0">
                <a:ln>
                  <a:noFill/>
                </a:ln>
                <a:solidFill>
                  <a:schemeClr val="tx1"/>
                </a:solidFill>
                <a:effectLst/>
                <a:uLnTx/>
                <a:uFillTx/>
                <a:latin typeface="+mn-lt"/>
                <a:ea typeface="+mn-ea"/>
                <a:cs typeface="+mn-cs"/>
              </a:rPr>
              <a:t> is the subscript </a:t>
            </a:r>
            <a:r>
              <a:rPr kumimoji="0" lang="en-US" sz="2600" b="0" i="1" u="none" strike="noStrike" kern="1200" cap="none" spc="0" normalizeH="0" noProof="0" dirty="0" err="1">
                <a:ln>
                  <a:noFill/>
                </a:ln>
                <a:solidFill>
                  <a:schemeClr val="tx1"/>
                </a:solidFill>
                <a:effectLst/>
                <a:uLnTx/>
                <a:uFillTx/>
                <a:latin typeface="+mn-lt"/>
                <a:ea typeface="+mn-ea"/>
                <a:cs typeface="+mn-cs"/>
              </a:rPr>
              <a:t>i</a:t>
            </a:r>
            <a:r>
              <a:rPr kumimoji="0" lang="en-US" sz="2600" b="0" u="none" strike="noStrike" kern="1200" cap="none" spc="0" normalizeH="0" noProof="0" dirty="0">
                <a:ln>
                  <a:noFill/>
                </a:ln>
                <a:solidFill>
                  <a:schemeClr val="tx1"/>
                </a:solidFill>
                <a:effectLst/>
                <a:uLnTx/>
                <a:uFillTx/>
                <a:latin typeface="+mn-lt"/>
                <a:ea typeface="+mn-ea"/>
                <a:cs typeface="+mn-cs"/>
              </a:rPr>
              <a:t> of the term </a:t>
            </a:r>
            <a:r>
              <a:rPr lang="en-US" sz="2600" i="1" dirty="0" err="1"/>
              <a:t>a</a:t>
            </a:r>
            <a:r>
              <a:rPr lang="en-US" sz="2600" i="1" baseline="-25000" dirty="0" err="1"/>
              <a:t>i</a:t>
            </a:r>
            <a:r>
              <a:rPr lang="en-US" sz="2600" dirty="0"/>
              <a:t>  equal to </a:t>
            </a:r>
            <a:r>
              <a:rPr lang="en-US" sz="2600" i="1" dirty="0"/>
              <a:t>x</a:t>
            </a:r>
            <a:r>
              <a:rPr lang="en-US" sz="2600" dirty="0"/>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t>                                             or </a:t>
            </a:r>
            <a:r>
              <a:rPr lang="en-US" sz="2600" dirty="0">
                <a:latin typeface="Cambria Math" pitchFamily="18" charset="0"/>
                <a:ea typeface="Cambria Math" pitchFamily="18" charset="0"/>
              </a:rPr>
              <a:t>0</a:t>
            </a:r>
            <a:r>
              <a:rPr lang="en-US" sz="2600" dirty="0"/>
              <a:t> if </a:t>
            </a:r>
            <a:r>
              <a:rPr lang="en-US" sz="2600" i="1" dirty="0"/>
              <a:t>x</a:t>
            </a:r>
            <a:r>
              <a:rPr lang="en-US" sz="2600" dirty="0"/>
              <a:t> is not found}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Content Placeholder 2"/>
          <p:cNvSpPr>
            <a:spLocks noGrp="1"/>
          </p:cNvSpPr>
          <p:nvPr>
            <p:ph idx="1"/>
          </p:nvPr>
        </p:nvSpPr>
        <p:spPr/>
        <p:txBody>
          <a:bodyPr>
            <a:normAutofit fontScale="62500" lnSpcReduction="20000"/>
          </a:bodyPr>
          <a:lstStyle/>
          <a:p>
            <a:pPr>
              <a:buNone/>
            </a:pPr>
            <a:r>
              <a:rPr lang="en-US" dirty="0"/>
              <a:t>  </a:t>
            </a:r>
            <a:r>
              <a:rPr lang="en-US" b="1" dirty="0"/>
              <a:t>Example</a:t>
            </a:r>
            <a:r>
              <a:rPr lang="en-US" dirty="0"/>
              <a:t>: The steps taken by a binary search for </a:t>
            </a:r>
            <a:r>
              <a:rPr lang="en-US" dirty="0">
                <a:latin typeface="Cambria Math" pitchFamily="18" charset="0"/>
                <a:ea typeface="Cambria Math" pitchFamily="18" charset="0"/>
              </a:rPr>
              <a:t>19</a:t>
            </a:r>
            <a:r>
              <a:rPr lang="en-US" dirty="0"/>
              <a:t> in the list:</a:t>
            </a:r>
          </a:p>
          <a:p>
            <a:pPr>
              <a:buNone/>
            </a:pPr>
            <a:r>
              <a:rPr lang="en-US" dirty="0"/>
              <a:t>                    </a:t>
            </a:r>
            <a:r>
              <a:rPr lang="en-US" dirty="0">
                <a:solidFill>
                  <a:srgbClr val="FF0000"/>
                </a:solidFill>
                <a:latin typeface="Cambria Math" pitchFamily="18" charset="0"/>
                <a:ea typeface="Cambria Math" pitchFamily="18" charset="0"/>
              </a:rPr>
              <a:t>1  2  3  5  6  7  8  10  12  13  15  16  18  19  20  22</a:t>
            </a:r>
          </a:p>
          <a:p>
            <a:pPr marL="514350" indent="-514350">
              <a:buFont typeface="+mj-lt"/>
              <a:buAutoNum type="arabicPeriod"/>
            </a:pPr>
            <a:r>
              <a:rPr lang="en-US" dirty="0">
                <a:latin typeface="Cambria Math" pitchFamily="18" charset="0"/>
                <a:ea typeface="Cambria Math" pitchFamily="18" charset="0"/>
              </a:rPr>
              <a:t> The list has 16 elements, so the midpoint is 8. The value in the 8</a:t>
            </a:r>
            <a:r>
              <a:rPr lang="en-US" baseline="30000" dirty="0">
                <a:latin typeface="Cambria Math" pitchFamily="18" charset="0"/>
                <a:ea typeface="Cambria Math" pitchFamily="18" charset="0"/>
              </a:rPr>
              <a:t>th</a:t>
            </a:r>
            <a:r>
              <a:rPr lang="en-US" dirty="0">
                <a:latin typeface="Cambria Math" pitchFamily="18" charset="0"/>
                <a:ea typeface="Cambria Math" pitchFamily="18" charset="0"/>
              </a:rPr>
              <a:t> position is 10.  Since 19 &gt; 10,  further search is restricted to  positions 9</a:t>
            </a:r>
            <a:r>
              <a:rPr lang="en-US" baseline="30000" dirty="0">
                <a:latin typeface="Cambria Math" pitchFamily="18" charset="0"/>
                <a:ea typeface="Cambria Math" pitchFamily="18" charset="0"/>
              </a:rPr>
              <a:t>  </a:t>
            </a:r>
            <a:r>
              <a:rPr lang="en-US" dirty="0">
                <a:latin typeface="Cambria Math" pitchFamily="18" charset="0"/>
                <a:ea typeface="Cambria Math" pitchFamily="18" charset="0"/>
              </a:rPr>
              <a:t>through 16.</a:t>
            </a:r>
            <a:endParaRPr lang="en-US" dirty="0"/>
          </a:p>
          <a:p>
            <a:pPr>
              <a:buNone/>
            </a:pPr>
            <a:r>
              <a:rPr lang="en-US" dirty="0">
                <a:latin typeface="Cambria Math" pitchFamily="18" charset="0"/>
                <a:ea typeface="Cambria Math" pitchFamily="18" charset="0"/>
              </a:rPr>
              <a:t>                        1  2  3  5  6  7  8  10</a:t>
            </a:r>
            <a:r>
              <a:rPr lang="en-US" dirty="0">
                <a:solidFill>
                  <a:srgbClr val="FF0000"/>
                </a:solidFill>
                <a:latin typeface="Cambria Math" pitchFamily="18" charset="0"/>
                <a:ea typeface="Cambria Math" pitchFamily="18" charset="0"/>
              </a:rPr>
              <a:t>  12  13  15  16  18  19  20  22</a:t>
            </a:r>
            <a:endParaRPr lang="en-US" dirty="0">
              <a:latin typeface="Cambria Math" pitchFamily="18" charset="0"/>
              <a:ea typeface="Cambria Math" pitchFamily="18" charset="0"/>
            </a:endParaRPr>
          </a:p>
          <a:p>
            <a:pPr marL="514350" indent="-514350">
              <a:buFont typeface="+mj-lt"/>
              <a:buAutoNum type="arabicPeriod" startAt="2"/>
            </a:pPr>
            <a:r>
              <a:rPr lang="en-US" dirty="0">
                <a:latin typeface="Cambria Math" pitchFamily="18" charset="0"/>
                <a:ea typeface="Cambria Math" pitchFamily="18" charset="0"/>
              </a:rPr>
              <a:t>The midpoint of the list (positions 9 through 16)  is now  the 12</a:t>
            </a:r>
            <a:r>
              <a:rPr lang="en-US" baseline="30000" dirty="0">
                <a:latin typeface="Cambria Math" pitchFamily="18" charset="0"/>
                <a:ea typeface="Cambria Math" pitchFamily="18" charset="0"/>
              </a:rPr>
              <a:t>th</a:t>
            </a:r>
            <a:r>
              <a:rPr lang="en-US" dirty="0">
                <a:latin typeface="Cambria Math" pitchFamily="18" charset="0"/>
                <a:ea typeface="Cambria Math" pitchFamily="18" charset="0"/>
              </a:rPr>
              <a:t> position with a value of  16.    Since 19 &gt; 16,  further search is restricted to the 13</a:t>
            </a:r>
            <a:r>
              <a:rPr lang="en-US" baseline="30000" dirty="0">
                <a:latin typeface="Cambria Math" pitchFamily="18" charset="0"/>
                <a:ea typeface="Cambria Math" pitchFamily="18" charset="0"/>
              </a:rPr>
              <a:t>th</a:t>
            </a:r>
            <a:r>
              <a:rPr lang="en-US" dirty="0">
                <a:latin typeface="Cambria Math" pitchFamily="18" charset="0"/>
                <a:ea typeface="Cambria Math" pitchFamily="18" charset="0"/>
              </a:rPr>
              <a:t> position and above.</a:t>
            </a:r>
          </a:p>
          <a:p>
            <a:pPr>
              <a:buNone/>
            </a:pPr>
            <a:r>
              <a:rPr lang="en-US" dirty="0">
                <a:latin typeface="Cambria Math" pitchFamily="18" charset="0"/>
                <a:ea typeface="Cambria Math" pitchFamily="18" charset="0"/>
              </a:rPr>
              <a:t>                      1  2  3  5  6  7  8  10</a:t>
            </a:r>
            <a:r>
              <a:rPr lang="en-US" dirty="0">
                <a:solidFill>
                  <a:srgbClr val="FF0000"/>
                </a:solidFill>
                <a:latin typeface="Cambria Math" pitchFamily="18" charset="0"/>
                <a:ea typeface="Cambria Math" pitchFamily="18" charset="0"/>
              </a:rPr>
              <a:t>  </a:t>
            </a:r>
            <a:r>
              <a:rPr lang="en-US" dirty="0">
                <a:latin typeface="Cambria Math" pitchFamily="18" charset="0"/>
                <a:ea typeface="Cambria Math" pitchFamily="18" charset="0"/>
              </a:rPr>
              <a:t>12  13  15  16  </a:t>
            </a:r>
            <a:r>
              <a:rPr lang="en-US" dirty="0">
                <a:solidFill>
                  <a:srgbClr val="FF0000"/>
                </a:solidFill>
                <a:latin typeface="Cambria Math" pitchFamily="18" charset="0"/>
                <a:ea typeface="Cambria Math" pitchFamily="18" charset="0"/>
              </a:rPr>
              <a:t>18  19  20  22</a:t>
            </a:r>
            <a:endParaRPr lang="en-US" dirty="0">
              <a:latin typeface="Cambria Math" pitchFamily="18" charset="0"/>
              <a:ea typeface="Cambria Math" pitchFamily="18" charset="0"/>
            </a:endParaRPr>
          </a:p>
          <a:p>
            <a:pPr marL="514350" indent="-514350">
              <a:buFont typeface="+mj-lt"/>
              <a:buAutoNum type="arabicPeriod" startAt="3"/>
            </a:pPr>
            <a:r>
              <a:rPr lang="en-US" dirty="0">
                <a:latin typeface="Cambria Math" pitchFamily="18" charset="0"/>
                <a:ea typeface="Cambria Math" pitchFamily="18" charset="0"/>
              </a:rPr>
              <a:t>The midpoint  of the current list is now the 14</a:t>
            </a:r>
            <a:r>
              <a:rPr lang="en-US" baseline="30000" dirty="0">
                <a:latin typeface="Cambria Math" pitchFamily="18" charset="0"/>
                <a:ea typeface="Cambria Math" pitchFamily="18" charset="0"/>
              </a:rPr>
              <a:t>th</a:t>
            </a:r>
            <a:r>
              <a:rPr lang="en-US" dirty="0">
                <a:latin typeface="Cambria Math" pitchFamily="18" charset="0"/>
                <a:ea typeface="Cambria Math" pitchFamily="18" charset="0"/>
              </a:rPr>
              <a:t> position with a value of 19.  Since        19 ≯ 19,  further search is restricted to the portion from  the 13</a:t>
            </a:r>
            <a:r>
              <a:rPr lang="en-US" baseline="30000" dirty="0">
                <a:latin typeface="Cambria Math" pitchFamily="18" charset="0"/>
                <a:ea typeface="Cambria Math" pitchFamily="18" charset="0"/>
              </a:rPr>
              <a:t>th</a:t>
            </a:r>
            <a:r>
              <a:rPr lang="en-US" dirty="0">
                <a:latin typeface="Cambria Math" pitchFamily="18" charset="0"/>
                <a:ea typeface="Cambria Math" pitchFamily="18" charset="0"/>
              </a:rPr>
              <a:t> through the 14</a:t>
            </a:r>
            <a:r>
              <a:rPr lang="en-US" baseline="30000" dirty="0">
                <a:latin typeface="Cambria Math" pitchFamily="18" charset="0"/>
                <a:ea typeface="Cambria Math" pitchFamily="18" charset="0"/>
              </a:rPr>
              <a:t>th</a:t>
            </a:r>
            <a:r>
              <a:rPr lang="en-US" dirty="0">
                <a:latin typeface="Cambria Math" pitchFamily="18" charset="0"/>
                <a:ea typeface="Cambria Math" pitchFamily="18" charset="0"/>
              </a:rPr>
              <a:t> positions .</a:t>
            </a:r>
          </a:p>
          <a:p>
            <a:pPr>
              <a:buNone/>
            </a:pPr>
            <a:r>
              <a:rPr lang="en-US" dirty="0">
                <a:latin typeface="Cambria Math" pitchFamily="18" charset="0"/>
                <a:ea typeface="Cambria Math" pitchFamily="18" charset="0"/>
              </a:rPr>
              <a:t>                      1  2  3  5  6  7  8  10</a:t>
            </a:r>
            <a:r>
              <a:rPr lang="en-US" dirty="0">
                <a:solidFill>
                  <a:srgbClr val="FF0000"/>
                </a:solidFill>
                <a:latin typeface="Cambria Math" pitchFamily="18" charset="0"/>
                <a:ea typeface="Cambria Math" pitchFamily="18" charset="0"/>
              </a:rPr>
              <a:t>  </a:t>
            </a:r>
            <a:r>
              <a:rPr lang="en-US" dirty="0">
                <a:latin typeface="Cambria Math" pitchFamily="18" charset="0"/>
                <a:ea typeface="Cambria Math" pitchFamily="18" charset="0"/>
              </a:rPr>
              <a:t>12  13  15  16  </a:t>
            </a:r>
            <a:r>
              <a:rPr lang="en-US" dirty="0">
                <a:solidFill>
                  <a:srgbClr val="FF0000"/>
                </a:solidFill>
                <a:latin typeface="Cambria Math" pitchFamily="18" charset="0"/>
                <a:ea typeface="Cambria Math" pitchFamily="18" charset="0"/>
              </a:rPr>
              <a:t>18  19  </a:t>
            </a:r>
            <a:r>
              <a:rPr lang="en-US" dirty="0">
                <a:latin typeface="Cambria Math" pitchFamily="18" charset="0"/>
                <a:ea typeface="Cambria Math" pitchFamily="18" charset="0"/>
              </a:rPr>
              <a:t>20  22</a:t>
            </a:r>
          </a:p>
          <a:p>
            <a:pPr marL="514350" indent="-514350">
              <a:buFont typeface="+mj-lt"/>
              <a:buAutoNum type="arabicPeriod" startAt="4"/>
            </a:pPr>
            <a:r>
              <a:rPr lang="en-US" dirty="0">
                <a:latin typeface="Cambria Math" pitchFamily="18" charset="0"/>
                <a:ea typeface="Cambria Math" pitchFamily="18" charset="0"/>
              </a:rPr>
              <a:t>The midpoint of the current list  is now the 13</a:t>
            </a:r>
            <a:r>
              <a:rPr lang="en-US" baseline="30000" dirty="0">
                <a:latin typeface="Cambria Math" pitchFamily="18" charset="0"/>
                <a:ea typeface="Cambria Math" pitchFamily="18" charset="0"/>
              </a:rPr>
              <a:t>th</a:t>
            </a:r>
            <a:r>
              <a:rPr lang="en-US" dirty="0">
                <a:latin typeface="Cambria Math" pitchFamily="18" charset="0"/>
                <a:ea typeface="Cambria Math" pitchFamily="18" charset="0"/>
              </a:rPr>
              <a:t> position with a value of 18.               Since 19&gt; 18, search is restricted to the  portion from the 14</a:t>
            </a:r>
            <a:r>
              <a:rPr lang="en-US" baseline="30000" dirty="0">
                <a:latin typeface="Cambria Math" pitchFamily="18" charset="0"/>
                <a:ea typeface="Cambria Math" pitchFamily="18" charset="0"/>
              </a:rPr>
              <a:t>th</a:t>
            </a:r>
            <a:r>
              <a:rPr lang="en-US" dirty="0">
                <a:latin typeface="Cambria Math" pitchFamily="18" charset="0"/>
                <a:ea typeface="Cambria Math" pitchFamily="18" charset="0"/>
              </a:rPr>
              <a:t> position through </a:t>
            </a:r>
            <a:r>
              <a:rPr lang="en-US">
                <a:latin typeface="Cambria Math" pitchFamily="18" charset="0"/>
                <a:ea typeface="Cambria Math" pitchFamily="18" charset="0"/>
              </a:rPr>
              <a:t>the 14</a:t>
            </a:r>
            <a:r>
              <a:rPr lang="en-US" baseline="30000">
                <a:latin typeface="Cambria Math" pitchFamily="18" charset="0"/>
                <a:ea typeface="Cambria Math" pitchFamily="18" charset="0"/>
              </a:rPr>
              <a:t>th</a:t>
            </a:r>
            <a:r>
              <a:rPr lang="en-US" dirty="0">
                <a:latin typeface="Cambria Math" pitchFamily="18" charset="0"/>
                <a:ea typeface="Cambria Math" pitchFamily="18" charset="0"/>
              </a:rPr>
              <a:t>.</a:t>
            </a:r>
          </a:p>
          <a:p>
            <a:pPr>
              <a:buNone/>
            </a:pPr>
            <a:r>
              <a:rPr lang="en-US" dirty="0">
                <a:latin typeface="Cambria Math" pitchFamily="18" charset="0"/>
                <a:ea typeface="Cambria Math" pitchFamily="18" charset="0"/>
              </a:rPr>
              <a:t>                      1  2  3  5  6  7  8  10</a:t>
            </a:r>
            <a:r>
              <a:rPr lang="en-US" dirty="0">
                <a:solidFill>
                  <a:srgbClr val="FF0000"/>
                </a:solidFill>
                <a:latin typeface="Cambria Math" pitchFamily="18" charset="0"/>
                <a:ea typeface="Cambria Math" pitchFamily="18" charset="0"/>
              </a:rPr>
              <a:t>  </a:t>
            </a:r>
            <a:r>
              <a:rPr lang="en-US" dirty="0">
                <a:latin typeface="Cambria Math" pitchFamily="18" charset="0"/>
                <a:ea typeface="Cambria Math" pitchFamily="18" charset="0"/>
              </a:rPr>
              <a:t>12  13  15  16  18</a:t>
            </a:r>
            <a:r>
              <a:rPr lang="en-US" dirty="0">
                <a:solidFill>
                  <a:srgbClr val="FF0000"/>
                </a:solidFill>
                <a:latin typeface="Cambria Math" pitchFamily="18" charset="0"/>
                <a:ea typeface="Cambria Math" pitchFamily="18" charset="0"/>
              </a:rPr>
              <a:t>  19  </a:t>
            </a:r>
            <a:r>
              <a:rPr lang="en-US" dirty="0">
                <a:latin typeface="Cambria Math" pitchFamily="18" charset="0"/>
                <a:ea typeface="Cambria Math" pitchFamily="18" charset="0"/>
              </a:rPr>
              <a:t>20  22</a:t>
            </a:r>
          </a:p>
          <a:p>
            <a:pPr marL="514350" indent="-514350">
              <a:buFont typeface="+mj-lt"/>
              <a:buAutoNum type="arabicPeriod" startAt="5"/>
            </a:pPr>
            <a:r>
              <a:rPr lang="en-US" dirty="0">
                <a:latin typeface="Cambria Math" pitchFamily="18" charset="0"/>
                <a:ea typeface="Cambria Math" pitchFamily="18" charset="0"/>
              </a:rPr>
              <a:t>Now the list has a single element and the loop ends. Since 19=19, the location 14 is returned.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a:t>
            </a:r>
          </a:p>
        </p:txBody>
      </p:sp>
      <p:sp>
        <p:nvSpPr>
          <p:cNvPr id="3" name="Content Placeholder 2"/>
          <p:cNvSpPr>
            <a:spLocks noGrp="1"/>
          </p:cNvSpPr>
          <p:nvPr>
            <p:ph idx="1"/>
          </p:nvPr>
        </p:nvSpPr>
        <p:spPr/>
        <p:txBody>
          <a:bodyPr>
            <a:normAutofit fontScale="77500" lnSpcReduction="20000"/>
          </a:bodyPr>
          <a:lstStyle/>
          <a:p>
            <a:r>
              <a:rPr lang="en-US" dirty="0"/>
              <a:t>To </a:t>
            </a:r>
            <a:r>
              <a:rPr lang="en-US" i="1" dirty="0"/>
              <a:t>sort</a:t>
            </a:r>
            <a:r>
              <a:rPr lang="en-US" dirty="0"/>
              <a:t> the elements of a list is to put them in increasing order (numerical order, alphabetic, and so on).</a:t>
            </a:r>
          </a:p>
          <a:p>
            <a:r>
              <a:rPr lang="en-US" dirty="0"/>
              <a:t>Sorting is an important problem because:</a:t>
            </a:r>
          </a:p>
          <a:p>
            <a:pPr lvl="1"/>
            <a:r>
              <a:rPr lang="en-US" dirty="0"/>
              <a:t>A nontrivial percentage of all computing resources are devoted to sorting different kinds of lists, especially applications involving large databases of information that need to be presented in a particular order (e.g., by customer, part number etc.).</a:t>
            </a:r>
          </a:p>
          <a:p>
            <a:pPr lvl="1"/>
            <a:r>
              <a:rPr lang="en-US" dirty="0"/>
              <a:t>An amazing number of fundamentally different algorithms have been invented for sorting. Their relative advantages and disadvantages have been studied extensively.</a:t>
            </a:r>
          </a:p>
          <a:p>
            <a:pPr lvl="1"/>
            <a:r>
              <a:rPr lang="en-US" dirty="0"/>
              <a:t>Sorting algorithms are useful to illustrate the basic notions of computer science.</a:t>
            </a:r>
          </a:p>
          <a:p>
            <a:r>
              <a:rPr lang="en-US" dirty="0"/>
              <a:t>A variety of sorting algorithms are studied in this book; binary, insertion, bubble, selection, merge, quick, and tournament.</a:t>
            </a:r>
          </a:p>
          <a:p>
            <a:r>
              <a:rPr lang="en-US" dirty="0"/>
              <a:t>In Section </a:t>
            </a:r>
            <a:r>
              <a:rPr lang="en-US" dirty="0">
                <a:latin typeface="Cambria Math" pitchFamily="18" charset="0"/>
                <a:ea typeface="Cambria Math" pitchFamily="18" charset="0"/>
              </a:rPr>
              <a:t>3.3</a:t>
            </a:r>
            <a:r>
              <a:rPr lang="en-US" dirty="0"/>
              <a:t>, we’ll study the amount of time required to sort a list using the sorting algorithms covered in this section.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Content Placeholder 2"/>
          <p:cNvSpPr>
            <a:spLocks noGrp="1"/>
          </p:cNvSpPr>
          <p:nvPr>
            <p:ph idx="1"/>
          </p:nvPr>
        </p:nvSpPr>
        <p:spPr/>
        <p:txBody>
          <a:bodyPr/>
          <a:lstStyle/>
          <a:p>
            <a:r>
              <a:rPr lang="en-US" i="1" dirty="0"/>
              <a:t>Bubble sort </a:t>
            </a:r>
            <a:r>
              <a:rPr lang="en-US" dirty="0"/>
              <a:t>makes multiple passes through a list. Every pair of elements that are found to be out of order are interchanged.</a:t>
            </a:r>
          </a:p>
          <a:p>
            <a:endParaRPr lang="en-US" dirty="0"/>
          </a:p>
          <a:p>
            <a:endParaRPr lang="en-US" dirty="0"/>
          </a:p>
        </p:txBody>
      </p:sp>
      <p:sp>
        <p:nvSpPr>
          <p:cNvPr id="4" name="Content Placeholder 2"/>
          <p:cNvSpPr txBox="1">
            <a:spLocks/>
          </p:cNvSpPr>
          <p:nvPr/>
        </p:nvSpPr>
        <p:spPr>
          <a:xfrm>
            <a:off x="762000" y="3505200"/>
            <a:ext cx="6477000" cy="2438400"/>
          </a:xfrm>
          <a:prstGeom prst="rect">
            <a:avLst/>
          </a:prstGeom>
          <a:ln>
            <a:solidFill>
              <a:schemeClr val="accent1"/>
            </a:solidFill>
          </a:ln>
        </p:spPr>
        <p:txBody>
          <a:bodyPr vert="horz">
            <a:normAutofit fontScale="925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procedure</a:t>
            </a:r>
            <a:r>
              <a:rPr kumimoji="0" lang="en-US" sz="2600" b="1"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bubblesort</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real numbers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with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dirty="0"/>
              <a:t>≥</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a:t>i</a:t>
            </a:r>
            <a:r>
              <a:rPr kumimoji="0" lang="en-US" sz="2600" b="0" i="1"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1" u="none" strike="noStrike" kern="1200" cap="none" spc="0" normalizeH="0" baseline="0" noProof="0" dirty="0">
                <a:ln>
                  <a:noFill/>
                </a:ln>
                <a:solidFill>
                  <a:schemeClr val="tx1"/>
                </a:solidFill>
                <a:effectLst/>
                <a:uLnTx/>
                <a:uFillTx/>
                <a:latin typeface="Cambria Math"/>
                <a:ea typeface="Cambria Math"/>
              </a:rPr>
              <a:t>−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lvl="0" indent="-274320">
              <a:spcBef>
                <a:spcPct val="20000"/>
              </a:spcBef>
              <a:buClr>
                <a:schemeClr val="accent3"/>
              </a:buClr>
              <a:buSzPct val="95000"/>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lang="en-US" sz="2600" i="1" dirty="0">
                <a:latin typeface="Cambria Math"/>
                <a:ea typeface="Cambria Math"/>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if</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&gt;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j</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then</a:t>
            </a:r>
            <a:r>
              <a:rPr kumimoji="0" lang="en-US" sz="2600" b="0" i="0" u="none" strike="noStrike" kern="1200" cap="none" spc="0" normalizeH="0" baseline="0" noProof="0" dirty="0">
                <a:ln>
                  <a:noFill/>
                </a:ln>
                <a:solidFill>
                  <a:schemeClr val="tx1"/>
                </a:solidFill>
                <a:effectLst/>
                <a:uLnTx/>
                <a:uFillTx/>
                <a:latin typeface="+mn-lt"/>
                <a:ea typeface="+mn-ea"/>
                <a:cs typeface="+mn-cs"/>
              </a:rPr>
              <a:t> interchange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and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j</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is now in increasing order}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Content Placeholder 2"/>
          <p:cNvSpPr>
            <a:spLocks noGrp="1"/>
          </p:cNvSpPr>
          <p:nvPr>
            <p:ph idx="1"/>
          </p:nvPr>
        </p:nvSpPr>
        <p:spPr>
          <a:xfrm>
            <a:off x="304800" y="1981200"/>
            <a:ext cx="8229600" cy="4389120"/>
          </a:xfrm>
        </p:spPr>
        <p:txBody>
          <a:bodyPr>
            <a:normAutofit fontScale="85000" lnSpcReduction="20000"/>
          </a:bodyPr>
          <a:lstStyle/>
          <a:p>
            <a:pPr>
              <a:buNone/>
            </a:pPr>
            <a:r>
              <a:rPr lang="en-US" b="1" dirty="0"/>
              <a:t>   Example</a:t>
            </a:r>
            <a:r>
              <a:rPr lang="en-US" dirty="0"/>
              <a:t>:  Show the steps of bubble sort with  </a:t>
            </a:r>
            <a:r>
              <a:rPr lang="en-US" dirty="0">
                <a:latin typeface="Cambria Math" pitchFamily="18" charset="0"/>
                <a:ea typeface="Cambria Math" pitchFamily="18" charset="0"/>
              </a:rPr>
              <a:t>3  2  4  1  5</a:t>
            </a: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r>
              <a:rPr lang="en-US" sz="1900" dirty="0">
                <a:latin typeface="Cambria Math" pitchFamily="18" charset="0"/>
                <a:ea typeface="Cambria Math" pitchFamily="18" charset="0"/>
              </a:rPr>
              <a:t>At the first pass the largest element has been put into the correct position</a:t>
            </a:r>
          </a:p>
          <a:p>
            <a:r>
              <a:rPr lang="en-US" sz="1900" dirty="0">
                <a:latin typeface="Cambria Math" pitchFamily="18" charset="0"/>
                <a:ea typeface="Cambria Math" pitchFamily="18" charset="0"/>
              </a:rPr>
              <a:t>At the end of the second pass, the 2</a:t>
            </a:r>
            <a:r>
              <a:rPr lang="en-US" sz="1900" baseline="30000" dirty="0">
                <a:latin typeface="Cambria Math" pitchFamily="18" charset="0"/>
                <a:ea typeface="Cambria Math" pitchFamily="18" charset="0"/>
              </a:rPr>
              <a:t>nd</a:t>
            </a:r>
            <a:r>
              <a:rPr lang="en-US" sz="1900" dirty="0">
                <a:latin typeface="Cambria Math" pitchFamily="18" charset="0"/>
                <a:ea typeface="Cambria Math" pitchFamily="18" charset="0"/>
              </a:rPr>
              <a:t> largest element has been put into the correct position.</a:t>
            </a:r>
          </a:p>
          <a:p>
            <a:r>
              <a:rPr lang="en-US" sz="1900" dirty="0">
                <a:latin typeface="Cambria Math" pitchFamily="18" charset="0"/>
                <a:ea typeface="Cambria Math" pitchFamily="18" charset="0"/>
              </a:rPr>
              <a:t>In each subsequent pass, an additional element is put in the correct position.</a:t>
            </a:r>
          </a:p>
          <a:p>
            <a:endParaRPr lang="en-US" dirty="0"/>
          </a:p>
        </p:txBody>
      </p:sp>
      <p:pic>
        <p:nvPicPr>
          <p:cNvPr id="7" name="Content Placeholder 3" descr="0302.jpg"/>
          <p:cNvPicPr>
            <a:picLocks noChangeAspect="1"/>
          </p:cNvPicPr>
          <p:nvPr/>
        </p:nvPicPr>
        <p:blipFill>
          <a:blip r:embed="rId2" cstate="print"/>
          <a:stretch>
            <a:fillRect/>
          </a:stretch>
        </p:blipFill>
        <p:spPr>
          <a:xfrm>
            <a:off x="914400" y="2514600"/>
            <a:ext cx="6251024" cy="263113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Content Placeholder 2"/>
          <p:cNvSpPr>
            <a:spLocks noGrp="1"/>
          </p:cNvSpPr>
          <p:nvPr>
            <p:ph idx="1"/>
          </p:nvPr>
        </p:nvSpPr>
        <p:spPr/>
        <p:txBody>
          <a:bodyPr/>
          <a:lstStyle/>
          <a:p>
            <a:r>
              <a:rPr lang="en-US" sz="2000" i="1" dirty="0"/>
              <a:t>Insertion sort </a:t>
            </a:r>
            <a:r>
              <a:rPr lang="en-US" sz="2000" dirty="0"/>
              <a:t>begins with the </a:t>
            </a:r>
            <a:r>
              <a:rPr lang="en-US" sz="2000" dirty="0">
                <a:latin typeface="Cambria Math" pitchFamily="18" charset="0"/>
                <a:ea typeface="Cambria Math" pitchFamily="18" charset="0"/>
              </a:rPr>
              <a:t>2</a:t>
            </a:r>
            <a:r>
              <a:rPr lang="en-US" sz="2000" baseline="30000" dirty="0"/>
              <a:t>nd</a:t>
            </a:r>
            <a:r>
              <a:rPr lang="en-US" sz="2000" dirty="0"/>
              <a:t> element. It compares the </a:t>
            </a:r>
            <a:r>
              <a:rPr lang="en-US" sz="2000" dirty="0">
                <a:latin typeface="Cambria Math" pitchFamily="18" charset="0"/>
                <a:ea typeface="Cambria Math" pitchFamily="18" charset="0"/>
              </a:rPr>
              <a:t>2</a:t>
            </a:r>
            <a:r>
              <a:rPr lang="en-US" sz="2000" baseline="30000" dirty="0"/>
              <a:t>nd</a:t>
            </a:r>
            <a:r>
              <a:rPr lang="en-US" sz="2000" dirty="0"/>
              <a:t> element with the </a:t>
            </a:r>
            <a:r>
              <a:rPr lang="en-US" sz="2000" dirty="0">
                <a:latin typeface="Cambria Math" pitchFamily="18" charset="0"/>
                <a:ea typeface="Cambria Math" pitchFamily="18" charset="0"/>
              </a:rPr>
              <a:t>1</a:t>
            </a:r>
            <a:r>
              <a:rPr lang="en-US" sz="2000" baseline="30000" dirty="0"/>
              <a:t>st</a:t>
            </a:r>
            <a:r>
              <a:rPr lang="en-US" sz="2000" dirty="0"/>
              <a:t> and puts it before the first if it is not larger.</a:t>
            </a:r>
          </a:p>
          <a:p>
            <a:pPr>
              <a:buNone/>
            </a:pPr>
            <a:endParaRPr lang="en-US" dirty="0"/>
          </a:p>
        </p:txBody>
      </p:sp>
      <p:sp>
        <p:nvSpPr>
          <p:cNvPr id="4" name="Content Placeholder 2"/>
          <p:cNvSpPr txBox="1">
            <a:spLocks/>
          </p:cNvSpPr>
          <p:nvPr/>
        </p:nvSpPr>
        <p:spPr>
          <a:xfrm>
            <a:off x="4953000" y="2590800"/>
            <a:ext cx="4038600" cy="3810000"/>
          </a:xfrm>
          <a:prstGeom prst="rect">
            <a:avLst/>
          </a:prstGeom>
          <a:ln>
            <a:solidFill>
              <a:schemeClr val="accent1"/>
            </a:solidFill>
          </a:ln>
        </p:spPr>
        <p:txBody>
          <a:bodyPr vert="horz">
            <a:normAutofit fontScale="25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8000" b="1" dirty="0"/>
              <a:t>procedure</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a:ln>
                  <a:noFill/>
                </a:ln>
                <a:solidFill>
                  <a:schemeClr val="tx1"/>
                </a:solidFill>
                <a:effectLst/>
                <a:uLnTx/>
                <a:uFillTx/>
                <a:latin typeface="+mn-lt"/>
                <a:ea typeface="+mn-ea"/>
                <a:cs typeface="+mn-cs"/>
              </a:rPr>
              <a:t>insertion</a:t>
            </a:r>
            <a:r>
              <a:rPr kumimoji="0" lang="en-US" sz="8000" b="0" i="1" u="none" strike="noStrike" kern="1200" cap="none" spc="0" normalizeH="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a:ln>
                  <a:noFill/>
                </a:ln>
                <a:solidFill>
                  <a:schemeClr val="tx1"/>
                </a:solidFill>
                <a:effectLst/>
                <a:uLnTx/>
                <a:uFillTx/>
                <a:latin typeface="+mn-lt"/>
                <a:ea typeface="+mn-ea"/>
                <a:cs typeface="+mn-cs"/>
              </a:rPr>
              <a:t>sort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8000" i="1" dirty="0"/>
              <a:t>  </a:t>
            </a:r>
            <a:r>
              <a:rPr kumimoji="0" lang="en-US" sz="8000" b="0" i="0" u="none" strike="noStrike" kern="1200" cap="none" spc="0" normalizeH="0" baseline="0" noProof="0" dirty="0">
                <a:ln>
                  <a:noFill/>
                </a:ln>
                <a:solidFill>
                  <a:schemeClr val="tx1"/>
                </a:solidFill>
                <a:effectLst/>
                <a:uLnTx/>
                <a:uFillTx/>
                <a:latin typeface="+mn-lt"/>
                <a:ea typeface="+mn-ea"/>
                <a:cs typeface="+mn-cs"/>
              </a:rPr>
              <a:t>(</a:t>
            </a:r>
            <a:r>
              <a:rPr kumimoji="0" lang="en-US" sz="8000" b="0" i="1" u="none" strike="noStrike" kern="1200" cap="none" spc="0" normalizeH="0" baseline="0" noProof="0" dirty="0">
                <a:ln>
                  <a:noFill/>
                </a:ln>
                <a:solidFill>
                  <a:schemeClr val="tx1"/>
                </a:solidFill>
                <a:effectLst/>
                <a:uLnTx/>
                <a:uFillTx/>
                <a:latin typeface="+mn-lt"/>
                <a:ea typeface="+mn-ea"/>
                <a:cs typeface="+mn-cs"/>
              </a:rPr>
              <a:t>a</a:t>
            </a:r>
            <a:r>
              <a:rPr kumimoji="0" lang="en-US" sz="8000" b="0" i="0" u="none" strike="noStrike" kern="1200" cap="none" spc="0" normalizeH="0" baseline="-25000" noProof="0" dirty="0">
                <a:ln>
                  <a:noFill/>
                </a:ln>
                <a:solidFill>
                  <a:schemeClr val="tx1"/>
                </a:solidFill>
                <a:effectLst/>
                <a:uLnTx/>
                <a:uFillTx/>
                <a:latin typeface="+mn-lt"/>
                <a:ea typeface="+mn-ea"/>
                <a:cs typeface="+mn-cs"/>
              </a:rPr>
              <a:t>1</a:t>
            </a:r>
            <a:r>
              <a:rPr kumimoji="0" lang="en-US" sz="8000" b="0" i="0" u="none" strike="noStrike" kern="1200" cap="none" spc="0" normalizeH="0" baseline="0" noProof="0" dirty="0">
                <a:ln>
                  <a:noFill/>
                </a:ln>
                <a:solidFill>
                  <a:schemeClr val="tx1"/>
                </a:solidFill>
                <a:effectLst/>
                <a:uLnTx/>
                <a:uFillTx/>
                <a:latin typeface="+mn-lt"/>
                <a:ea typeface="+mn-ea"/>
                <a:cs typeface="+mn-cs"/>
              </a:rPr>
              <a:t>,…,</a:t>
            </a:r>
            <a:r>
              <a:rPr kumimoji="0" lang="en-US" sz="8000" b="0" i="1" u="none" strike="noStrike" kern="1200" cap="none" spc="0" normalizeH="0" baseline="0" noProof="0" dirty="0">
                <a:ln>
                  <a:noFill/>
                </a:ln>
                <a:solidFill>
                  <a:schemeClr val="tx1"/>
                </a:solidFill>
                <a:effectLst/>
                <a:uLnTx/>
                <a:uFillTx/>
                <a:latin typeface="+mn-lt"/>
                <a:ea typeface="+mn-ea"/>
                <a:cs typeface="+mn-cs"/>
              </a:rPr>
              <a:t>a</a:t>
            </a:r>
            <a:r>
              <a:rPr kumimoji="0" lang="en-US" sz="8000" b="0" i="1" u="none" strike="noStrike" kern="1200" cap="none" spc="0" normalizeH="0" baseline="-25000" noProof="0" dirty="0">
                <a:ln>
                  <a:noFill/>
                </a:ln>
                <a:solidFill>
                  <a:schemeClr val="tx1"/>
                </a:solidFill>
                <a:effectLst/>
                <a:uLnTx/>
                <a:uFillTx/>
                <a:latin typeface="+mn-lt"/>
                <a:ea typeface="+mn-ea"/>
                <a:cs typeface="+mn-cs"/>
              </a:rPr>
              <a:t>n</a:t>
            </a:r>
            <a:r>
              <a:rPr kumimoji="0" lang="en-US" sz="80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8000" dirty="0"/>
              <a:t>      </a:t>
            </a:r>
            <a:r>
              <a:rPr kumimoji="0" lang="en-US" sz="8000" b="0" i="0" u="none" strike="noStrike" kern="1200" cap="none" spc="0" normalizeH="0" baseline="0" noProof="0" dirty="0">
                <a:ln>
                  <a:noFill/>
                </a:ln>
                <a:solidFill>
                  <a:schemeClr val="tx1"/>
                </a:solidFill>
                <a:effectLst/>
                <a:uLnTx/>
                <a:uFillTx/>
                <a:latin typeface="+mn-lt"/>
                <a:ea typeface="+mn-ea"/>
                <a:cs typeface="+mn-cs"/>
              </a:rPr>
              <a:t>real numbers with </a:t>
            </a:r>
            <a:r>
              <a:rPr kumimoji="0" lang="en-US" sz="8000" b="0" i="1" u="none" strike="noStrike" kern="1200" cap="none" spc="0" normalizeH="0" baseline="0" noProof="0" dirty="0">
                <a:ln>
                  <a:noFill/>
                </a:ln>
                <a:solidFill>
                  <a:schemeClr val="tx1"/>
                </a:solidFill>
                <a:effectLst/>
                <a:uLnTx/>
                <a:uFillTx/>
                <a:latin typeface="+mn-lt"/>
                <a:ea typeface="+mn-ea"/>
                <a:cs typeface="+mn-cs"/>
              </a:rPr>
              <a:t>n</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lang="en-US" sz="8000" dirty="0"/>
              <a:t>≥</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2</a:t>
            </a:r>
            <a:r>
              <a:rPr kumimoji="0" lang="en-US" sz="80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1" i="0" u="none" strike="noStrike" kern="1200" cap="none" spc="0" normalizeH="0" baseline="0" noProof="0" dirty="0">
                <a:ln>
                  <a:noFill/>
                </a:ln>
                <a:solidFill>
                  <a:schemeClr val="tx1"/>
                </a:solidFill>
                <a:effectLst/>
                <a:uLnTx/>
                <a:uFillTx/>
                <a:latin typeface="+mn-lt"/>
                <a:ea typeface="+mn-ea"/>
                <a:cs typeface="+mn-cs"/>
              </a:rPr>
              <a:t>     for </a:t>
            </a:r>
            <a:r>
              <a:rPr kumimoji="0" lang="en-US" sz="8000" b="0" i="1" u="none" strike="noStrike" kern="1200" cap="none" spc="0" normalizeH="0" baseline="0" noProof="0" dirty="0">
                <a:ln>
                  <a:noFill/>
                </a:ln>
                <a:solidFill>
                  <a:schemeClr val="tx1"/>
                </a:solidFill>
                <a:effectLst/>
                <a:uLnTx/>
                <a:uFillTx/>
                <a:latin typeface="+mn-lt"/>
                <a:ea typeface="+mn-ea"/>
                <a:cs typeface="+mn-cs"/>
              </a:rPr>
              <a:t>j</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2</a:t>
            </a:r>
            <a:r>
              <a:rPr kumimoji="0" lang="en-US" sz="8000" b="0" i="0" u="none" strike="noStrike" kern="1200" cap="none" spc="0" normalizeH="0" baseline="0" noProof="0" dirty="0">
                <a:ln>
                  <a:noFill/>
                </a:ln>
                <a:solidFill>
                  <a:schemeClr val="tx1"/>
                </a:solidFill>
                <a:effectLst/>
                <a:uLnTx/>
                <a:uFillTx/>
                <a:latin typeface="+mn-lt"/>
                <a:ea typeface="+mn-ea"/>
                <a:cs typeface="+mn-cs"/>
              </a:rPr>
              <a:t> to </a:t>
            </a:r>
            <a:r>
              <a:rPr kumimoji="0" lang="en-US" sz="8000" b="0" i="1" u="none" strike="noStrike" kern="1200" cap="none" spc="0" normalizeH="0" baseline="0" noProof="0" dirty="0">
                <a:ln>
                  <a:noFill/>
                </a:ln>
                <a:solidFill>
                  <a:schemeClr val="tx1"/>
                </a:solidFill>
                <a:effectLst/>
                <a:uLnTx/>
                <a:uFillTx/>
                <a:latin typeface="+mn-lt"/>
                <a:ea typeface="+mn-ea"/>
                <a:cs typeface="+mn-cs"/>
              </a:rPr>
              <a:t>n</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i</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1" i="0" u="none" strike="noStrike" kern="1200" cap="none" spc="0" normalizeH="0" baseline="0" noProof="0" dirty="0">
                <a:ln>
                  <a:noFill/>
                </a:ln>
                <a:solidFill>
                  <a:schemeClr val="tx1"/>
                </a:solidFill>
                <a:effectLst/>
                <a:uLnTx/>
                <a:uFillTx/>
                <a:latin typeface="+mn-lt"/>
                <a:ea typeface="+mn-ea"/>
                <a:cs typeface="+mn-cs"/>
              </a:rPr>
              <a:t>while</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j</a:t>
            </a:r>
            <a:r>
              <a:rPr kumimoji="0" lang="en-US" sz="8000" b="0" i="0" u="none" strike="noStrike" kern="1200" cap="none" spc="0" normalizeH="0" baseline="0" noProof="0" dirty="0">
                <a:ln>
                  <a:noFill/>
                </a:ln>
                <a:solidFill>
                  <a:schemeClr val="tx1"/>
                </a:solidFill>
                <a:effectLst/>
                <a:uLnTx/>
                <a:uFillTx/>
                <a:latin typeface="+mn-lt"/>
                <a:ea typeface="+mn-ea"/>
                <a:cs typeface="+mn-cs"/>
              </a:rPr>
              <a:t> &gt;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i</a:t>
            </a:r>
            <a:endParaRPr kumimoji="0" lang="en-US" sz="80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i</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1" u="none" strike="noStrike" kern="1200" cap="none" spc="0" normalizeH="0" baseline="0" noProof="0" dirty="0" err="1">
                <a:ln>
                  <a:noFill/>
                </a:ln>
                <a:solidFill>
                  <a:schemeClr val="tx1"/>
                </a:solidFill>
                <a:effectLst/>
                <a:uLnTx/>
                <a:uFillTx/>
                <a:latin typeface="+mn-lt"/>
                <a:ea typeface="+mn-ea"/>
                <a:cs typeface="+mn-cs"/>
              </a:rPr>
              <a:t>i</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a:ln>
                  <a:noFill/>
                </a:ln>
                <a:solidFill>
                  <a:schemeClr val="tx1"/>
                </a:solidFill>
                <a:effectLst/>
                <a:uLnTx/>
                <a:uFillTx/>
                <a:latin typeface="+mn-lt"/>
                <a:ea typeface="+mn-ea"/>
                <a:cs typeface="+mn-cs"/>
              </a:rPr>
              <a:t>m</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j</a:t>
            </a:r>
            <a:endParaRPr kumimoji="0" lang="en-US" sz="8000" b="0" i="1" u="none" strike="noStrike" kern="1200" cap="none" spc="0" normalizeH="0" baseline="-25000" noProof="0" dirty="0">
              <a:ln>
                <a:noFill/>
              </a:ln>
              <a:solidFill>
                <a:schemeClr val="tx1"/>
              </a:solidFill>
              <a:effectLst/>
              <a:uLnTx/>
              <a:uFillTx/>
              <a:latin typeface="+mn-lt"/>
              <a:ea typeface="+mn-ea"/>
              <a:cs typeface="+mn-cs"/>
            </a:endParaRPr>
          </a:p>
          <a:p>
            <a:pPr marL="274320" lvl="0" indent="-274320">
              <a:spcBef>
                <a:spcPct val="20000"/>
              </a:spcBef>
              <a:buClr>
                <a:schemeClr val="accent3"/>
              </a:buClr>
              <a:buSzPct val="95000"/>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1" i="0" u="none" strike="noStrike" kern="1200" cap="none" spc="0" normalizeH="0" baseline="0" noProof="0" dirty="0">
                <a:ln>
                  <a:noFill/>
                </a:ln>
                <a:solidFill>
                  <a:schemeClr val="tx1"/>
                </a:solidFill>
                <a:effectLst/>
                <a:uLnTx/>
                <a:uFillTx/>
                <a:latin typeface="+mn-lt"/>
                <a:ea typeface="+mn-ea"/>
                <a:cs typeface="+mn-cs"/>
              </a:rPr>
              <a:t>for</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a:ln>
                  <a:noFill/>
                </a:ln>
                <a:solidFill>
                  <a:schemeClr val="tx1"/>
                </a:solidFill>
                <a:effectLst/>
                <a:uLnTx/>
                <a:uFillTx/>
                <a:latin typeface="+mn-lt"/>
                <a:ea typeface="+mn-ea"/>
                <a:cs typeface="+mn-cs"/>
              </a:rPr>
              <a:t>k</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0</a:t>
            </a:r>
            <a:r>
              <a:rPr kumimoji="0" lang="en-US" sz="8000" b="0" i="0" u="none" strike="noStrike" kern="1200" cap="none" spc="0" normalizeH="0" baseline="0" noProof="0" dirty="0">
                <a:ln>
                  <a:noFill/>
                </a:ln>
                <a:solidFill>
                  <a:schemeClr val="tx1"/>
                </a:solidFill>
                <a:effectLst/>
                <a:uLnTx/>
                <a:uFillTx/>
                <a:latin typeface="+mn-lt"/>
                <a:ea typeface="+mn-ea"/>
                <a:cs typeface="+mn-cs"/>
              </a:rPr>
              <a:t> to </a:t>
            </a:r>
            <a:r>
              <a:rPr kumimoji="0" lang="en-US" sz="8000" b="0" i="1" u="none" strike="noStrike" kern="1200" cap="none" spc="0" normalizeH="0" baseline="0" noProof="0" dirty="0">
                <a:ln>
                  <a:noFill/>
                </a:ln>
                <a:solidFill>
                  <a:schemeClr val="tx1"/>
                </a:solidFill>
                <a:effectLst/>
                <a:uLnTx/>
                <a:uFillTx/>
                <a:latin typeface="+mn-lt"/>
                <a:ea typeface="+mn-ea"/>
                <a:cs typeface="+mn-cs"/>
              </a:rPr>
              <a:t>j</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0" u="none" strike="noStrike" kern="1200" cap="none" spc="0" normalizeH="0" baseline="0" noProof="0" dirty="0">
                <a:ln>
                  <a:noFill/>
                </a:ln>
                <a:solidFill>
                  <a:schemeClr val="tx1"/>
                </a:solidFill>
                <a:effectLst/>
                <a:uLnTx/>
                <a:uFillTx/>
                <a:latin typeface="Cambria Math"/>
                <a:ea typeface="Cambria Math"/>
              </a:rPr>
              <a:t>−</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i</a:t>
            </a:r>
            <a:r>
              <a:rPr kumimoji="0" lang="en-US" sz="8000" b="0" i="1" u="none" strike="noStrike" kern="1200" cap="none" spc="0" normalizeH="0" baseline="0" noProof="0" dirty="0">
                <a:ln>
                  <a:noFill/>
                </a:ln>
                <a:solidFill>
                  <a:schemeClr val="tx1"/>
                </a:solidFill>
                <a:effectLst/>
                <a:uLnTx/>
                <a:uFillTx/>
                <a:latin typeface="+mn-lt"/>
                <a:ea typeface="+mn-ea"/>
                <a:cs typeface="+mn-cs"/>
              </a:rPr>
              <a:t> </a:t>
            </a:r>
            <a:r>
              <a:rPr lang="en-US" sz="8000" dirty="0">
                <a:latin typeface="Cambria Math"/>
                <a:ea typeface="Cambria Math"/>
              </a:rPr>
              <a:t>−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j</a:t>
            </a:r>
            <a:r>
              <a:rPr kumimoji="0" lang="en-US" sz="8000" b="0" u="none" strike="noStrike" kern="1200" cap="none" spc="0" normalizeH="0" baseline="-25000" noProof="0" dirty="0">
                <a:ln>
                  <a:noFill/>
                </a:ln>
                <a:solidFill>
                  <a:schemeClr val="tx1"/>
                </a:solidFill>
                <a:effectLst/>
                <a:uLnTx/>
                <a:uFillTx/>
                <a:latin typeface="+mn-lt"/>
                <a:ea typeface="+mn-ea"/>
                <a:cs typeface="+mn-cs"/>
              </a:rPr>
              <a:t>-</a:t>
            </a:r>
            <a:r>
              <a:rPr kumimoji="0" lang="en-US" sz="8000" b="0" i="1" u="none" strike="noStrike" kern="1200" cap="none" spc="0" normalizeH="0" baseline="-25000" noProof="0" dirty="0">
                <a:ln>
                  <a:noFill/>
                </a:ln>
                <a:solidFill>
                  <a:schemeClr val="tx1"/>
                </a:solidFill>
                <a:effectLst/>
                <a:uLnTx/>
                <a:uFillTx/>
                <a:latin typeface="+mn-lt"/>
                <a:ea typeface="+mn-ea"/>
                <a:cs typeface="+mn-cs"/>
              </a:rPr>
              <a:t>k</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1" u="none" strike="noStrike" kern="1200" cap="none" spc="0" normalizeH="0" baseline="0" noProof="0" dirty="0">
                <a:ln>
                  <a:noFill/>
                </a:ln>
                <a:solidFill>
                  <a:schemeClr val="tx1"/>
                </a:solidFill>
                <a:effectLst/>
                <a:uLnTx/>
                <a:uFillTx/>
                <a:latin typeface="+mn-lt"/>
                <a:ea typeface="+mn-ea"/>
                <a:cs typeface="+mn-cs"/>
              </a:rPr>
              <a:t>a</a:t>
            </a:r>
            <a:r>
              <a:rPr kumimoji="0" lang="en-US" sz="8000" b="0" i="1" u="none" strike="noStrike" kern="1200" cap="none" spc="0" normalizeH="0" baseline="-25000" noProof="0" dirty="0">
                <a:ln>
                  <a:noFill/>
                </a:ln>
                <a:solidFill>
                  <a:schemeClr val="tx1"/>
                </a:solidFill>
                <a:effectLst/>
                <a:uLnTx/>
                <a:uFillTx/>
                <a:latin typeface="+mn-lt"/>
                <a:ea typeface="+mn-ea"/>
                <a:cs typeface="+mn-cs"/>
              </a:rPr>
              <a:t>j</a:t>
            </a:r>
            <a:r>
              <a:rPr kumimoji="0" lang="en-US" sz="8000" b="0" u="none" strike="noStrike" kern="1200" cap="none" spc="0" normalizeH="0" baseline="-25000" noProof="0" dirty="0">
                <a:ln>
                  <a:noFill/>
                </a:ln>
                <a:solidFill>
                  <a:schemeClr val="tx1"/>
                </a:solidFill>
                <a:effectLst/>
                <a:uLnTx/>
                <a:uFillTx/>
                <a:latin typeface="+mn-lt"/>
                <a:ea typeface="+mn-ea"/>
                <a:cs typeface="+mn-cs"/>
              </a:rPr>
              <a:t>-</a:t>
            </a:r>
            <a:r>
              <a:rPr kumimoji="0" lang="en-US" sz="8000" b="0" i="1" u="none" strike="noStrike" kern="1200" cap="none" spc="0" normalizeH="0" baseline="-25000" noProof="0" dirty="0">
                <a:ln>
                  <a:noFill/>
                </a:ln>
                <a:solidFill>
                  <a:schemeClr val="tx1"/>
                </a:solidFill>
                <a:effectLst/>
                <a:uLnTx/>
                <a:uFillTx/>
                <a:latin typeface="+mn-lt"/>
                <a:ea typeface="+mn-ea"/>
                <a:cs typeface="+mn-cs"/>
              </a:rPr>
              <a:t>k-1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i</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1" u="none" strike="noStrike" kern="1200" cap="none" spc="0" normalizeH="0" baseline="0" noProof="0" dirty="0">
                <a:ln>
                  <a:noFill/>
                </a:ln>
                <a:solidFill>
                  <a:schemeClr val="tx1"/>
                </a:solidFill>
                <a:effectLst/>
                <a:uLnTx/>
                <a:uFillTx/>
                <a:latin typeface="+mn-lt"/>
                <a:ea typeface="+mn-ea"/>
                <a:cs typeface="+mn-cs"/>
              </a:rPr>
              <a:t>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8000" dirty="0"/>
              <a:t>{</a:t>
            </a:r>
            <a:r>
              <a:rPr kumimoji="0" lang="en-US" sz="8000" b="0" i="0" u="none" strike="noStrike" kern="1200" cap="none" spc="0" normalizeH="0" baseline="0" noProof="0" dirty="0">
                <a:ln>
                  <a:noFill/>
                </a:ln>
                <a:solidFill>
                  <a:schemeClr val="tx1"/>
                </a:solidFill>
                <a:effectLst/>
                <a:uLnTx/>
                <a:uFillTx/>
                <a:latin typeface="+mn-lt"/>
                <a:ea typeface="+mn-ea"/>
                <a:cs typeface="+mn-cs"/>
              </a:rPr>
              <a:t>Now </a:t>
            </a:r>
            <a:r>
              <a:rPr kumimoji="0" lang="en-US" sz="8000" b="0" i="1" u="none" strike="noStrike" kern="1200" cap="none" spc="0" normalizeH="0" baseline="0" noProof="0" dirty="0">
                <a:ln>
                  <a:noFill/>
                </a:ln>
                <a:solidFill>
                  <a:schemeClr val="tx1"/>
                </a:solidFill>
                <a:effectLst/>
                <a:uLnTx/>
                <a:uFillTx/>
                <a:latin typeface="+mn-lt"/>
                <a:ea typeface="+mn-ea"/>
                <a:cs typeface="+mn-cs"/>
              </a:rPr>
              <a:t>a</a:t>
            </a:r>
            <a:r>
              <a:rPr kumimoji="0" lang="en-US" sz="8000" b="0" i="0" u="none" strike="noStrike" kern="1200" cap="none" spc="0" normalizeH="0" baseline="-25000" noProof="0" dirty="0">
                <a:ln>
                  <a:noFill/>
                </a:ln>
                <a:solidFill>
                  <a:schemeClr val="tx1"/>
                </a:solidFill>
                <a:effectLst/>
                <a:uLnTx/>
                <a:uFillTx/>
                <a:latin typeface="+mn-lt"/>
                <a:ea typeface="+mn-ea"/>
                <a:cs typeface="+mn-cs"/>
              </a:rPr>
              <a:t>1</a:t>
            </a:r>
            <a:r>
              <a:rPr kumimoji="0" lang="en-US" sz="8000" b="0" i="0" u="none" strike="noStrike" kern="1200" cap="none" spc="0" normalizeH="0" baseline="0" noProof="0" dirty="0">
                <a:ln>
                  <a:noFill/>
                </a:ln>
                <a:solidFill>
                  <a:schemeClr val="tx1"/>
                </a:solidFill>
                <a:effectLst/>
                <a:uLnTx/>
                <a:uFillTx/>
                <a:latin typeface="+mn-lt"/>
                <a:ea typeface="+mn-ea"/>
                <a:cs typeface="+mn-cs"/>
              </a:rPr>
              <a:t>,…,</a:t>
            </a:r>
            <a:r>
              <a:rPr kumimoji="0" lang="en-US" sz="8000" b="0" i="1" u="none" strike="noStrike" kern="1200" cap="none" spc="0" normalizeH="0" baseline="0" noProof="0" dirty="0">
                <a:ln>
                  <a:noFill/>
                </a:ln>
                <a:solidFill>
                  <a:schemeClr val="tx1"/>
                </a:solidFill>
                <a:effectLst/>
                <a:uLnTx/>
                <a:uFillTx/>
                <a:latin typeface="+mn-lt"/>
                <a:ea typeface="+mn-ea"/>
                <a:cs typeface="+mn-cs"/>
              </a:rPr>
              <a:t>a</a:t>
            </a:r>
            <a:r>
              <a:rPr kumimoji="0" lang="en-US" sz="8000" b="0" i="1" u="none" strike="noStrike" kern="1200" cap="none" spc="0" normalizeH="0" baseline="-25000" noProof="0" dirty="0">
                <a:ln>
                  <a:noFill/>
                </a:ln>
                <a:solidFill>
                  <a:schemeClr val="tx1"/>
                </a:solidFill>
                <a:effectLst/>
                <a:uLnTx/>
                <a:uFillTx/>
                <a:latin typeface="+mn-lt"/>
                <a:ea typeface="+mn-ea"/>
                <a:cs typeface="+mn-cs"/>
              </a:rPr>
              <a:t>n</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lang="en-US" sz="8000" dirty="0"/>
              <a:t>is in increasing order}</a:t>
            </a:r>
            <a:endParaRPr kumimoji="0" lang="en-US" sz="80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p>
        </p:txBody>
      </p:sp>
      <p:sp>
        <p:nvSpPr>
          <p:cNvPr id="5" name="TextBox 4"/>
          <p:cNvSpPr txBox="1"/>
          <p:nvPr/>
        </p:nvSpPr>
        <p:spPr>
          <a:xfrm>
            <a:off x="1066800" y="2895600"/>
            <a:ext cx="3657600" cy="2585323"/>
          </a:xfrm>
          <a:prstGeom prst="rect">
            <a:avLst/>
          </a:prstGeom>
          <a:noFill/>
        </p:spPr>
        <p:txBody>
          <a:bodyPr wrap="square" rtlCol="0">
            <a:spAutoFit/>
          </a:bodyPr>
          <a:lstStyle/>
          <a:p>
            <a:pPr>
              <a:buClr>
                <a:schemeClr val="tx2">
                  <a:lumMod val="60000"/>
                  <a:lumOff val="40000"/>
                </a:schemeClr>
              </a:buClr>
              <a:buFont typeface="Arial" pitchFamily="34" charset="0"/>
              <a:buChar char="•"/>
            </a:pPr>
            <a:r>
              <a:rPr lang="en-US" dirty="0"/>
              <a:t>Next the 3</a:t>
            </a:r>
            <a:r>
              <a:rPr lang="en-US" baseline="30000" dirty="0"/>
              <a:t>rd</a:t>
            </a:r>
            <a:r>
              <a:rPr lang="en-US" dirty="0"/>
              <a:t> element is put into the correct position among the first 3 elements. </a:t>
            </a:r>
          </a:p>
          <a:p>
            <a:pPr>
              <a:buClr>
                <a:schemeClr val="tx2">
                  <a:lumMod val="60000"/>
                  <a:lumOff val="40000"/>
                </a:schemeClr>
              </a:buClr>
              <a:buFont typeface="Arial" pitchFamily="34" charset="0"/>
              <a:buChar char="•"/>
            </a:pPr>
            <a:r>
              <a:rPr lang="en-US" dirty="0"/>
              <a:t>In each subsequent pass, the </a:t>
            </a:r>
            <a:r>
              <a:rPr lang="en-US" i="1" dirty="0"/>
              <a:t>n</a:t>
            </a:r>
            <a:r>
              <a:rPr lang="en-US" dirty="0"/>
              <a:t>+</a:t>
            </a:r>
            <a:r>
              <a:rPr lang="en-US" dirty="0">
                <a:latin typeface="Cambria Math" pitchFamily="18" charset="0"/>
                <a:ea typeface="Cambria Math" pitchFamily="18" charset="0"/>
              </a:rPr>
              <a:t>1</a:t>
            </a:r>
            <a:r>
              <a:rPr lang="en-US" baseline="30000" dirty="0"/>
              <a:t>st</a:t>
            </a:r>
            <a:r>
              <a:rPr lang="en-US" dirty="0"/>
              <a:t> element is put into its correct position among the first </a:t>
            </a:r>
            <a:r>
              <a:rPr lang="en-US" i="1" dirty="0"/>
              <a:t>n</a:t>
            </a:r>
            <a:r>
              <a:rPr lang="en-US" dirty="0"/>
              <a:t>+</a:t>
            </a:r>
            <a:r>
              <a:rPr lang="en-US" dirty="0">
                <a:latin typeface="Cambria Math" pitchFamily="18" charset="0"/>
                <a:ea typeface="Cambria Math" pitchFamily="18" charset="0"/>
              </a:rPr>
              <a:t>1</a:t>
            </a:r>
            <a:r>
              <a:rPr lang="en-US" dirty="0"/>
              <a:t> elements.</a:t>
            </a:r>
          </a:p>
          <a:p>
            <a:pPr>
              <a:buClr>
                <a:schemeClr val="tx2">
                  <a:lumMod val="60000"/>
                  <a:lumOff val="40000"/>
                </a:schemeClr>
              </a:buClr>
              <a:buFont typeface="Arial" pitchFamily="34" charset="0"/>
              <a:buChar char="•"/>
            </a:pPr>
            <a:r>
              <a:rPr lang="en-US" dirty="0"/>
              <a:t>Linear search is used to find the correct position.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Content Placeholder 2"/>
          <p:cNvSpPr>
            <a:spLocks noGrp="1"/>
          </p:cNvSpPr>
          <p:nvPr>
            <p:ph idx="1"/>
          </p:nvPr>
        </p:nvSpPr>
        <p:spPr/>
        <p:txBody>
          <a:bodyPr/>
          <a:lstStyle/>
          <a:p>
            <a:pPr>
              <a:buNone/>
            </a:pPr>
            <a:r>
              <a:rPr lang="en-US" b="1" dirty="0"/>
              <a:t>  Example</a:t>
            </a:r>
            <a:r>
              <a:rPr lang="en-US" dirty="0"/>
              <a:t>: Show all the steps of  insertion sort with the input:  </a:t>
            </a:r>
            <a:r>
              <a:rPr lang="en-US" dirty="0">
                <a:latin typeface="Cambria Math" pitchFamily="18" charset="0"/>
                <a:ea typeface="Cambria Math" pitchFamily="18" charset="0"/>
              </a:rPr>
              <a:t>3  2  4  1  5</a:t>
            </a:r>
          </a:p>
          <a:p>
            <a:pPr marL="571500" indent="-571500">
              <a:buFont typeface="+mj-lt"/>
              <a:buAutoNum type="romanLcPeriod"/>
            </a:pPr>
            <a:r>
              <a:rPr lang="en-US" dirty="0">
                <a:solidFill>
                  <a:srgbClr val="FF0000"/>
                </a:solidFill>
                <a:latin typeface="Cambria Math" pitchFamily="18" charset="0"/>
                <a:ea typeface="Cambria Math" pitchFamily="18" charset="0"/>
              </a:rPr>
              <a:t>2  3</a:t>
            </a:r>
            <a:r>
              <a:rPr lang="en-US" dirty="0">
                <a:latin typeface="Cambria Math" pitchFamily="18" charset="0"/>
                <a:ea typeface="Cambria Math" pitchFamily="18" charset="0"/>
              </a:rPr>
              <a:t>  4  1  5   (</a:t>
            </a:r>
            <a:r>
              <a:rPr lang="en-US" i="1" dirty="0">
                <a:ea typeface="Cambria Math" pitchFamily="18" charset="0"/>
              </a:rPr>
              <a:t>first two positions are interchanged</a:t>
            </a:r>
            <a:r>
              <a:rPr lang="en-US" dirty="0">
                <a:ea typeface="Cambria Math" pitchFamily="18" charset="0"/>
              </a:rPr>
              <a:t>)</a:t>
            </a:r>
          </a:p>
          <a:p>
            <a:pPr marL="571500" indent="-571500">
              <a:buFont typeface="+mj-lt"/>
              <a:buAutoNum type="romanLcPeriod"/>
            </a:pPr>
            <a:r>
              <a:rPr lang="en-US" dirty="0">
                <a:solidFill>
                  <a:srgbClr val="FF0000"/>
                </a:solidFill>
                <a:latin typeface="Cambria Math" pitchFamily="18" charset="0"/>
                <a:ea typeface="Cambria Math" pitchFamily="18" charset="0"/>
              </a:rPr>
              <a:t>2  3</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4</a:t>
            </a:r>
            <a:r>
              <a:rPr lang="en-US" dirty="0">
                <a:latin typeface="Cambria Math" pitchFamily="18" charset="0"/>
                <a:ea typeface="Cambria Math" pitchFamily="18" charset="0"/>
              </a:rPr>
              <a:t>  1  5   (</a:t>
            </a:r>
            <a:r>
              <a:rPr lang="en-US" i="1" dirty="0">
                <a:latin typeface="Cambria Math" pitchFamily="18" charset="0"/>
                <a:ea typeface="Cambria Math" pitchFamily="18" charset="0"/>
              </a:rPr>
              <a:t>third</a:t>
            </a:r>
            <a:r>
              <a:rPr lang="en-US" i="1" dirty="0">
                <a:ea typeface="Cambria Math" pitchFamily="18" charset="0"/>
              </a:rPr>
              <a:t> element remains in its position</a:t>
            </a:r>
            <a:r>
              <a:rPr lang="en-US" dirty="0">
                <a:ea typeface="Cambria Math" pitchFamily="18" charset="0"/>
              </a:rPr>
              <a:t>)</a:t>
            </a:r>
            <a:r>
              <a:rPr lang="en-US" i="1" dirty="0">
                <a:ea typeface="Cambria Math" pitchFamily="18" charset="0"/>
              </a:rPr>
              <a:t> </a:t>
            </a:r>
            <a:r>
              <a:rPr lang="en-US" i="1" dirty="0">
                <a:latin typeface="Cambria Math" pitchFamily="18" charset="0"/>
                <a:ea typeface="Cambria Math" pitchFamily="18" charset="0"/>
              </a:rPr>
              <a:t>            </a:t>
            </a:r>
          </a:p>
          <a:p>
            <a:pPr marL="571500" indent="-571500">
              <a:buFont typeface="+mj-lt"/>
              <a:buAutoNum type="romanLcPeriod"/>
            </a:pPr>
            <a:r>
              <a:rPr lang="en-US" dirty="0">
                <a:solidFill>
                  <a:srgbClr val="FF0000"/>
                </a:solidFill>
                <a:latin typeface="Cambria Math" pitchFamily="18" charset="0"/>
                <a:ea typeface="Cambria Math" pitchFamily="18" charset="0"/>
              </a:rPr>
              <a:t>1 2  3</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4</a:t>
            </a:r>
            <a:r>
              <a:rPr lang="en-US" dirty="0">
                <a:latin typeface="Cambria Math" pitchFamily="18" charset="0"/>
                <a:ea typeface="Cambria Math" pitchFamily="18" charset="0"/>
              </a:rPr>
              <a:t>  5    (</a:t>
            </a:r>
            <a:r>
              <a:rPr lang="en-US" i="1" dirty="0">
                <a:ea typeface="Cambria Math" pitchFamily="18" charset="0"/>
              </a:rPr>
              <a:t>fourth is placed at beginning</a:t>
            </a:r>
            <a:r>
              <a:rPr lang="en-US" dirty="0">
                <a:ea typeface="Cambria Math" pitchFamily="18" charset="0"/>
              </a:rPr>
              <a:t>)</a:t>
            </a:r>
          </a:p>
          <a:p>
            <a:pPr marL="571500" indent="-571500">
              <a:buFont typeface="+mj-lt"/>
              <a:buAutoNum type="romanLcPeriod"/>
            </a:pPr>
            <a:r>
              <a:rPr lang="en-US" dirty="0">
                <a:solidFill>
                  <a:srgbClr val="FF0000"/>
                </a:solidFill>
                <a:latin typeface="Cambria Math" pitchFamily="18" charset="0"/>
                <a:ea typeface="Cambria Math" pitchFamily="18" charset="0"/>
              </a:rPr>
              <a:t>1 2  3</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4</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5     </a:t>
            </a:r>
            <a:r>
              <a:rPr lang="en-US" dirty="0">
                <a:latin typeface="Cambria Math" pitchFamily="18" charset="0"/>
                <a:ea typeface="Cambria Math" pitchFamily="18" charset="0"/>
              </a:rPr>
              <a:t>(</a:t>
            </a:r>
            <a:r>
              <a:rPr lang="en-US" i="1" dirty="0">
                <a:latin typeface="Cambria Math" pitchFamily="18" charset="0"/>
                <a:ea typeface="Cambria Math" pitchFamily="18" charset="0"/>
              </a:rPr>
              <a:t>fifth </a:t>
            </a:r>
            <a:r>
              <a:rPr lang="en-US" i="1" dirty="0">
                <a:ea typeface="Cambria Math" pitchFamily="18" charset="0"/>
              </a:rPr>
              <a:t> element remains in its position</a:t>
            </a:r>
            <a:r>
              <a:rPr lang="en-US" dirty="0">
                <a:ea typeface="Cambria Math" pitchFamily="18" charset="0"/>
              </a:rPr>
              <a:t>)</a:t>
            </a:r>
          </a:p>
          <a:p>
            <a:pPr marL="571500" indent="-571500">
              <a:buFont typeface="+mj-lt"/>
              <a:buAutoNum type="romanLcPeriod"/>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Algorithms</a:t>
            </a:r>
          </a:p>
        </p:txBody>
      </p:sp>
      <p:sp>
        <p:nvSpPr>
          <p:cNvPr id="3" name="Content Placeholder 2"/>
          <p:cNvSpPr>
            <a:spLocks noGrp="1"/>
          </p:cNvSpPr>
          <p:nvPr>
            <p:ph idx="1"/>
          </p:nvPr>
        </p:nvSpPr>
        <p:spPr/>
        <p:txBody>
          <a:bodyPr>
            <a:normAutofit fontScale="70000" lnSpcReduction="20000"/>
          </a:bodyPr>
          <a:lstStyle/>
          <a:p>
            <a:r>
              <a:rPr lang="en-US" i="1" dirty="0"/>
              <a:t>Optimization problems</a:t>
            </a:r>
            <a:r>
              <a:rPr lang="en-US" dirty="0"/>
              <a:t> minimize or maximize some parameter over all possible inputs.</a:t>
            </a:r>
          </a:p>
          <a:p>
            <a:r>
              <a:rPr lang="en-US" dirty="0"/>
              <a:t>Among the many optimization problems we will study are:</a:t>
            </a:r>
          </a:p>
          <a:p>
            <a:pPr lvl="1"/>
            <a:r>
              <a:rPr lang="en-US" dirty="0"/>
              <a:t>Finding a route between two cities with the smallest total mileage.</a:t>
            </a:r>
          </a:p>
          <a:p>
            <a:pPr lvl="1"/>
            <a:r>
              <a:rPr lang="en-US" dirty="0"/>
              <a:t>Determining how to encode messages using the fewest possible bits.</a:t>
            </a:r>
          </a:p>
          <a:p>
            <a:pPr lvl="1"/>
            <a:r>
              <a:rPr lang="en-US" dirty="0"/>
              <a:t>Finding the fiber links between network nodes using the least amount of fiber.</a:t>
            </a:r>
          </a:p>
          <a:p>
            <a:r>
              <a:rPr lang="en-US" dirty="0"/>
              <a:t>Optimization problems can often be solved using a </a:t>
            </a:r>
            <a:r>
              <a:rPr lang="en-US" i="1" dirty="0"/>
              <a:t>greedy algorithm</a:t>
            </a:r>
            <a:r>
              <a:rPr lang="en-US" dirty="0"/>
              <a:t>, which makes the “best” choice at each step. Making the “best choice” at each step does not necessarily produce an optimal solution to the overall problem, but in many instances, it does. </a:t>
            </a:r>
          </a:p>
          <a:p>
            <a:r>
              <a:rPr lang="en-US" dirty="0"/>
              <a:t>After specifying what the “best choice” at each step is, we try to prove that this approach always produces an optimal solution, or find a counterexample to show that it does not.</a:t>
            </a:r>
          </a:p>
          <a:p>
            <a:r>
              <a:rPr lang="en-US" dirty="0"/>
              <a:t>The greedy approach to solving problems is an example of an algorithmic paradigm, which is a general approach for designing an algorithm. We return to algorithmic paradigms in Section </a:t>
            </a:r>
            <a:r>
              <a:rPr lang="en-US" dirty="0">
                <a:latin typeface="Cambria Math" pitchFamily="18" charset="0"/>
                <a:ea typeface="Cambria Math" pitchFamily="18" charset="0"/>
              </a:rPr>
              <a:t>3.3.</a:t>
            </a:r>
            <a:r>
              <a:rPr lang="en-US" dirty="0"/>
              <a:t> </a:t>
            </a:r>
          </a:p>
          <a:p>
            <a:endParaRPr lang="en-US" dirty="0"/>
          </a:p>
        </p:txBody>
      </p:sp>
      <p:pic>
        <p:nvPicPr>
          <p:cNvPr id="4" name="Picture 2" descr="C:\Documents and Settings\Richard Scherl\Local Settings\Temporary Internet Files\Content.IE5\LDENBJPR\MC900441922[1].wmf"/>
          <p:cNvPicPr>
            <a:picLocks noChangeAspect="1" noChangeArrowheads="1"/>
          </p:cNvPicPr>
          <p:nvPr/>
        </p:nvPicPr>
        <p:blipFill>
          <a:blip r:embed="rId2" cstate="print"/>
          <a:srcRect/>
          <a:stretch>
            <a:fillRect/>
          </a:stretch>
        </p:blipFill>
        <p:spPr bwMode="auto">
          <a:xfrm>
            <a:off x="5674584" y="533400"/>
            <a:ext cx="1891441" cy="13716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Scheduling</a:t>
            </a:r>
          </a:p>
        </p:txBody>
      </p:sp>
      <p:sp>
        <p:nvSpPr>
          <p:cNvPr id="3" name="Content Placeholder 2"/>
          <p:cNvSpPr>
            <a:spLocks noGrp="1"/>
          </p:cNvSpPr>
          <p:nvPr>
            <p:ph idx="1"/>
          </p:nvPr>
        </p:nvSpPr>
        <p:spPr/>
        <p:txBody>
          <a:bodyPr/>
          <a:lstStyle/>
          <a:p>
            <a:r>
              <a:rPr lang="en-US" dirty="0"/>
              <a:t>Picking the shortest talk doesn’t work.</a:t>
            </a:r>
          </a:p>
          <a:p>
            <a:endParaRPr lang="en-US" dirty="0"/>
          </a:p>
          <a:p>
            <a:endParaRPr lang="en-US" dirty="0"/>
          </a:p>
          <a:p>
            <a:endParaRPr lang="en-US" dirty="0"/>
          </a:p>
          <a:p>
            <a:endParaRPr lang="en-US" dirty="0"/>
          </a:p>
          <a:p>
            <a:endParaRPr lang="en-US" dirty="0"/>
          </a:p>
          <a:p>
            <a:r>
              <a:rPr lang="en-US" dirty="0"/>
              <a:t>Can you find a counterexample here?</a:t>
            </a:r>
          </a:p>
          <a:p>
            <a:r>
              <a:rPr lang="en-US" dirty="0"/>
              <a:t>But picking the one that ends soonest does work. The algorithm is specified on the next page. </a:t>
            </a:r>
          </a:p>
        </p:txBody>
      </p:sp>
      <p:grpSp>
        <p:nvGrpSpPr>
          <p:cNvPr id="26" name="Group 25"/>
          <p:cNvGrpSpPr/>
          <p:nvPr/>
        </p:nvGrpSpPr>
        <p:grpSpPr>
          <a:xfrm>
            <a:off x="3810000" y="3200400"/>
            <a:ext cx="838200" cy="685800"/>
            <a:chOff x="4038600" y="3657600"/>
            <a:chExt cx="838200" cy="685800"/>
          </a:xfrm>
        </p:grpSpPr>
        <p:sp>
          <p:nvSpPr>
            <p:cNvPr id="11" name="Rectangle 10"/>
            <p:cNvSpPr/>
            <p:nvPr/>
          </p:nvSpPr>
          <p:spPr>
            <a:xfrm>
              <a:off x="4114800" y="3733800"/>
              <a:ext cx="685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038600" y="3657600"/>
              <a:ext cx="838200" cy="369332"/>
            </a:xfrm>
            <a:prstGeom prst="rect">
              <a:avLst/>
            </a:prstGeom>
            <a:noFill/>
          </p:spPr>
          <p:txBody>
            <a:bodyPr wrap="square" rtlCol="0">
              <a:spAutoFit/>
            </a:bodyPr>
            <a:lstStyle/>
            <a:p>
              <a:r>
                <a:rPr lang="en-US" dirty="0"/>
                <a:t>Talk </a:t>
              </a:r>
              <a:r>
                <a:rPr lang="en-US" dirty="0">
                  <a:latin typeface="Cambria Math" pitchFamily="18" charset="0"/>
                  <a:ea typeface="Cambria Math" pitchFamily="18" charset="0"/>
                </a:rPr>
                <a:t>2</a:t>
              </a:r>
            </a:p>
          </p:txBody>
        </p:sp>
      </p:grpSp>
      <p:sp>
        <p:nvSpPr>
          <p:cNvPr id="18" name="TextBox 17"/>
          <p:cNvSpPr txBox="1"/>
          <p:nvPr/>
        </p:nvSpPr>
        <p:spPr>
          <a:xfrm>
            <a:off x="3733800" y="2971800"/>
            <a:ext cx="1676400" cy="261610"/>
          </a:xfrm>
          <a:prstGeom prst="rect">
            <a:avLst/>
          </a:prstGeom>
          <a:noFill/>
        </p:spPr>
        <p:txBody>
          <a:bodyPr wrap="square" rtlCol="0">
            <a:spAutoFit/>
          </a:bodyPr>
          <a:lstStyle/>
          <a:p>
            <a:r>
              <a:rPr lang="en-US" sz="1100" dirty="0">
                <a:solidFill>
                  <a:schemeClr val="accent1"/>
                </a:solidFill>
                <a:latin typeface="Cambria Math" pitchFamily="18" charset="0"/>
                <a:ea typeface="Cambria Math" pitchFamily="18" charset="0"/>
              </a:rPr>
              <a:t>Start</a:t>
            </a:r>
            <a:r>
              <a:rPr lang="en-US" sz="1100" dirty="0">
                <a:latin typeface="Cambria Math" pitchFamily="18" charset="0"/>
                <a:ea typeface="Cambria Math" pitchFamily="18" charset="0"/>
              </a:rPr>
              <a:t>:  9:00 </a:t>
            </a:r>
            <a:r>
              <a:rPr lang="en-US" sz="1100" dirty="0"/>
              <a:t>AM</a:t>
            </a:r>
          </a:p>
        </p:txBody>
      </p:sp>
      <p:sp>
        <p:nvSpPr>
          <p:cNvPr id="19" name="TextBox 18"/>
          <p:cNvSpPr txBox="1"/>
          <p:nvPr/>
        </p:nvSpPr>
        <p:spPr>
          <a:xfrm>
            <a:off x="3733800" y="3962400"/>
            <a:ext cx="1676400" cy="261610"/>
          </a:xfrm>
          <a:prstGeom prst="rect">
            <a:avLst/>
          </a:prstGeom>
          <a:noFill/>
        </p:spPr>
        <p:txBody>
          <a:bodyPr wrap="square" rtlCol="0">
            <a:spAutoFit/>
          </a:bodyPr>
          <a:lstStyle/>
          <a:p>
            <a:r>
              <a:rPr lang="en-US" sz="1100" dirty="0">
                <a:solidFill>
                  <a:schemeClr val="accent1"/>
                </a:solidFill>
                <a:latin typeface="Cambria Math" pitchFamily="18" charset="0"/>
                <a:ea typeface="Cambria Math" pitchFamily="18" charset="0"/>
              </a:rPr>
              <a:t>End</a:t>
            </a:r>
            <a:r>
              <a:rPr lang="en-US" sz="1100" dirty="0">
                <a:latin typeface="Cambria Math" pitchFamily="18" charset="0"/>
                <a:ea typeface="Cambria Math" pitchFamily="18" charset="0"/>
              </a:rPr>
              <a:t>: 10:00 </a:t>
            </a:r>
            <a:r>
              <a:rPr lang="en-US" sz="1100" dirty="0"/>
              <a:t>AM</a:t>
            </a:r>
          </a:p>
        </p:txBody>
      </p:sp>
      <p:grpSp>
        <p:nvGrpSpPr>
          <p:cNvPr id="25" name="Group 24"/>
          <p:cNvGrpSpPr/>
          <p:nvPr/>
        </p:nvGrpSpPr>
        <p:grpSpPr>
          <a:xfrm>
            <a:off x="2514600" y="2438400"/>
            <a:ext cx="1752600" cy="1633210"/>
            <a:chOff x="2514600" y="2971800"/>
            <a:chExt cx="1752600" cy="1633210"/>
          </a:xfrm>
        </p:grpSpPr>
        <p:sp>
          <p:nvSpPr>
            <p:cNvPr id="7" name="Rectangle 6"/>
            <p:cNvSpPr/>
            <p:nvPr/>
          </p:nvSpPr>
          <p:spPr>
            <a:xfrm>
              <a:off x="2590800" y="3276600"/>
              <a:ext cx="762000" cy="990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514600" y="3505200"/>
              <a:ext cx="838200" cy="369332"/>
            </a:xfrm>
            <a:prstGeom prst="rect">
              <a:avLst/>
            </a:prstGeom>
            <a:noFill/>
          </p:spPr>
          <p:txBody>
            <a:bodyPr wrap="square" rtlCol="0">
              <a:spAutoFit/>
            </a:bodyPr>
            <a:lstStyle/>
            <a:p>
              <a:r>
                <a:rPr lang="en-US" dirty="0"/>
                <a:t> Talk </a:t>
              </a:r>
              <a:r>
                <a:rPr lang="en-US" dirty="0">
                  <a:latin typeface="Cambria Math" pitchFamily="18" charset="0"/>
                  <a:ea typeface="Cambria Math" pitchFamily="18" charset="0"/>
                </a:rPr>
                <a:t>1</a:t>
              </a:r>
            </a:p>
          </p:txBody>
        </p:sp>
        <p:sp>
          <p:nvSpPr>
            <p:cNvPr id="16" name="TextBox 15"/>
            <p:cNvSpPr txBox="1"/>
            <p:nvPr/>
          </p:nvSpPr>
          <p:spPr>
            <a:xfrm>
              <a:off x="2590800" y="2971800"/>
              <a:ext cx="1676400" cy="261610"/>
            </a:xfrm>
            <a:prstGeom prst="rect">
              <a:avLst/>
            </a:prstGeom>
            <a:noFill/>
          </p:spPr>
          <p:txBody>
            <a:bodyPr wrap="square" rtlCol="0">
              <a:spAutoFit/>
            </a:bodyPr>
            <a:lstStyle/>
            <a:p>
              <a:r>
                <a:rPr lang="en-US" sz="1100" dirty="0">
                  <a:solidFill>
                    <a:schemeClr val="accent1"/>
                  </a:solidFill>
                  <a:latin typeface="Cambria Math" pitchFamily="18" charset="0"/>
                  <a:ea typeface="Cambria Math" pitchFamily="18" charset="0"/>
                </a:rPr>
                <a:t>Start</a:t>
              </a:r>
              <a:r>
                <a:rPr lang="en-US" sz="1100" dirty="0">
                  <a:latin typeface="Cambria Math" pitchFamily="18" charset="0"/>
                  <a:ea typeface="Cambria Math" pitchFamily="18" charset="0"/>
                </a:rPr>
                <a:t>: 8:00 </a:t>
              </a:r>
              <a:r>
                <a:rPr lang="en-US" sz="1100" dirty="0"/>
                <a:t>AM</a:t>
              </a:r>
            </a:p>
          </p:txBody>
        </p:sp>
        <p:sp>
          <p:nvSpPr>
            <p:cNvPr id="17" name="TextBox 16"/>
            <p:cNvSpPr txBox="1"/>
            <p:nvPr/>
          </p:nvSpPr>
          <p:spPr>
            <a:xfrm>
              <a:off x="2590800" y="4343400"/>
              <a:ext cx="1676400" cy="261610"/>
            </a:xfrm>
            <a:prstGeom prst="rect">
              <a:avLst/>
            </a:prstGeom>
            <a:noFill/>
          </p:spPr>
          <p:txBody>
            <a:bodyPr wrap="square" rtlCol="0">
              <a:spAutoFit/>
            </a:bodyPr>
            <a:lstStyle/>
            <a:p>
              <a:r>
                <a:rPr lang="en-US" sz="1100" dirty="0">
                  <a:solidFill>
                    <a:schemeClr val="accent1"/>
                  </a:solidFill>
                  <a:latin typeface="Cambria Math" pitchFamily="18" charset="0"/>
                  <a:ea typeface="Cambria Math" pitchFamily="18" charset="0"/>
                </a:rPr>
                <a:t>End</a:t>
              </a:r>
              <a:r>
                <a:rPr lang="en-US" sz="1100" dirty="0">
                  <a:latin typeface="Cambria Math" pitchFamily="18" charset="0"/>
                  <a:ea typeface="Cambria Math" pitchFamily="18" charset="0"/>
                </a:rPr>
                <a:t> :9:45 </a:t>
              </a:r>
              <a:r>
                <a:rPr lang="en-US" sz="1100" dirty="0"/>
                <a:t> AM</a:t>
              </a:r>
            </a:p>
          </p:txBody>
        </p:sp>
      </p:grpSp>
      <p:grpSp>
        <p:nvGrpSpPr>
          <p:cNvPr id="28" name="Group 27"/>
          <p:cNvGrpSpPr/>
          <p:nvPr/>
        </p:nvGrpSpPr>
        <p:grpSpPr>
          <a:xfrm>
            <a:off x="5410200" y="3429000"/>
            <a:ext cx="1676400" cy="1404610"/>
            <a:chOff x="5410200" y="3352800"/>
            <a:chExt cx="1676400" cy="1404610"/>
          </a:xfrm>
        </p:grpSpPr>
        <p:sp>
          <p:nvSpPr>
            <p:cNvPr id="14" name="Rectangle 13"/>
            <p:cNvSpPr/>
            <p:nvPr/>
          </p:nvSpPr>
          <p:spPr>
            <a:xfrm>
              <a:off x="5410200" y="3733800"/>
              <a:ext cx="685800"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410200" y="3810000"/>
              <a:ext cx="838200" cy="369332"/>
            </a:xfrm>
            <a:prstGeom prst="rect">
              <a:avLst/>
            </a:prstGeom>
            <a:noFill/>
          </p:spPr>
          <p:txBody>
            <a:bodyPr wrap="square" rtlCol="0">
              <a:spAutoFit/>
            </a:bodyPr>
            <a:lstStyle/>
            <a:p>
              <a:r>
                <a:rPr lang="en-US" dirty="0"/>
                <a:t>Talk </a:t>
              </a:r>
              <a:r>
                <a:rPr lang="en-US" dirty="0">
                  <a:latin typeface="Cambria Math" pitchFamily="18" charset="0"/>
                  <a:ea typeface="Cambria Math" pitchFamily="18" charset="0"/>
                </a:rPr>
                <a:t>3</a:t>
              </a:r>
            </a:p>
          </p:txBody>
        </p:sp>
        <p:sp>
          <p:nvSpPr>
            <p:cNvPr id="20" name="TextBox 19"/>
            <p:cNvSpPr txBox="1"/>
            <p:nvPr/>
          </p:nvSpPr>
          <p:spPr>
            <a:xfrm>
              <a:off x="5410200" y="4495800"/>
              <a:ext cx="1676400" cy="261610"/>
            </a:xfrm>
            <a:prstGeom prst="rect">
              <a:avLst/>
            </a:prstGeom>
            <a:noFill/>
          </p:spPr>
          <p:txBody>
            <a:bodyPr wrap="square" rtlCol="0">
              <a:spAutoFit/>
            </a:bodyPr>
            <a:lstStyle/>
            <a:p>
              <a:r>
                <a:rPr lang="en-US" sz="1100" dirty="0">
                  <a:solidFill>
                    <a:schemeClr val="accent1"/>
                  </a:solidFill>
                  <a:latin typeface="Cambria Math" pitchFamily="18" charset="0"/>
                  <a:ea typeface="Cambria Math" pitchFamily="18" charset="0"/>
                </a:rPr>
                <a:t>End</a:t>
              </a:r>
              <a:r>
                <a:rPr lang="en-US" sz="1100" dirty="0">
                  <a:latin typeface="Cambria Math" pitchFamily="18" charset="0"/>
                  <a:ea typeface="Cambria Math" pitchFamily="18" charset="0"/>
                </a:rPr>
                <a:t>: 11:00 </a:t>
              </a:r>
              <a:r>
                <a:rPr lang="en-US" sz="1100" dirty="0"/>
                <a:t>AM</a:t>
              </a:r>
            </a:p>
          </p:txBody>
        </p:sp>
        <p:sp>
          <p:nvSpPr>
            <p:cNvPr id="21" name="TextBox 20"/>
            <p:cNvSpPr txBox="1"/>
            <p:nvPr/>
          </p:nvSpPr>
          <p:spPr>
            <a:xfrm>
              <a:off x="5410200" y="3352800"/>
              <a:ext cx="1676400" cy="261610"/>
            </a:xfrm>
            <a:prstGeom prst="rect">
              <a:avLst/>
            </a:prstGeom>
            <a:noFill/>
          </p:spPr>
          <p:txBody>
            <a:bodyPr wrap="square" rtlCol="0">
              <a:spAutoFit/>
            </a:bodyPr>
            <a:lstStyle/>
            <a:p>
              <a:r>
                <a:rPr lang="en-US" sz="1100" dirty="0">
                  <a:solidFill>
                    <a:schemeClr val="accent1"/>
                  </a:solidFill>
                  <a:latin typeface="Cambria Math" pitchFamily="18" charset="0"/>
                  <a:ea typeface="Cambria Math" pitchFamily="18" charset="0"/>
                </a:rPr>
                <a:t>Start</a:t>
              </a:r>
              <a:r>
                <a:rPr lang="en-US" sz="1100" dirty="0">
                  <a:latin typeface="Cambria Math" pitchFamily="18" charset="0"/>
                  <a:ea typeface="Cambria Math" pitchFamily="18" charset="0"/>
                </a:rPr>
                <a:t>: 9:45 </a:t>
              </a:r>
              <a:r>
                <a:rPr lang="en-US" sz="1100" dirty="0"/>
                <a:t>AM</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Scheduling algorithm</a:t>
            </a:r>
          </a:p>
        </p:txBody>
      </p:sp>
      <p:sp>
        <p:nvSpPr>
          <p:cNvPr id="3" name="Content Placeholder 2"/>
          <p:cNvSpPr>
            <a:spLocks noGrp="1"/>
          </p:cNvSpPr>
          <p:nvPr>
            <p:ph idx="1"/>
          </p:nvPr>
        </p:nvSpPr>
        <p:spPr/>
        <p:txBody>
          <a:bodyPr/>
          <a:lstStyle/>
          <a:p>
            <a:pPr>
              <a:buNone/>
            </a:pPr>
            <a:r>
              <a:rPr lang="en-US" b="1" dirty="0"/>
              <a:t>   Solution</a:t>
            </a:r>
            <a:r>
              <a:rPr lang="en-US" dirty="0"/>
              <a:t>: At each step, choose the talks with the earliest ending time among the talks compatible with those selected.</a:t>
            </a:r>
          </a:p>
          <a:p>
            <a:pPr>
              <a:buNone/>
            </a:pPr>
            <a:endParaRPr lang="en-US" dirty="0"/>
          </a:p>
          <a:p>
            <a:pPr>
              <a:buNone/>
            </a:pPr>
            <a:endParaRPr lang="en-US" dirty="0"/>
          </a:p>
          <a:p>
            <a:pPr>
              <a:buNone/>
            </a:pPr>
            <a:endParaRPr lang="en-US" dirty="0"/>
          </a:p>
          <a:p>
            <a:pPr>
              <a:buNone/>
            </a:pPr>
            <a:endParaRPr lang="en-US" dirty="0"/>
          </a:p>
          <a:p>
            <a:pPr>
              <a:buNone/>
            </a:pPr>
            <a:endParaRPr lang="en-US" dirty="0"/>
          </a:p>
          <a:p>
            <a:r>
              <a:rPr lang="en-US" dirty="0"/>
              <a:t>Will be proven correct by induction in Chapter 5.</a:t>
            </a:r>
          </a:p>
          <a:p>
            <a:pPr>
              <a:buNone/>
            </a:pPr>
            <a:endParaRPr lang="en-US" dirty="0"/>
          </a:p>
          <a:p>
            <a:endParaRPr lang="en-US" dirty="0"/>
          </a:p>
        </p:txBody>
      </p:sp>
      <p:sp>
        <p:nvSpPr>
          <p:cNvPr id="6" name="Content Placeholder 2"/>
          <p:cNvSpPr txBox="1">
            <a:spLocks/>
          </p:cNvSpPr>
          <p:nvPr/>
        </p:nvSpPr>
        <p:spPr>
          <a:xfrm>
            <a:off x="990600" y="3276600"/>
            <a:ext cx="6781800" cy="2286000"/>
          </a:xfrm>
          <a:prstGeom prst="rect">
            <a:avLst/>
          </a:prstGeom>
          <a:ln>
            <a:solidFill>
              <a:schemeClr val="accent1"/>
            </a:solidFill>
          </a:ln>
        </p:spPr>
        <p:txBody>
          <a:bodyPr vert="horz">
            <a:normAutofit fontScale="25000" lnSpcReduction="20000"/>
          </a:bodyPr>
          <a:lstStyle/>
          <a:p>
            <a:pPr marL="274320" lvl="0" indent="-274320">
              <a:spcBef>
                <a:spcPct val="20000"/>
              </a:spcBef>
              <a:buClr>
                <a:schemeClr val="accent3"/>
              </a:buClr>
              <a:buSzPct val="95000"/>
              <a:defRPr/>
            </a:pPr>
            <a:r>
              <a:rPr lang="en-US" sz="7200" b="1" dirty="0"/>
              <a:t>procedure</a:t>
            </a:r>
            <a:r>
              <a:rPr kumimoji="0" lang="en-US" sz="7200" b="1" i="0" u="none" strike="noStrike" kern="1200" cap="none" spc="0" normalizeH="0" baseline="0" noProof="0" dirty="0">
                <a:ln>
                  <a:noFill/>
                </a:ln>
                <a:solidFill>
                  <a:schemeClr val="tx1"/>
                </a:solidFill>
                <a:effectLst/>
                <a:uLnTx/>
                <a:uFillTx/>
                <a:latin typeface="+mn-lt"/>
                <a:ea typeface="+mn-ea"/>
                <a:cs typeface="+mn-cs"/>
              </a:rPr>
              <a:t> </a:t>
            </a:r>
            <a:r>
              <a:rPr lang="en-US" sz="7200" i="1" noProof="0" dirty="0"/>
              <a:t>schedule</a:t>
            </a:r>
            <a:r>
              <a:rPr kumimoji="0" lang="en-US" sz="7200" i="0" u="none" strike="noStrike" kern="1200" cap="none" spc="0" normalizeH="0" baseline="0" noProof="0" dirty="0">
                <a:ln>
                  <a:noFill/>
                </a:ln>
                <a:solidFill>
                  <a:schemeClr val="tx1"/>
                </a:solidFill>
                <a:effectLst/>
                <a:uLnTx/>
                <a:uFillTx/>
                <a:latin typeface="+mn-lt"/>
                <a:ea typeface="+mn-ea"/>
                <a:cs typeface="+mn-cs"/>
              </a:rPr>
              <a:t>(</a:t>
            </a:r>
            <a:r>
              <a:rPr lang="en-US" sz="7200" i="1" noProof="0" dirty="0"/>
              <a:t>s</a:t>
            </a:r>
            <a:r>
              <a:rPr lang="en-US" sz="7200" baseline="-25000" dirty="0"/>
              <a:t>1</a:t>
            </a:r>
            <a:r>
              <a:rPr lang="en-US" sz="7200" dirty="0"/>
              <a:t> </a:t>
            </a:r>
            <a:r>
              <a:rPr lang="en-US" sz="7200" dirty="0">
                <a:latin typeface="Cambria Math"/>
                <a:ea typeface="Cambria Math"/>
              </a:rPr>
              <a:t>≤ </a:t>
            </a:r>
            <a:r>
              <a:rPr lang="en-US" sz="7200" i="1" dirty="0"/>
              <a:t>s</a:t>
            </a:r>
            <a:r>
              <a:rPr lang="en-US" sz="7200" baseline="-25000" dirty="0"/>
              <a:t>2</a:t>
            </a:r>
            <a:r>
              <a:rPr lang="en-US" sz="7200" dirty="0"/>
              <a:t> </a:t>
            </a:r>
            <a:r>
              <a:rPr lang="en-US" sz="7200" dirty="0">
                <a:latin typeface="Cambria Math"/>
                <a:ea typeface="Cambria Math"/>
              </a:rPr>
              <a:t>≤ </a:t>
            </a:r>
            <a:r>
              <a:rPr lang="en-US" sz="7200" dirty="0"/>
              <a:t>…</a:t>
            </a:r>
            <a:r>
              <a:rPr lang="en-US" sz="7200" dirty="0">
                <a:latin typeface="Cambria Math"/>
                <a:ea typeface="Cambria Math"/>
              </a:rPr>
              <a:t> ≤ </a:t>
            </a:r>
            <a:r>
              <a:rPr lang="en-US" sz="7200" i="1" dirty="0" err="1"/>
              <a:t>s</a:t>
            </a:r>
            <a:r>
              <a:rPr lang="en-US" sz="7200" i="1" baseline="-25000" dirty="0" err="1"/>
              <a:t>n</a:t>
            </a:r>
            <a:r>
              <a:rPr lang="en-US" sz="7200" i="1" baseline="-25000" dirty="0"/>
              <a:t> </a:t>
            </a:r>
            <a:r>
              <a:rPr lang="en-US" sz="7200" dirty="0"/>
              <a:t>:</a:t>
            </a:r>
            <a:r>
              <a:rPr lang="en-US" sz="7200" i="1" dirty="0"/>
              <a:t> </a:t>
            </a:r>
            <a:r>
              <a:rPr lang="en-US" sz="7200" dirty="0"/>
              <a:t>start times</a:t>
            </a:r>
            <a:r>
              <a:rPr lang="en-US" sz="7200" i="1" dirty="0"/>
              <a:t>, e</a:t>
            </a:r>
            <a:r>
              <a:rPr lang="en-US" sz="7200" baseline="-25000" dirty="0"/>
              <a:t>1</a:t>
            </a:r>
            <a:r>
              <a:rPr lang="en-US" sz="7200" dirty="0"/>
              <a:t> </a:t>
            </a:r>
            <a:r>
              <a:rPr lang="en-US" sz="7200" dirty="0">
                <a:latin typeface="Cambria Math"/>
                <a:ea typeface="Cambria Math"/>
              </a:rPr>
              <a:t>≤ </a:t>
            </a:r>
            <a:r>
              <a:rPr lang="en-US" sz="7200" i="1" dirty="0"/>
              <a:t>e</a:t>
            </a:r>
            <a:r>
              <a:rPr lang="en-US" sz="7200" baseline="-25000" dirty="0"/>
              <a:t>2</a:t>
            </a:r>
            <a:r>
              <a:rPr lang="en-US" sz="7200" dirty="0"/>
              <a:t> </a:t>
            </a:r>
            <a:r>
              <a:rPr lang="en-US" sz="7200" dirty="0">
                <a:latin typeface="Cambria Math"/>
                <a:ea typeface="Cambria Math"/>
              </a:rPr>
              <a:t>≤ </a:t>
            </a:r>
            <a:r>
              <a:rPr lang="en-US" sz="7200" dirty="0"/>
              <a:t>…</a:t>
            </a:r>
            <a:r>
              <a:rPr lang="en-US" sz="7200" dirty="0">
                <a:latin typeface="Cambria Math"/>
                <a:ea typeface="Cambria Math"/>
              </a:rPr>
              <a:t> ≤ </a:t>
            </a:r>
            <a:r>
              <a:rPr lang="en-US" sz="7200" i="1" dirty="0"/>
              <a:t>e</a:t>
            </a:r>
            <a:r>
              <a:rPr lang="en-US" sz="7200" i="1" baseline="-25000" dirty="0"/>
              <a:t>n </a:t>
            </a:r>
            <a:r>
              <a:rPr lang="en-US" sz="7200" dirty="0"/>
              <a:t>:</a:t>
            </a:r>
            <a:r>
              <a:rPr lang="en-US" sz="7200" i="1" dirty="0"/>
              <a:t> </a:t>
            </a:r>
            <a:r>
              <a:rPr lang="en-US" sz="7200" dirty="0"/>
              <a:t>end times</a:t>
            </a:r>
            <a:r>
              <a:rPr kumimoji="0" lang="en-US" sz="7200" i="0" u="none" strike="noStrike" kern="1200" cap="none" spc="0" normalizeH="0" baseline="0" noProof="0" dirty="0">
                <a:ln>
                  <a:noFill/>
                </a:ln>
                <a:solidFill>
                  <a:schemeClr val="tx1"/>
                </a:solidFill>
                <a:effectLst/>
                <a:uLnTx/>
                <a:uFillTx/>
                <a:latin typeface="+mn-lt"/>
                <a:ea typeface="+mn-ea"/>
                <a:cs typeface="+mn-cs"/>
              </a:rPr>
              <a:t>)</a:t>
            </a:r>
          </a:p>
          <a:p>
            <a:pPr marL="274320" lvl="0" indent="-274320">
              <a:spcBef>
                <a:spcPct val="20000"/>
              </a:spcBef>
              <a:buClr>
                <a:schemeClr val="accent3"/>
              </a:buClr>
              <a:buSzPct val="95000"/>
              <a:defRPr/>
            </a:pPr>
            <a:r>
              <a:rPr lang="en-US" sz="7200" dirty="0"/>
              <a:t>sort talks by finish time and reorder so that </a:t>
            </a:r>
            <a:r>
              <a:rPr lang="en-US" sz="7200" i="1" dirty="0"/>
              <a:t>e</a:t>
            </a:r>
            <a:r>
              <a:rPr lang="en-US" sz="7200" baseline="-25000" dirty="0"/>
              <a:t>1</a:t>
            </a:r>
            <a:r>
              <a:rPr lang="en-US" sz="7200" dirty="0"/>
              <a:t> </a:t>
            </a:r>
            <a:r>
              <a:rPr lang="en-US" sz="7200" dirty="0">
                <a:latin typeface="Cambria Math"/>
                <a:ea typeface="Cambria Math"/>
              </a:rPr>
              <a:t>≤ </a:t>
            </a:r>
            <a:r>
              <a:rPr lang="en-US" sz="7200" i="1" dirty="0"/>
              <a:t>e</a:t>
            </a:r>
            <a:r>
              <a:rPr lang="en-US" sz="7200" baseline="-25000" dirty="0"/>
              <a:t>2</a:t>
            </a:r>
            <a:r>
              <a:rPr lang="en-US" sz="7200" dirty="0"/>
              <a:t> </a:t>
            </a:r>
            <a:r>
              <a:rPr lang="en-US" sz="7200" dirty="0">
                <a:latin typeface="Cambria Math"/>
                <a:ea typeface="Cambria Math"/>
              </a:rPr>
              <a:t>≤ </a:t>
            </a:r>
            <a:r>
              <a:rPr lang="en-US" sz="7200" dirty="0"/>
              <a:t>…</a:t>
            </a:r>
            <a:r>
              <a:rPr lang="en-US" sz="7200" dirty="0">
                <a:latin typeface="Cambria Math"/>
                <a:ea typeface="Cambria Math"/>
              </a:rPr>
              <a:t> ≤ </a:t>
            </a:r>
            <a:r>
              <a:rPr lang="en-US" sz="7200" i="1" dirty="0"/>
              <a:t>e</a:t>
            </a:r>
            <a:r>
              <a:rPr lang="en-US" sz="7200" i="1" baseline="-25000" dirty="0"/>
              <a:t>n </a:t>
            </a:r>
          </a:p>
          <a:p>
            <a:pPr marL="274320" lvl="0" indent="-274320">
              <a:spcBef>
                <a:spcPct val="20000"/>
              </a:spcBef>
              <a:buClr>
                <a:schemeClr val="accent3"/>
              </a:buClr>
              <a:buSzPct val="95000"/>
              <a:defRPr/>
            </a:pPr>
            <a:r>
              <a:rPr lang="en-US" sz="7200" i="1" noProof="0" dirty="0"/>
              <a:t>S</a:t>
            </a:r>
            <a:r>
              <a:rPr lang="en-US" sz="7200" noProof="0" dirty="0"/>
              <a:t> :=  </a:t>
            </a:r>
            <a:r>
              <a:rPr lang="en-US" sz="7200" noProof="0" dirty="0">
                <a:latin typeface="Cambria Math"/>
                <a:ea typeface="Cambria Math"/>
              </a:rPr>
              <a:t>∅</a:t>
            </a:r>
            <a:endParaRPr kumimoji="0" lang="en-US" sz="7200" u="none" strike="noStrike" kern="1200" cap="none" spc="0" normalizeH="0" baseline="0" noProof="0" dirty="0">
              <a:ln>
                <a:noFill/>
              </a:ln>
              <a:solidFill>
                <a:schemeClr val="tx1"/>
              </a:solidFill>
              <a:effectLst/>
              <a:uLnTx/>
              <a:uFillTx/>
              <a:latin typeface="+mn-lt"/>
              <a:ea typeface="+mn-ea"/>
              <a:cs typeface="+mn-cs"/>
            </a:endParaRPr>
          </a:p>
          <a:p>
            <a:pPr marL="274320" lvl="0" indent="-274320">
              <a:spcBef>
                <a:spcPct val="20000"/>
              </a:spcBef>
              <a:buClr>
                <a:schemeClr val="accent3"/>
              </a:buClr>
              <a:buSzPct val="95000"/>
              <a:defRPr/>
            </a:pPr>
            <a:r>
              <a:rPr lang="en-US" sz="7200" b="1" dirty="0"/>
              <a:t>for </a:t>
            </a:r>
            <a:r>
              <a:rPr lang="en-US" sz="7200" dirty="0"/>
              <a:t> </a:t>
            </a:r>
            <a:r>
              <a:rPr lang="en-US" sz="7200" i="1" dirty="0"/>
              <a:t>j</a:t>
            </a:r>
            <a:r>
              <a:rPr kumimoji="0" lang="en-US" sz="7200" i="0" u="none" strike="noStrike" kern="1200" cap="none" spc="0" normalizeH="0" baseline="0" noProof="0" dirty="0">
                <a:ln>
                  <a:noFill/>
                </a:ln>
                <a:solidFill>
                  <a:schemeClr val="tx1"/>
                </a:solidFill>
                <a:effectLst/>
                <a:uLnTx/>
                <a:uFillTx/>
                <a:latin typeface="+mn-lt"/>
                <a:ea typeface="+mn-ea"/>
                <a:cs typeface="+mn-cs"/>
              </a:rPr>
              <a:t> := </a:t>
            </a:r>
            <a:r>
              <a:rPr kumimoji="0" lang="en-US" sz="7200" i="0" u="none" strike="noStrike" kern="1200" cap="none" spc="0" normalizeH="0" baseline="0" noProof="0" dirty="0">
                <a:ln>
                  <a:noFill/>
                </a:ln>
                <a:solidFill>
                  <a:schemeClr val="tx1"/>
                </a:solidFill>
                <a:effectLst/>
                <a:uLnTx/>
                <a:uFillTx/>
                <a:latin typeface="Cambria Math" pitchFamily="18" charset="0"/>
                <a:ea typeface="Cambria Math" pitchFamily="18" charset="0"/>
              </a:rPr>
              <a:t>1 to </a:t>
            </a:r>
            <a:r>
              <a:rPr lang="en-US" sz="7200" i="1" dirty="0">
                <a:latin typeface="Cambria Math" pitchFamily="18" charset="0"/>
                <a:ea typeface="Cambria Math" pitchFamily="18" charset="0"/>
              </a:rPr>
              <a:t>n</a:t>
            </a:r>
            <a:endParaRPr kumimoji="0" lang="en-US" sz="7200" i="1" u="none" strike="noStrike" kern="1200" cap="none" spc="0" normalizeH="0" baseline="0" noProof="0" dirty="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defRPr/>
            </a:pPr>
            <a:r>
              <a:rPr kumimoji="0" lang="en-US" sz="7200" b="1" i="0" u="none" strike="noStrike" kern="1200" cap="none" spc="0" normalizeH="0" noProof="0" dirty="0">
                <a:ln>
                  <a:noFill/>
                </a:ln>
                <a:solidFill>
                  <a:schemeClr val="tx1"/>
                </a:solidFill>
                <a:effectLst/>
                <a:uLnTx/>
                <a:uFillTx/>
                <a:latin typeface="+mn-lt"/>
                <a:ea typeface="+mn-ea"/>
                <a:cs typeface="+mn-cs"/>
              </a:rPr>
              <a:t>    </a:t>
            </a:r>
            <a:r>
              <a:rPr lang="en-US" sz="7200" b="1" dirty="0"/>
              <a:t>if </a:t>
            </a:r>
            <a:r>
              <a:rPr lang="en-US" sz="7200" dirty="0"/>
              <a:t>talk </a:t>
            </a:r>
            <a:r>
              <a:rPr lang="en-US" sz="7200" i="1" dirty="0"/>
              <a:t>j</a:t>
            </a:r>
            <a:r>
              <a:rPr lang="en-US" sz="7200" dirty="0"/>
              <a:t> is compatible with </a:t>
            </a:r>
            <a:r>
              <a:rPr lang="en-US" sz="7200" i="1" dirty="0"/>
              <a:t>S</a:t>
            </a:r>
            <a:r>
              <a:rPr lang="en-US" sz="7200" dirty="0"/>
              <a:t> then </a:t>
            </a:r>
            <a:endParaRPr kumimoji="0" lang="en-US" sz="7200" i="0" u="none" strike="noStrike" kern="1200" cap="none" spc="0" normalizeH="0" baseline="0" noProof="0" dirty="0">
              <a:ln>
                <a:noFill/>
              </a:ln>
              <a:solidFill>
                <a:schemeClr val="tx1"/>
              </a:solidFill>
              <a:effectLst/>
              <a:uLnTx/>
              <a:uFillTx/>
              <a:latin typeface="+mn-lt"/>
              <a:ea typeface="+mn-ea"/>
              <a:cs typeface="+mn-cs"/>
            </a:endParaRPr>
          </a:p>
          <a:p>
            <a:pPr marL="274320" lvl="0" indent="-274320">
              <a:spcBef>
                <a:spcPct val="20000"/>
              </a:spcBef>
              <a:buClr>
                <a:schemeClr val="accent3"/>
              </a:buClr>
              <a:buSzPct val="95000"/>
              <a:defRPr/>
            </a:pPr>
            <a:r>
              <a:rPr kumimoji="0" lang="en-US" sz="7200" i="0" u="none" strike="noStrike" kern="1200" cap="none" spc="0" normalizeH="0" baseline="0" noProof="0" dirty="0">
                <a:ln>
                  <a:noFill/>
                </a:ln>
                <a:solidFill>
                  <a:schemeClr val="tx1"/>
                </a:solidFill>
                <a:effectLst/>
                <a:uLnTx/>
                <a:uFillTx/>
                <a:latin typeface="+mn-lt"/>
                <a:ea typeface="+mn-ea"/>
                <a:cs typeface="+mn-cs"/>
              </a:rPr>
              <a:t>        S</a:t>
            </a:r>
            <a:r>
              <a:rPr kumimoji="0" lang="en-US" sz="7200" i="0" u="none" strike="noStrike" kern="1200" cap="none" spc="0" normalizeH="0" noProof="0" dirty="0">
                <a:ln>
                  <a:noFill/>
                </a:ln>
                <a:solidFill>
                  <a:schemeClr val="tx1"/>
                </a:solidFill>
                <a:effectLst/>
                <a:uLnTx/>
                <a:uFillTx/>
                <a:latin typeface="+mn-lt"/>
                <a:ea typeface="+mn-ea"/>
                <a:cs typeface="+mn-cs"/>
              </a:rPr>
              <a:t> := S </a:t>
            </a:r>
            <a:r>
              <a:rPr kumimoji="0" lang="en-US" sz="7200" i="0" u="none" strike="noStrike" kern="1200" cap="none" spc="0" normalizeH="0" noProof="0" dirty="0">
                <a:ln>
                  <a:noFill/>
                </a:ln>
                <a:solidFill>
                  <a:schemeClr val="tx1"/>
                </a:solidFill>
                <a:effectLst/>
                <a:uLnTx/>
                <a:uFillTx/>
                <a:latin typeface="Cambria Math"/>
                <a:ea typeface="Cambria Math"/>
              </a:rPr>
              <a:t>∅∪</a:t>
            </a:r>
            <a:r>
              <a:rPr kumimoji="0" lang="en-US" sz="7200" i="0" u="none" strike="noStrike" kern="1200" cap="none" spc="0" normalizeH="0" noProof="0" dirty="0">
                <a:ln>
                  <a:noFill/>
                </a:ln>
                <a:solidFill>
                  <a:schemeClr val="tx1"/>
                </a:solidFill>
                <a:effectLst/>
                <a:uLnTx/>
                <a:uFillTx/>
                <a:latin typeface="+mn-lt"/>
                <a:ea typeface="+mn-ea"/>
                <a:cs typeface="+mn-cs"/>
              </a:rPr>
              <a:t>{talk </a:t>
            </a:r>
            <a:r>
              <a:rPr kumimoji="0" lang="en-US" sz="7200" i="1" u="none" strike="noStrike" kern="1200" cap="none" spc="0" normalizeH="0" noProof="0" dirty="0">
                <a:ln>
                  <a:noFill/>
                </a:ln>
                <a:solidFill>
                  <a:schemeClr val="tx1"/>
                </a:solidFill>
                <a:effectLst/>
                <a:uLnTx/>
                <a:uFillTx/>
                <a:latin typeface="+mn-lt"/>
                <a:ea typeface="+mn-ea"/>
                <a:cs typeface="+mn-cs"/>
              </a:rPr>
              <a:t>j</a:t>
            </a:r>
            <a:r>
              <a:rPr kumimoji="0" lang="en-US" sz="7200" i="0" u="none" strike="noStrike" kern="1200" cap="none" spc="0" normalizeH="0" noProof="0" dirty="0">
                <a:ln>
                  <a:noFill/>
                </a:ln>
                <a:solidFill>
                  <a:schemeClr val="tx1"/>
                </a:solidFill>
                <a:effectLst/>
                <a:uLnTx/>
                <a:uFillTx/>
                <a:latin typeface="+mn-lt"/>
                <a:ea typeface="+mn-ea"/>
                <a:cs typeface="+mn-cs"/>
              </a:rPr>
              <a:t>}</a:t>
            </a:r>
            <a:endParaRPr kumimoji="0" lang="en-US" sz="7200" i="0" u="none" strike="noStrike" kern="1200" cap="none" spc="0" normalizeH="0" baseline="0" noProof="0" dirty="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defRPr/>
            </a:pPr>
            <a:r>
              <a:rPr lang="en-US" sz="7200" b="1" dirty="0">
                <a:latin typeface="Cambria Math" pitchFamily="18" charset="0"/>
                <a:ea typeface="Cambria Math" pitchFamily="18" charset="0"/>
              </a:rPr>
              <a:t>r</a:t>
            </a:r>
            <a:r>
              <a:rPr lang="en-US" sz="7200" b="1" noProof="0" dirty="0" err="1">
                <a:latin typeface="Cambria Math" pitchFamily="18" charset="0"/>
                <a:ea typeface="Cambria Math" pitchFamily="18" charset="0"/>
              </a:rPr>
              <a:t>eturn</a:t>
            </a:r>
            <a:r>
              <a:rPr lang="en-US" sz="7200" noProof="0" dirty="0">
                <a:latin typeface="Cambria Math" pitchFamily="18" charset="0"/>
                <a:ea typeface="Cambria Math" pitchFamily="18" charset="0"/>
              </a:rPr>
              <a:t> S [ S is the set of talks scheduled]</a:t>
            </a:r>
            <a:endParaRPr kumimoji="0" lang="en-US" sz="7200" i="0" u="none" strike="noStrike" kern="1200" cap="none" spc="0" normalizeH="0" baseline="0" noProof="0" dirty="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pPr>
            <a:endParaRPr lang="en-US" sz="2600" i="1" baseline="-25000" dirty="0"/>
          </a:p>
          <a:p>
            <a:pPr marL="274320" lvl="0" indent="-274320">
              <a:spcBef>
                <a:spcPct val="20000"/>
              </a:spcBef>
              <a:buClr>
                <a:schemeClr val="accent3"/>
              </a:buClr>
              <a:buSzPct val="95000"/>
            </a:pP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endPar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Halting Problem </a:t>
            </a:r>
          </a:p>
        </p:txBody>
      </p:sp>
      <p:sp>
        <p:nvSpPr>
          <p:cNvPr id="3" name="Content Placeholder 2"/>
          <p:cNvSpPr>
            <a:spLocks noGrp="1"/>
          </p:cNvSpPr>
          <p:nvPr>
            <p:ph idx="1"/>
          </p:nvPr>
        </p:nvSpPr>
        <p:spPr/>
        <p:txBody>
          <a:bodyPr>
            <a:normAutofit lnSpcReduction="10000"/>
          </a:bodyPr>
          <a:lstStyle/>
          <a:p>
            <a:pPr>
              <a:buNone/>
            </a:pPr>
            <a:r>
              <a:rPr lang="en-US" b="1" dirty="0"/>
              <a:t>   Example</a:t>
            </a:r>
            <a:r>
              <a:rPr lang="en-US" dirty="0"/>
              <a:t>: Can we develop a procedure that takes as input a computer program along with its input and determines whether the program will eventually halt with that input.</a:t>
            </a:r>
          </a:p>
          <a:p>
            <a:r>
              <a:rPr lang="en-US" b="1" dirty="0"/>
              <a:t>Solution</a:t>
            </a:r>
            <a:r>
              <a:rPr lang="en-US" dirty="0"/>
              <a:t>: Proof by contradiction.</a:t>
            </a:r>
          </a:p>
          <a:p>
            <a:r>
              <a:rPr lang="en-US" dirty="0"/>
              <a:t>Assume that there is such a procedure and call it </a:t>
            </a:r>
            <a:r>
              <a:rPr lang="en-US" i="1" dirty="0"/>
              <a:t>H</a:t>
            </a:r>
            <a:r>
              <a:rPr lang="en-US" dirty="0"/>
              <a:t>(</a:t>
            </a:r>
            <a:r>
              <a:rPr lang="en-US" i="1" dirty="0"/>
              <a:t>P</a:t>
            </a:r>
            <a:r>
              <a:rPr lang="en-US" dirty="0"/>
              <a:t>,</a:t>
            </a:r>
            <a:r>
              <a:rPr lang="en-US" i="1" dirty="0"/>
              <a:t>I</a:t>
            </a:r>
            <a:r>
              <a:rPr lang="en-US" dirty="0"/>
              <a:t>). The procedure </a:t>
            </a:r>
            <a:r>
              <a:rPr lang="en-US" i="1" dirty="0"/>
              <a:t>H</a:t>
            </a:r>
            <a:r>
              <a:rPr lang="en-US" dirty="0"/>
              <a:t>(</a:t>
            </a:r>
            <a:r>
              <a:rPr lang="en-US" i="1" dirty="0"/>
              <a:t>P</a:t>
            </a:r>
            <a:r>
              <a:rPr lang="en-US" dirty="0"/>
              <a:t>,</a:t>
            </a:r>
            <a:r>
              <a:rPr lang="en-US" i="1" dirty="0"/>
              <a:t>I</a:t>
            </a:r>
            <a:r>
              <a:rPr lang="en-US" dirty="0"/>
              <a:t>) takes as input a program </a:t>
            </a:r>
            <a:r>
              <a:rPr lang="en-US" i="1" dirty="0"/>
              <a:t>P</a:t>
            </a:r>
            <a:r>
              <a:rPr lang="en-US" dirty="0"/>
              <a:t> and the input </a:t>
            </a:r>
            <a:r>
              <a:rPr lang="en-US" i="1" dirty="0"/>
              <a:t>I</a:t>
            </a:r>
            <a:r>
              <a:rPr lang="en-US" dirty="0"/>
              <a:t> to </a:t>
            </a:r>
            <a:r>
              <a:rPr lang="en-US" i="1" dirty="0"/>
              <a:t>P</a:t>
            </a:r>
            <a:r>
              <a:rPr lang="en-US" dirty="0"/>
              <a:t>. </a:t>
            </a:r>
          </a:p>
          <a:p>
            <a:pPr lvl="1"/>
            <a:r>
              <a:rPr lang="en-US" dirty="0"/>
              <a:t>H outputs “halt” if it is the case that </a:t>
            </a:r>
            <a:r>
              <a:rPr lang="en-US" i="1" dirty="0"/>
              <a:t>P</a:t>
            </a:r>
            <a:r>
              <a:rPr lang="en-US" dirty="0"/>
              <a:t> will stop when run with input </a:t>
            </a:r>
            <a:r>
              <a:rPr lang="en-US" i="1" dirty="0"/>
              <a:t>I</a:t>
            </a:r>
            <a:r>
              <a:rPr lang="en-US" dirty="0"/>
              <a:t>. </a:t>
            </a:r>
          </a:p>
          <a:p>
            <a:pPr lvl="1"/>
            <a:r>
              <a:rPr lang="en-US" dirty="0"/>
              <a:t>Otherwise, </a:t>
            </a:r>
            <a:r>
              <a:rPr lang="en-US" i="1" dirty="0"/>
              <a:t>H</a:t>
            </a:r>
            <a:r>
              <a:rPr lang="en-US" dirty="0"/>
              <a:t> outputs “loops forever.”</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Halting Problem</a:t>
            </a:r>
          </a:p>
        </p:txBody>
      </p:sp>
      <p:sp>
        <p:nvSpPr>
          <p:cNvPr id="3" name="Content Placeholder 2"/>
          <p:cNvSpPr>
            <a:spLocks noGrp="1"/>
          </p:cNvSpPr>
          <p:nvPr>
            <p:ph idx="1"/>
          </p:nvPr>
        </p:nvSpPr>
        <p:spPr/>
        <p:txBody>
          <a:bodyPr/>
          <a:lstStyle/>
          <a:p>
            <a:r>
              <a:rPr lang="en-US" dirty="0"/>
              <a:t>Since a program is a string of characters,  we can call </a:t>
            </a:r>
            <a:r>
              <a:rPr lang="en-US" i="1" dirty="0"/>
              <a:t>H</a:t>
            </a:r>
            <a:r>
              <a:rPr lang="en-US" dirty="0"/>
              <a:t>(</a:t>
            </a:r>
            <a:r>
              <a:rPr lang="en-US" i="1" dirty="0"/>
              <a:t>P</a:t>
            </a:r>
            <a:r>
              <a:rPr lang="en-US" dirty="0"/>
              <a:t>,</a:t>
            </a:r>
            <a:r>
              <a:rPr lang="en-US" i="1" dirty="0"/>
              <a:t>P</a:t>
            </a:r>
            <a:r>
              <a:rPr lang="en-US" dirty="0"/>
              <a:t>). Construct a procedure </a:t>
            </a:r>
            <a:r>
              <a:rPr lang="en-US" i="1" dirty="0"/>
              <a:t>K</a:t>
            </a:r>
            <a:r>
              <a:rPr lang="en-US" dirty="0"/>
              <a:t>(</a:t>
            </a:r>
            <a:r>
              <a:rPr lang="en-US" i="1" dirty="0"/>
              <a:t>P</a:t>
            </a:r>
            <a:r>
              <a:rPr lang="en-US" dirty="0"/>
              <a:t>), which works as follows. </a:t>
            </a:r>
          </a:p>
          <a:p>
            <a:pPr lvl="1"/>
            <a:r>
              <a:rPr lang="en-US" dirty="0"/>
              <a:t>If </a:t>
            </a:r>
            <a:r>
              <a:rPr lang="en-US" i="1" dirty="0"/>
              <a:t>H</a:t>
            </a:r>
            <a:r>
              <a:rPr lang="en-US" dirty="0"/>
              <a:t>(</a:t>
            </a:r>
            <a:r>
              <a:rPr lang="en-US" i="1" dirty="0"/>
              <a:t>P</a:t>
            </a:r>
            <a:r>
              <a:rPr lang="en-US" dirty="0"/>
              <a:t>,</a:t>
            </a:r>
            <a:r>
              <a:rPr lang="en-US" i="1" dirty="0"/>
              <a:t>P</a:t>
            </a:r>
            <a:r>
              <a:rPr lang="en-US" dirty="0"/>
              <a:t>) outputs “loops forever” then </a:t>
            </a:r>
            <a:r>
              <a:rPr lang="en-US" i="1" dirty="0"/>
              <a:t>K</a:t>
            </a:r>
            <a:r>
              <a:rPr lang="en-US" dirty="0"/>
              <a:t>(</a:t>
            </a:r>
            <a:r>
              <a:rPr lang="en-US" i="1" dirty="0"/>
              <a:t>P</a:t>
            </a:r>
            <a:r>
              <a:rPr lang="en-US" dirty="0"/>
              <a:t>) halts.</a:t>
            </a:r>
          </a:p>
          <a:p>
            <a:pPr lvl="1"/>
            <a:r>
              <a:rPr lang="en-US" dirty="0"/>
              <a:t>If </a:t>
            </a:r>
            <a:r>
              <a:rPr lang="en-US" i="1" dirty="0"/>
              <a:t>H</a:t>
            </a:r>
            <a:r>
              <a:rPr lang="en-US" dirty="0"/>
              <a:t>(</a:t>
            </a:r>
            <a:r>
              <a:rPr lang="en-US" i="1" dirty="0"/>
              <a:t>P</a:t>
            </a:r>
            <a:r>
              <a:rPr lang="en-US" dirty="0"/>
              <a:t>,</a:t>
            </a:r>
            <a:r>
              <a:rPr lang="en-US" i="1" dirty="0"/>
              <a:t>P</a:t>
            </a:r>
            <a:r>
              <a:rPr lang="en-US" dirty="0"/>
              <a:t>) outputs “halt” then </a:t>
            </a:r>
            <a:r>
              <a:rPr lang="en-US" i="1" dirty="0"/>
              <a:t>K</a:t>
            </a:r>
            <a:r>
              <a:rPr lang="en-US" dirty="0"/>
              <a:t>(</a:t>
            </a:r>
            <a:r>
              <a:rPr lang="en-US" i="1" dirty="0"/>
              <a:t>P</a:t>
            </a:r>
            <a:r>
              <a:rPr lang="en-US" dirty="0"/>
              <a:t>) goes into an infinite loop printing “ha” on each iteration.</a:t>
            </a:r>
          </a:p>
        </p:txBody>
      </p:sp>
      <p:pic>
        <p:nvPicPr>
          <p:cNvPr id="4" name="Content Placeholder 3" descr="0303.jpg"/>
          <p:cNvPicPr>
            <a:picLocks noChangeAspect="1"/>
          </p:cNvPicPr>
          <p:nvPr/>
        </p:nvPicPr>
        <p:blipFill>
          <a:blip r:embed="rId2" cstate="print"/>
          <a:stretch>
            <a:fillRect/>
          </a:stretch>
        </p:blipFill>
        <p:spPr>
          <a:xfrm>
            <a:off x="2209800" y="5181600"/>
            <a:ext cx="4179570" cy="88163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Halting Problem</a:t>
            </a:r>
          </a:p>
        </p:txBody>
      </p:sp>
      <p:sp>
        <p:nvSpPr>
          <p:cNvPr id="3" name="Content Placeholder 2"/>
          <p:cNvSpPr>
            <a:spLocks noGrp="1"/>
          </p:cNvSpPr>
          <p:nvPr>
            <p:ph idx="1"/>
          </p:nvPr>
        </p:nvSpPr>
        <p:spPr/>
        <p:txBody>
          <a:bodyPr>
            <a:normAutofit/>
          </a:bodyPr>
          <a:lstStyle/>
          <a:p>
            <a:r>
              <a:rPr lang="en-US" dirty="0"/>
              <a:t>Now we call </a:t>
            </a:r>
            <a:r>
              <a:rPr lang="en-US" i="1" dirty="0"/>
              <a:t>K</a:t>
            </a:r>
            <a:r>
              <a:rPr lang="en-US" dirty="0"/>
              <a:t> with </a:t>
            </a:r>
            <a:r>
              <a:rPr lang="en-US" i="1" dirty="0"/>
              <a:t>K</a:t>
            </a:r>
            <a:r>
              <a:rPr lang="en-US" dirty="0"/>
              <a:t> as input, i.e. </a:t>
            </a:r>
            <a:r>
              <a:rPr lang="en-US" i="1" dirty="0"/>
              <a:t>K</a:t>
            </a:r>
            <a:r>
              <a:rPr lang="en-US" dirty="0"/>
              <a:t>(</a:t>
            </a:r>
            <a:r>
              <a:rPr lang="en-US" i="1" dirty="0"/>
              <a:t>K</a:t>
            </a:r>
            <a:r>
              <a:rPr lang="en-US" dirty="0"/>
              <a:t>).</a:t>
            </a:r>
          </a:p>
          <a:p>
            <a:pPr lvl="1"/>
            <a:r>
              <a:rPr lang="en-US" dirty="0"/>
              <a:t>If the output of </a:t>
            </a:r>
            <a:r>
              <a:rPr lang="en-US" i="1" dirty="0"/>
              <a:t>H</a:t>
            </a:r>
            <a:r>
              <a:rPr lang="en-US" dirty="0"/>
              <a:t>(</a:t>
            </a:r>
            <a:r>
              <a:rPr lang="en-US" i="1" dirty="0"/>
              <a:t>K</a:t>
            </a:r>
            <a:r>
              <a:rPr lang="en-US" dirty="0"/>
              <a:t>,</a:t>
            </a:r>
            <a:r>
              <a:rPr lang="en-US" i="1" dirty="0"/>
              <a:t>K</a:t>
            </a:r>
            <a:r>
              <a:rPr lang="en-US" dirty="0"/>
              <a:t>) is “loops forever” then </a:t>
            </a:r>
            <a:r>
              <a:rPr lang="en-US" i="1" dirty="0"/>
              <a:t>K</a:t>
            </a:r>
            <a:r>
              <a:rPr lang="en-US" dirty="0"/>
              <a:t>(</a:t>
            </a:r>
            <a:r>
              <a:rPr lang="en-US" i="1" dirty="0"/>
              <a:t>K</a:t>
            </a:r>
            <a:r>
              <a:rPr lang="en-US" dirty="0"/>
              <a:t>) halts. </a:t>
            </a:r>
            <a:r>
              <a:rPr lang="en-US" dirty="0">
                <a:solidFill>
                  <a:srgbClr val="FF0000"/>
                </a:solidFill>
              </a:rPr>
              <a:t>A C</a:t>
            </a:r>
            <a:r>
              <a:rPr lang="en-US" dirty="0">
                <a:solidFill>
                  <a:srgbClr val="C00000"/>
                </a:solidFill>
              </a:rPr>
              <a:t>ontradiction.</a:t>
            </a:r>
          </a:p>
          <a:p>
            <a:pPr lvl="1"/>
            <a:r>
              <a:rPr lang="en-US" dirty="0"/>
              <a:t>If the output of </a:t>
            </a:r>
            <a:r>
              <a:rPr lang="en-US" i="1" dirty="0"/>
              <a:t>H</a:t>
            </a:r>
            <a:r>
              <a:rPr lang="en-US" dirty="0"/>
              <a:t>(</a:t>
            </a:r>
            <a:r>
              <a:rPr lang="en-US" i="1" dirty="0"/>
              <a:t>K</a:t>
            </a:r>
            <a:r>
              <a:rPr lang="en-US" dirty="0"/>
              <a:t>,</a:t>
            </a:r>
            <a:r>
              <a:rPr lang="en-US" i="1" dirty="0"/>
              <a:t>K</a:t>
            </a:r>
            <a:r>
              <a:rPr lang="en-US" dirty="0"/>
              <a:t>) is “halts” then </a:t>
            </a:r>
            <a:r>
              <a:rPr lang="en-US" i="1" dirty="0"/>
              <a:t>K</a:t>
            </a:r>
            <a:r>
              <a:rPr lang="en-US" dirty="0"/>
              <a:t>(</a:t>
            </a:r>
            <a:r>
              <a:rPr lang="en-US" i="1" dirty="0"/>
              <a:t>K</a:t>
            </a:r>
            <a:r>
              <a:rPr lang="en-US" dirty="0"/>
              <a:t>) loops forever. </a:t>
            </a:r>
            <a:r>
              <a:rPr lang="en-US" dirty="0">
                <a:solidFill>
                  <a:srgbClr val="FF0000"/>
                </a:solidFill>
              </a:rPr>
              <a:t>A Contradiction</a:t>
            </a:r>
            <a:r>
              <a:rPr lang="en-US" dirty="0">
                <a:solidFill>
                  <a:srgbClr val="C00000"/>
                </a:solidFill>
              </a:rPr>
              <a:t>.</a:t>
            </a:r>
          </a:p>
          <a:p>
            <a:r>
              <a:rPr lang="en-US" dirty="0"/>
              <a:t>Therefore, there can not be a procedure that can decide whether or not an arbitrary program halts. The halting problem is unsolvable.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Growth of Functions</a:t>
            </a:r>
          </a:p>
        </p:txBody>
      </p:sp>
      <p:sp>
        <p:nvSpPr>
          <p:cNvPr id="3" name="Subtitle 2"/>
          <p:cNvSpPr>
            <a:spLocks noGrp="1"/>
          </p:cNvSpPr>
          <p:nvPr>
            <p:ph type="subTitle" idx="1"/>
          </p:nvPr>
        </p:nvSpPr>
        <p:spPr/>
        <p:txBody>
          <a:bodyPr/>
          <a:lstStyle/>
          <a:p>
            <a:r>
              <a:rPr lang="en-US" dirty="0"/>
              <a:t>Section 3.2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Big-O Notation</a:t>
            </a:r>
          </a:p>
          <a:p>
            <a:r>
              <a:rPr lang="en-US" dirty="0"/>
              <a:t>Big-O Estimates for Important Functions</a:t>
            </a:r>
          </a:p>
          <a:p>
            <a:r>
              <a:rPr lang="en-US" dirty="0"/>
              <a:t>Big-Omega and Big-Theta Notation</a:t>
            </a:r>
          </a:p>
          <a:p>
            <a:endParaRPr lang="en-US" dirty="0"/>
          </a:p>
        </p:txBody>
      </p:sp>
      <p:pic>
        <p:nvPicPr>
          <p:cNvPr id="4" name="Picture 3" descr="0306.jpg"/>
          <p:cNvPicPr>
            <a:picLocks noChangeAspect="1"/>
          </p:cNvPicPr>
          <p:nvPr/>
        </p:nvPicPr>
        <p:blipFill>
          <a:blip r:embed="rId2" cstate="print"/>
          <a:stretch>
            <a:fillRect/>
          </a:stretch>
        </p:blipFill>
        <p:spPr>
          <a:xfrm>
            <a:off x="1219200" y="3505200"/>
            <a:ext cx="899160" cy="1037844"/>
          </a:xfrm>
          <a:prstGeom prst="rect">
            <a:avLst/>
          </a:prstGeom>
        </p:spPr>
      </p:pic>
      <p:pic>
        <p:nvPicPr>
          <p:cNvPr id="5" name="Picture 4" descr="0305.jpg"/>
          <p:cNvPicPr>
            <a:picLocks noChangeAspect="1"/>
          </p:cNvPicPr>
          <p:nvPr/>
        </p:nvPicPr>
        <p:blipFill>
          <a:blip r:embed="rId3" cstate="print"/>
          <a:stretch>
            <a:fillRect/>
          </a:stretch>
        </p:blipFill>
        <p:spPr>
          <a:xfrm>
            <a:off x="5486400" y="3429000"/>
            <a:ext cx="899922" cy="1042416"/>
          </a:xfrm>
          <a:prstGeom prst="rect">
            <a:avLst/>
          </a:prstGeom>
        </p:spPr>
      </p:pic>
      <p:sp>
        <p:nvSpPr>
          <p:cNvPr id="6" name="TextBox 5"/>
          <p:cNvSpPr txBox="1"/>
          <p:nvPr/>
        </p:nvSpPr>
        <p:spPr>
          <a:xfrm>
            <a:off x="685800" y="4495800"/>
            <a:ext cx="2514600" cy="646331"/>
          </a:xfrm>
          <a:prstGeom prst="rect">
            <a:avLst/>
          </a:prstGeom>
          <a:noFill/>
        </p:spPr>
        <p:txBody>
          <a:bodyPr wrap="square" rtlCol="0">
            <a:spAutoFit/>
          </a:bodyPr>
          <a:lstStyle/>
          <a:p>
            <a:r>
              <a:rPr lang="en-US" dirty="0"/>
              <a:t>Edmund Landau</a:t>
            </a:r>
          </a:p>
          <a:p>
            <a:r>
              <a:rPr lang="en-US" dirty="0"/>
              <a:t>(</a:t>
            </a:r>
            <a:r>
              <a:rPr lang="en-US" dirty="0">
                <a:latin typeface="Cambria Math" pitchFamily="18" charset="0"/>
                <a:ea typeface="Cambria Math" pitchFamily="18" charset="0"/>
              </a:rPr>
              <a:t>1877-1938</a:t>
            </a:r>
            <a:r>
              <a:rPr lang="en-US" dirty="0"/>
              <a:t>)</a:t>
            </a:r>
          </a:p>
        </p:txBody>
      </p:sp>
      <p:sp>
        <p:nvSpPr>
          <p:cNvPr id="7" name="TextBox 6"/>
          <p:cNvSpPr txBox="1"/>
          <p:nvPr/>
        </p:nvSpPr>
        <p:spPr>
          <a:xfrm>
            <a:off x="4572000" y="4495800"/>
            <a:ext cx="3505200" cy="646331"/>
          </a:xfrm>
          <a:prstGeom prst="rect">
            <a:avLst/>
          </a:prstGeom>
          <a:noFill/>
        </p:spPr>
        <p:txBody>
          <a:bodyPr wrap="square" rtlCol="0">
            <a:spAutoFit/>
          </a:bodyPr>
          <a:lstStyle/>
          <a:p>
            <a:r>
              <a:rPr lang="en-US" dirty="0"/>
              <a:t>Paul Gustav Heinrich Bachmann</a:t>
            </a:r>
          </a:p>
          <a:p>
            <a:r>
              <a:rPr lang="en-US" dirty="0"/>
              <a:t>(</a:t>
            </a:r>
            <a:r>
              <a:rPr lang="en-US" dirty="0">
                <a:latin typeface="Cambria Math" pitchFamily="18" charset="0"/>
                <a:ea typeface="Cambria Math" pitchFamily="18" charset="0"/>
              </a:rPr>
              <a:t>1837-1920</a:t>
            </a:r>
            <a:r>
              <a:rPr lang="en-US" dirty="0"/>
              <a:t>)</a:t>
            </a:r>
          </a:p>
        </p:txBody>
      </p:sp>
      <p:pic>
        <p:nvPicPr>
          <p:cNvPr id="8" name="Picture 7" descr="0308.jpg"/>
          <p:cNvPicPr>
            <a:picLocks noChangeAspect="1"/>
          </p:cNvPicPr>
          <p:nvPr/>
        </p:nvPicPr>
        <p:blipFill>
          <a:blip r:embed="rId4" cstate="print"/>
          <a:stretch>
            <a:fillRect/>
          </a:stretch>
        </p:blipFill>
        <p:spPr>
          <a:xfrm>
            <a:off x="6400800" y="381000"/>
            <a:ext cx="893826" cy="1038606"/>
          </a:xfrm>
          <a:prstGeom prst="rect">
            <a:avLst/>
          </a:prstGeom>
        </p:spPr>
      </p:pic>
      <p:sp>
        <p:nvSpPr>
          <p:cNvPr id="9" name="TextBox 8"/>
          <p:cNvSpPr txBox="1"/>
          <p:nvPr/>
        </p:nvSpPr>
        <p:spPr>
          <a:xfrm>
            <a:off x="5105400" y="1676400"/>
            <a:ext cx="2514600" cy="646331"/>
          </a:xfrm>
          <a:prstGeom prst="rect">
            <a:avLst/>
          </a:prstGeom>
          <a:noFill/>
        </p:spPr>
        <p:txBody>
          <a:bodyPr wrap="square" rtlCol="0">
            <a:spAutoFit/>
          </a:bodyPr>
          <a:lstStyle/>
          <a:p>
            <a:r>
              <a:rPr lang="en-US" dirty="0"/>
              <a:t>Donald E. Knuth</a:t>
            </a:r>
          </a:p>
          <a:p>
            <a:r>
              <a:rPr lang="en-US" dirty="0"/>
              <a:t>(</a:t>
            </a:r>
            <a:r>
              <a:rPr lang="en-US" dirty="0">
                <a:latin typeface="Cambria Math" pitchFamily="18" charset="0"/>
                <a:ea typeface="Cambria Math" pitchFamily="18" charset="0"/>
              </a:rPr>
              <a:t>Born 1938</a:t>
            </a:r>
            <a:r>
              <a:rPr lang="en-US" dirty="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Growth of Functions</a:t>
            </a:r>
          </a:p>
        </p:txBody>
      </p:sp>
      <p:sp>
        <p:nvSpPr>
          <p:cNvPr id="3" name="Content Placeholder 2"/>
          <p:cNvSpPr>
            <a:spLocks noGrp="1"/>
          </p:cNvSpPr>
          <p:nvPr>
            <p:ph idx="1"/>
          </p:nvPr>
        </p:nvSpPr>
        <p:spPr/>
        <p:txBody>
          <a:bodyPr>
            <a:normAutofit/>
          </a:bodyPr>
          <a:lstStyle/>
          <a:p>
            <a:pPr algn="just"/>
            <a:r>
              <a:rPr lang="en-US" dirty="0"/>
              <a:t>In both computer science and in mathematics, there are many times when we care about how fast a function grows.</a:t>
            </a:r>
          </a:p>
          <a:p>
            <a:pPr algn="just"/>
            <a:r>
              <a:rPr lang="en-US" dirty="0"/>
              <a:t>In computer science, we want to understand how quickly an algorithm can solve a problem as the size of the input grows. </a:t>
            </a:r>
          </a:p>
          <a:p>
            <a:pPr lvl="1" algn="just"/>
            <a:r>
              <a:rPr lang="en-US" dirty="0"/>
              <a:t>We can compare the efficiency of two different algorithms for solving the same problem. </a:t>
            </a:r>
          </a:p>
          <a:p>
            <a:pPr lvl="1" algn="just"/>
            <a:r>
              <a:rPr lang="en-US" dirty="0"/>
              <a:t>We can also determine whether it is practical to use a particular algorithm as the input grows.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990600" y="609600"/>
            <a:ext cx="7772400" cy="685800"/>
          </a:xfrm>
        </p:spPr>
        <p:txBody>
          <a:bodyPr/>
          <a:lstStyle/>
          <a:p>
            <a:pPr eaLnBrk="1" hangingPunct="1">
              <a:defRPr/>
            </a:pPr>
            <a:r>
              <a:rPr lang="en-US" sz="3600" dirty="0">
                <a:solidFill>
                  <a:schemeClr val="tx1"/>
                </a:solidFill>
              </a:rPr>
              <a:t>The Growth of Functions</a:t>
            </a:r>
            <a:endParaRPr lang="en-CA" sz="3600" dirty="0">
              <a:solidFill>
                <a:schemeClr val="tx1"/>
              </a:solidFill>
            </a:endParaRPr>
          </a:p>
        </p:txBody>
      </p:sp>
      <p:sp>
        <p:nvSpPr>
          <p:cNvPr id="191491" name="Rectangle 3"/>
          <p:cNvSpPr>
            <a:spLocks noGrp="1" noChangeArrowheads="1"/>
          </p:cNvSpPr>
          <p:nvPr>
            <p:ph type="body" idx="1"/>
          </p:nvPr>
        </p:nvSpPr>
        <p:spPr>
          <a:xfrm>
            <a:off x="304800" y="1676400"/>
            <a:ext cx="8610600" cy="4267200"/>
          </a:xfrm>
        </p:spPr>
        <p:txBody>
          <a:bodyPr>
            <a:normAutofit fontScale="92500" lnSpcReduction="20000"/>
          </a:bodyPr>
          <a:lstStyle/>
          <a:p>
            <a:pPr marL="0" indent="0" eaLnBrk="1" hangingPunct="1">
              <a:lnSpc>
                <a:spcPct val="90000"/>
              </a:lnSpc>
              <a:spcBef>
                <a:spcPct val="0"/>
              </a:spcBef>
              <a:defRPr/>
            </a:pPr>
            <a:r>
              <a:rPr lang="en-US" sz="2800" b="1" dirty="0">
                <a:sym typeface="Symbol" pitchFamily="18" charset="2"/>
              </a:rPr>
              <a:t>“Popular” functions g(n) are</a:t>
            </a:r>
          </a:p>
          <a:p>
            <a:pPr marL="0" indent="0" eaLnBrk="1" hangingPunct="1">
              <a:lnSpc>
                <a:spcPct val="90000"/>
              </a:lnSpc>
              <a:spcBef>
                <a:spcPct val="0"/>
              </a:spcBef>
              <a:buNone/>
              <a:defRPr/>
            </a:pPr>
            <a:r>
              <a:rPr lang="en-US" sz="2800" b="1" dirty="0">
                <a:sym typeface="Symbol" pitchFamily="18" charset="2"/>
              </a:rPr>
              <a:t>	n log n, 1, 2</a:t>
            </a:r>
            <a:r>
              <a:rPr lang="en-US" sz="2800" b="1" baseline="30000" dirty="0">
                <a:sym typeface="Symbol" pitchFamily="18" charset="2"/>
              </a:rPr>
              <a:t>n</a:t>
            </a:r>
            <a:r>
              <a:rPr lang="en-US" sz="2800" b="1" dirty="0">
                <a:sym typeface="Symbol" pitchFamily="18" charset="2"/>
              </a:rPr>
              <a:t>, n</a:t>
            </a:r>
            <a:r>
              <a:rPr lang="en-US" sz="2800" b="1" baseline="30000" dirty="0">
                <a:sym typeface="Symbol" pitchFamily="18" charset="2"/>
              </a:rPr>
              <a:t>2</a:t>
            </a:r>
            <a:r>
              <a:rPr lang="en-US" sz="2800" b="1" dirty="0">
                <a:sym typeface="Symbol" pitchFamily="18" charset="2"/>
              </a:rPr>
              <a:t>, n!, n, n</a:t>
            </a:r>
            <a:r>
              <a:rPr lang="en-US" sz="2800" b="1" baseline="30000" dirty="0">
                <a:sym typeface="Symbol" pitchFamily="18" charset="2"/>
              </a:rPr>
              <a:t>3</a:t>
            </a:r>
            <a:r>
              <a:rPr lang="en-US" sz="2800" b="1" dirty="0">
                <a:sym typeface="Symbol" pitchFamily="18" charset="2"/>
              </a:rPr>
              <a:t>, log n</a:t>
            </a:r>
          </a:p>
          <a:p>
            <a:pPr marL="0" indent="0" eaLnBrk="1" hangingPunct="1">
              <a:lnSpc>
                <a:spcPct val="90000"/>
              </a:lnSpc>
              <a:spcBef>
                <a:spcPct val="0"/>
              </a:spcBef>
              <a:defRPr/>
            </a:pPr>
            <a:endParaRPr lang="en-US" sz="2800" dirty="0">
              <a:solidFill>
                <a:srgbClr val="00FFFF"/>
              </a:solidFill>
              <a:sym typeface="Symbol" pitchFamily="18" charset="2"/>
            </a:endParaRPr>
          </a:p>
          <a:p>
            <a:pPr marL="0" indent="0" eaLnBrk="1" hangingPunct="1">
              <a:lnSpc>
                <a:spcPct val="90000"/>
              </a:lnSpc>
              <a:spcBef>
                <a:spcPct val="0"/>
              </a:spcBef>
              <a:defRPr/>
            </a:pPr>
            <a:r>
              <a:rPr lang="en-US" sz="2800" dirty="0">
                <a:sym typeface="Symbol" pitchFamily="18" charset="2"/>
              </a:rPr>
              <a:t>Listed from slowest to fastest growth:</a:t>
            </a:r>
          </a:p>
          <a:p>
            <a:pPr marL="0" indent="0" eaLnBrk="1" hangingPunct="1">
              <a:lnSpc>
                <a:spcPct val="90000"/>
              </a:lnSpc>
              <a:spcBef>
                <a:spcPct val="0"/>
              </a:spcBef>
              <a:defRPr/>
            </a:pPr>
            <a:endParaRPr lang="en-US" sz="900" dirty="0">
              <a:sym typeface="Symbol" pitchFamily="18" charset="2"/>
            </a:endParaRPr>
          </a:p>
          <a:p>
            <a:pPr marL="0" indent="0" eaLnBrk="1" hangingPunct="1">
              <a:lnSpc>
                <a:spcPct val="110000"/>
              </a:lnSpc>
              <a:spcBef>
                <a:spcPct val="0"/>
              </a:spcBef>
              <a:buFontTx/>
              <a:buChar char="•"/>
              <a:defRPr/>
            </a:pPr>
            <a:r>
              <a:rPr lang="en-US" sz="2800" dirty="0">
                <a:sym typeface="Symbol" pitchFamily="18" charset="2"/>
              </a:rPr>
              <a:t>  1</a:t>
            </a:r>
          </a:p>
          <a:p>
            <a:pPr marL="0" indent="0" eaLnBrk="1" hangingPunct="1">
              <a:lnSpc>
                <a:spcPct val="110000"/>
              </a:lnSpc>
              <a:spcBef>
                <a:spcPct val="0"/>
              </a:spcBef>
              <a:buFontTx/>
              <a:buChar char="•"/>
              <a:defRPr/>
            </a:pPr>
            <a:r>
              <a:rPr lang="en-US" sz="2800" dirty="0">
                <a:sym typeface="Symbol" pitchFamily="18" charset="2"/>
              </a:rPr>
              <a:t>  log n</a:t>
            </a:r>
          </a:p>
          <a:p>
            <a:pPr marL="0" indent="0" eaLnBrk="1" hangingPunct="1">
              <a:lnSpc>
                <a:spcPct val="110000"/>
              </a:lnSpc>
              <a:spcBef>
                <a:spcPct val="0"/>
              </a:spcBef>
              <a:buFontTx/>
              <a:buChar char="•"/>
              <a:defRPr/>
            </a:pPr>
            <a:r>
              <a:rPr lang="en-US" sz="2800" dirty="0">
                <a:sym typeface="Symbol" pitchFamily="18" charset="2"/>
              </a:rPr>
              <a:t>  n</a:t>
            </a:r>
          </a:p>
          <a:p>
            <a:pPr marL="0" indent="0" eaLnBrk="1" hangingPunct="1">
              <a:lnSpc>
                <a:spcPct val="110000"/>
              </a:lnSpc>
              <a:spcBef>
                <a:spcPct val="0"/>
              </a:spcBef>
              <a:buFontTx/>
              <a:buChar char="•"/>
              <a:defRPr/>
            </a:pPr>
            <a:r>
              <a:rPr lang="en-US" sz="2800" dirty="0">
                <a:sym typeface="Symbol" pitchFamily="18" charset="2"/>
              </a:rPr>
              <a:t>  n log n</a:t>
            </a:r>
          </a:p>
          <a:p>
            <a:pPr marL="0" indent="0" eaLnBrk="1" hangingPunct="1">
              <a:lnSpc>
                <a:spcPct val="110000"/>
              </a:lnSpc>
              <a:spcBef>
                <a:spcPct val="0"/>
              </a:spcBef>
              <a:buFontTx/>
              <a:buChar char="•"/>
              <a:defRPr/>
            </a:pPr>
            <a:r>
              <a:rPr lang="en-US" sz="2800" dirty="0">
                <a:sym typeface="Symbol" pitchFamily="18" charset="2"/>
              </a:rPr>
              <a:t>  n</a:t>
            </a:r>
            <a:r>
              <a:rPr lang="en-US" sz="2800" baseline="30000" dirty="0">
                <a:sym typeface="Symbol" pitchFamily="18" charset="2"/>
              </a:rPr>
              <a:t>2</a:t>
            </a:r>
          </a:p>
          <a:p>
            <a:pPr marL="0" indent="0" eaLnBrk="1" hangingPunct="1">
              <a:lnSpc>
                <a:spcPct val="110000"/>
              </a:lnSpc>
              <a:spcBef>
                <a:spcPct val="0"/>
              </a:spcBef>
              <a:buFontTx/>
              <a:buChar char="•"/>
              <a:defRPr/>
            </a:pPr>
            <a:r>
              <a:rPr lang="en-US" sz="2800" dirty="0">
                <a:sym typeface="Symbol" pitchFamily="18" charset="2"/>
              </a:rPr>
              <a:t>  n</a:t>
            </a:r>
            <a:r>
              <a:rPr lang="en-US" sz="2800" baseline="30000" dirty="0">
                <a:sym typeface="Symbol" pitchFamily="18" charset="2"/>
              </a:rPr>
              <a:t>3</a:t>
            </a:r>
          </a:p>
          <a:p>
            <a:pPr marL="0" indent="0" eaLnBrk="1" hangingPunct="1">
              <a:lnSpc>
                <a:spcPct val="110000"/>
              </a:lnSpc>
              <a:spcBef>
                <a:spcPct val="0"/>
              </a:spcBef>
              <a:buFontTx/>
              <a:buChar char="•"/>
              <a:defRPr/>
            </a:pPr>
            <a:r>
              <a:rPr lang="en-US" sz="2800" dirty="0">
                <a:sym typeface="Symbol" pitchFamily="18" charset="2"/>
              </a:rPr>
              <a:t>  2</a:t>
            </a:r>
            <a:r>
              <a:rPr lang="en-US" sz="2800" baseline="30000" dirty="0">
                <a:sym typeface="Symbol" pitchFamily="18" charset="2"/>
              </a:rPr>
              <a:t>n</a:t>
            </a:r>
          </a:p>
          <a:p>
            <a:pPr marL="0" indent="0" eaLnBrk="1" hangingPunct="1">
              <a:lnSpc>
                <a:spcPct val="110000"/>
              </a:lnSpc>
              <a:spcBef>
                <a:spcPct val="0"/>
              </a:spcBef>
              <a:buFontTx/>
              <a:buChar char="•"/>
              <a:defRPr/>
            </a:pPr>
            <a:r>
              <a:rPr lang="en-US" sz="2800" dirty="0">
                <a:sym typeface="Symbol" pitchFamily="18" charset="2"/>
              </a:rPr>
              <a:t>  n!</a:t>
            </a:r>
          </a:p>
        </p:txBody>
      </p:sp>
    </p:spTree>
    <p:extLst>
      <p:ext uri="{BB962C8B-B14F-4D97-AF65-F5344CB8AC3E}">
        <p14:creationId xmlns:p14="http://schemas.microsoft.com/office/powerpoint/2010/main" val="6357723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anim calcmode="lin" valueType="num">
                                      <p:cBhvr additive="base">
                                        <p:cTn id="7" dur="500" fill="hold"/>
                                        <p:tgtEl>
                                          <p:spTgt spid="1914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14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1491">
                                            <p:txEl>
                                              <p:pRg st="1" end="1"/>
                                            </p:txEl>
                                          </p:spTgt>
                                        </p:tgtEl>
                                        <p:attrNameLst>
                                          <p:attrName>style.visibility</p:attrName>
                                        </p:attrNameLst>
                                      </p:cBhvr>
                                      <p:to>
                                        <p:strVal val="visible"/>
                                      </p:to>
                                    </p:set>
                                    <p:anim calcmode="lin" valueType="num">
                                      <p:cBhvr additive="base">
                                        <p:cTn id="13" dur="500" fill="hold"/>
                                        <p:tgtEl>
                                          <p:spTgt spid="1914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14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1491">
                                            <p:txEl>
                                              <p:pRg st="3" end="3"/>
                                            </p:txEl>
                                          </p:spTgt>
                                        </p:tgtEl>
                                        <p:attrNameLst>
                                          <p:attrName>style.visibility</p:attrName>
                                        </p:attrNameLst>
                                      </p:cBhvr>
                                      <p:to>
                                        <p:strVal val="visible"/>
                                      </p:to>
                                    </p:set>
                                    <p:anim calcmode="lin" valueType="num">
                                      <p:cBhvr additive="base">
                                        <p:cTn id="19" dur="500" fill="hold"/>
                                        <p:tgtEl>
                                          <p:spTgt spid="19149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14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1491">
                                            <p:txEl>
                                              <p:pRg st="5" end="5"/>
                                            </p:txEl>
                                          </p:spTgt>
                                        </p:tgtEl>
                                        <p:attrNameLst>
                                          <p:attrName>style.visibility</p:attrName>
                                        </p:attrNameLst>
                                      </p:cBhvr>
                                      <p:to>
                                        <p:strVal val="visible"/>
                                      </p:to>
                                    </p:set>
                                    <p:anim calcmode="lin" valueType="num">
                                      <p:cBhvr additive="base">
                                        <p:cTn id="25" dur="500" fill="hold"/>
                                        <p:tgtEl>
                                          <p:spTgt spid="191491">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149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1491">
                                            <p:txEl>
                                              <p:pRg st="6" end="6"/>
                                            </p:txEl>
                                          </p:spTgt>
                                        </p:tgtEl>
                                        <p:attrNameLst>
                                          <p:attrName>style.visibility</p:attrName>
                                        </p:attrNameLst>
                                      </p:cBhvr>
                                      <p:to>
                                        <p:strVal val="visible"/>
                                      </p:to>
                                    </p:set>
                                    <p:anim calcmode="lin" valueType="num">
                                      <p:cBhvr additive="base">
                                        <p:cTn id="31" dur="500" fill="hold"/>
                                        <p:tgtEl>
                                          <p:spTgt spid="191491">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149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91491">
                                            <p:txEl>
                                              <p:pRg st="7" end="7"/>
                                            </p:txEl>
                                          </p:spTgt>
                                        </p:tgtEl>
                                        <p:attrNameLst>
                                          <p:attrName>style.visibility</p:attrName>
                                        </p:attrNameLst>
                                      </p:cBhvr>
                                      <p:to>
                                        <p:strVal val="visible"/>
                                      </p:to>
                                    </p:set>
                                    <p:anim calcmode="lin" valueType="num">
                                      <p:cBhvr additive="base">
                                        <p:cTn id="37" dur="500" fill="hold"/>
                                        <p:tgtEl>
                                          <p:spTgt spid="191491">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9149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91491">
                                            <p:txEl>
                                              <p:pRg st="8" end="8"/>
                                            </p:txEl>
                                          </p:spTgt>
                                        </p:tgtEl>
                                        <p:attrNameLst>
                                          <p:attrName>style.visibility</p:attrName>
                                        </p:attrNameLst>
                                      </p:cBhvr>
                                      <p:to>
                                        <p:strVal val="visible"/>
                                      </p:to>
                                    </p:set>
                                    <p:anim calcmode="lin" valueType="num">
                                      <p:cBhvr additive="base">
                                        <p:cTn id="43" dur="500" fill="hold"/>
                                        <p:tgtEl>
                                          <p:spTgt spid="191491">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91491">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91491">
                                            <p:txEl>
                                              <p:pRg st="9" end="9"/>
                                            </p:txEl>
                                          </p:spTgt>
                                        </p:tgtEl>
                                        <p:attrNameLst>
                                          <p:attrName>style.visibility</p:attrName>
                                        </p:attrNameLst>
                                      </p:cBhvr>
                                      <p:to>
                                        <p:strVal val="visible"/>
                                      </p:to>
                                    </p:set>
                                    <p:anim calcmode="lin" valueType="num">
                                      <p:cBhvr additive="base">
                                        <p:cTn id="49" dur="500" fill="hold"/>
                                        <p:tgtEl>
                                          <p:spTgt spid="191491">
                                            <p:txEl>
                                              <p:pRg st="9" end="9"/>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91491">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91491">
                                            <p:txEl>
                                              <p:pRg st="10" end="10"/>
                                            </p:txEl>
                                          </p:spTgt>
                                        </p:tgtEl>
                                        <p:attrNameLst>
                                          <p:attrName>style.visibility</p:attrName>
                                        </p:attrNameLst>
                                      </p:cBhvr>
                                      <p:to>
                                        <p:strVal val="visible"/>
                                      </p:to>
                                    </p:set>
                                    <p:anim calcmode="lin" valueType="num">
                                      <p:cBhvr additive="base">
                                        <p:cTn id="55" dur="500" fill="hold"/>
                                        <p:tgtEl>
                                          <p:spTgt spid="191491">
                                            <p:txEl>
                                              <p:pRg st="10" end="1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91491">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91491">
                                            <p:txEl>
                                              <p:pRg st="11" end="11"/>
                                            </p:txEl>
                                          </p:spTgt>
                                        </p:tgtEl>
                                        <p:attrNameLst>
                                          <p:attrName>style.visibility</p:attrName>
                                        </p:attrNameLst>
                                      </p:cBhvr>
                                      <p:to>
                                        <p:strVal val="visible"/>
                                      </p:to>
                                    </p:set>
                                    <p:anim calcmode="lin" valueType="num">
                                      <p:cBhvr additive="base">
                                        <p:cTn id="61" dur="500" fill="hold"/>
                                        <p:tgtEl>
                                          <p:spTgt spid="191491">
                                            <p:txEl>
                                              <p:pRg st="11" end="11"/>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91491">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91491">
                                            <p:txEl>
                                              <p:pRg st="12" end="12"/>
                                            </p:txEl>
                                          </p:spTgt>
                                        </p:tgtEl>
                                        <p:attrNameLst>
                                          <p:attrName>style.visibility</p:attrName>
                                        </p:attrNameLst>
                                      </p:cBhvr>
                                      <p:to>
                                        <p:strVal val="visible"/>
                                      </p:to>
                                    </p:set>
                                    <p:anim calcmode="lin" valueType="num">
                                      <p:cBhvr additive="base">
                                        <p:cTn id="67" dur="500" fill="hold"/>
                                        <p:tgtEl>
                                          <p:spTgt spid="191491">
                                            <p:txEl>
                                              <p:pRg st="12" end="12"/>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91491">
                                            <p:txEl>
                                              <p:pRg st="12" end="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Growth of Functions</a:t>
            </a:r>
            <a:endParaRPr lang="en-IN" dirty="0"/>
          </a:p>
        </p:txBody>
      </p:sp>
      <p:sp>
        <p:nvSpPr>
          <p:cNvPr id="3" name="Content Placeholder 2"/>
          <p:cNvSpPr>
            <a:spLocks noGrp="1"/>
          </p:cNvSpPr>
          <p:nvPr>
            <p:ph idx="1"/>
          </p:nvPr>
        </p:nvSpPr>
        <p:spPr/>
        <p:txBody>
          <a:bodyPr/>
          <a:lstStyle/>
          <a:p>
            <a:r>
              <a:rPr lang="en-IN" dirty="0"/>
              <a:t>The growth of functions is usually described using the big-O notation.</a:t>
            </a:r>
          </a:p>
          <a:p>
            <a:r>
              <a:rPr lang="en-US" sz="2800" dirty="0">
                <a:solidFill>
                  <a:srgbClr val="000000"/>
                </a:solidFill>
              </a:rPr>
              <a:t>It is a measure of the </a:t>
            </a:r>
            <a:r>
              <a:rPr lang="en-US" sz="2800" dirty="0">
                <a:solidFill>
                  <a:srgbClr val="0000FF"/>
                </a:solidFill>
              </a:rPr>
              <a:t>growth of functions </a:t>
            </a:r>
            <a:r>
              <a:rPr lang="en-US" sz="2800" dirty="0">
                <a:solidFill>
                  <a:srgbClr val="000000"/>
                </a:solidFill>
              </a:rPr>
              <a:t>and often used to measure the </a:t>
            </a:r>
            <a:r>
              <a:rPr lang="en-US" sz="2800" dirty="0">
                <a:solidFill>
                  <a:srgbClr val="FF0000"/>
                </a:solidFill>
              </a:rPr>
              <a:t>complexity of algorithms.</a:t>
            </a:r>
          </a:p>
          <a:p>
            <a:endParaRPr lang="en-IN" dirty="0"/>
          </a:p>
        </p:txBody>
      </p:sp>
    </p:spTree>
    <p:extLst>
      <p:ext uri="{BB962C8B-B14F-4D97-AF65-F5344CB8AC3E}">
        <p14:creationId xmlns:p14="http://schemas.microsoft.com/office/powerpoint/2010/main" val="8389479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a:t>
            </a:r>
            <a:r>
              <a:rPr lang="en-US" i="1" dirty="0"/>
              <a:t>O</a:t>
            </a:r>
            <a:r>
              <a:rPr lang="en-US" dirty="0"/>
              <a:t> Notation</a:t>
            </a:r>
          </a:p>
        </p:txBody>
      </p:sp>
      <p:sp>
        <p:nvSpPr>
          <p:cNvPr id="3" name="Content Placeholder 2"/>
          <p:cNvSpPr>
            <a:spLocks noGrp="1"/>
          </p:cNvSpPr>
          <p:nvPr>
            <p:ph idx="1"/>
          </p:nvPr>
        </p:nvSpPr>
        <p:spPr/>
        <p:txBody>
          <a:bodyPr>
            <a:normAutofit fontScale="92500" lnSpcReduction="10000"/>
          </a:bodyPr>
          <a:lstStyle/>
          <a:p>
            <a:pPr algn="just">
              <a:buNone/>
            </a:pPr>
            <a:r>
              <a:rPr lang="en-US" b="1" dirty="0"/>
              <a:t>   Definition</a:t>
            </a:r>
            <a:r>
              <a:rPr lang="en-US" dirty="0"/>
              <a:t>: Let </a:t>
            </a:r>
            <a:r>
              <a:rPr lang="en-US" i="1" dirty="0"/>
              <a:t>f</a:t>
            </a:r>
            <a:r>
              <a:rPr lang="en-US" dirty="0"/>
              <a:t> and </a:t>
            </a:r>
            <a:r>
              <a:rPr lang="en-US" i="1" dirty="0"/>
              <a:t>g</a:t>
            </a:r>
            <a:r>
              <a:rPr lang="en-US" dirty="0"/>
              <a:t> be functions from the set of integers or the set of real numbers to the set of real numbers. We say that </a:t>
            </a:r>
            <a:r>
              <a:rPr lang="en-US" i="1" dirty="0"/>
              <a:t>f</a:t>
            </a:r>
            <a:r>
              <a:rPr lang="en-US" dirty="0"/>
              <a:t>(</a:t>
            </a:r>
            <a:r>
              <a:rPr lang="en-US" i="1" dirty="0"/>
              <a:t>x</a:t>
            </a:r>
            <a:r>
              <a:rPr lang="en-US" dirty="0"/>
              <a:t>) is </a:t>
            </a:r>
            <a:r>
              <a:rPr lang="en-US" i="1" dirty="0"/>
              <a:t>O</a:t>
            </a:r>
            <a:r>
              <a:rPr lang="en-US" dirty="0"/>
              <a:t>(</a:t>
            </a:r>
            <a:r>
              <a:rPr lang="en-US" i="1" dirty="0"/>
              <a:t>g</a:t>
            </a:r>
            <a:r>
              <a:rPr lang="en-US" dirty="0"/>
              <a:t>(</a:t>
            </a:r>
            <a:r>
              <a:rPr lang="en-US" i="1" dirty="0"/>
              <a:t>x</a:t>
            </a:r>
            <a:r>
              <a:rPr lang="en-US" dirty="0"/>
              <a:t>)) if there are constants </a:t>
            </a:r>
            <a:r>
              <a:rPr lang="en-US" i="1" dirty="0"/>
              <a:t>C</a:t>
            </a:r>
            <a:r>
              <a:rPr lang="en-US" dirty="0"/>
              <a:t> and </a:t>
            </a:r>
            <a:r>
              <a:rPr lang="en-US" i="1" dirty="0"/>
              <a:t>k</a:t>
            </a:r>
            <a:r>
              <a:rPr lang="en-US" dirty="0"/>
              <a:t> such that</a:t>
            </a:r>
          </a:p>
          <a:p>
            <a:pPr algn="just">
              <a:buNone/>
            </a:pPr>
            <a:endParaRPr lang="en-US" dirty="0"/>
          </a:p>
          <a:p>
            <a:pPr algn="just">
              <a:buNone/>
            </a:pPr>
            <a:r>
              <a:rPr lang="en-US" dirty="0"/>
              <a:t>    whenever  </a:t>
            </a:r>
            <a:r>
              <a:rPr lang="en-US" i="1" dirty="0"/>
              <a:t>x</a:t>
            </a:r>
            <a:r>
              <a:rPr lang="en-US" dirty="0"/>
              <a:t> &gt; </a:t>
            </a:r>
            <a:r>
              <a:rPr lang="en-US" i="1" dirty="0"/>
              <a:t>k</a:t>
            </a:r>
            <a:r>
              <a:rPr lang="en-US" dirty="0"/>
              <a:t>. </a:t>
            </a:r>
          </a:p>
          <a:p>
            <a:pPr algn="just"/>
            <a:r>
              <a:rPr lang="en-US" dirty="0"/>
              <a:t>This is read as “</a:t>
            </a:r>
            <a:r>
              <a:rPr lang="en-US" i="1" dirty="0"/>
              <a:t>f</a:t>
            </a:r>
            <a:r>
              <a:rPr lang="en-US" dirty="0"/>
              <a:t>(</a:t>
            </a:r>
            <a:r>
              <a:rPr lang="en-US" i="1" dirty="0"/>
              <a:t>x</a:t>
            </a:r>
            <a:r>
              <a:rPr lang="en-US" dirty="0"/>
              <a:t>) is big-</a:t>
            </a:r>
            <a:r>
              <a:rPr lang="en-US" i="1" dirty="0"/>
              <a:t>O</a:t>
            </a:r>
            <a:r>
              <a:rPr lang="en-US" dirty="0"/>
              <a:t> of </a:t>
            </a:r>
            <a:r>
              <a:rPr lang="en-US" i="1" dirty="0"/>
              <a:t>g</a:t>
            </a:r>
            <a:r>
              <a:rPr lang="en-US" dirty="0"/>
              <a:t>(</a:t>
            </a:r>
            <a:r>
              <a:rPr lang="en-US" i="1" dirty="0"/>
              <a:t>x</a:t>
            </a:r>
            <a:r>
              <a:rPr lang="en-US" dirty="0"/>
              <a:t>)” or   “</a:t>
            </a:r>
            <a:r>
              <a:rPr lang="en-US" i="1" dirty="0"/>
              <a:t>g</a:t>
            </a:r>
            <a:r>
              <a:rPr lang="en-US" dirty="0"/>
              <a:t> asymptotically dominates </a:t>
            </a:r>
            <a:r>
              <a:rPr lang="en-US" i="1" dirty="0"/>
              <a:t>f</a:t>
            </a:r>
            <a:r>
              <a:rPr lang="en-US" dirty="0"/>
              <a:t>.”</a:t>
            </a:r>
          </a:p>
          <a:p>
            <a:pPr algn="just"/>
            <a:r>
              <a:rPr lang="en-US" dirty="0"/>
              <a:t>The constants C and k are called </a:t>
            </a:r>
            <a:r>
              <a:rPr lang="en-US" i="1" dirty="0"/>
              <a:t>witnesses</a:t>
            </a:r>
            <a:r>
              <a:rPr lang="en-US" dirty="0"/>
              <a:t> to the relationship </a:t>
            </a:r>
            <a:r>
              <a:rPr lang="en-US" i="1" dirty="0"/>
              <a:t>f</a:t>
            </a:r>
            <a:r>
              <a:rPr lang="en-US" dirty="0"/>
              <a:t>(</a:t>
            </a:r>
            <a:r>
              <a:rPr lang="en-US" i="1" dirty="0"/>
              <a:t>x</a:t>
            </a:r>
            <a:r>
              <a:rPr lang="en-US" dirty="0"/>
              <a:t>) is </a:t>
            </a:r>
            <a:r>
              <a:rPr lang="en-US" i="1" dirty="0"/>
              <a:t>O</a:t>
            </a:r>
            <a:r>
              <a:rPr lang="en-US" dirty="0"/>
              <a:t>(</a:t>
            </a:r>
            <a:r>
              <a:rPr lang="en-US" i="1" dirty="0"/>
              <a:t>g</a:t>
            </a:r>
            <a:r>
              <a:rPr lang="en-US" dirty="0"/>
              <a:t>(</a:t>
            </a:r>
            <a:r>
              <a:rPr lang="en-US" i="1" dirty="0"/>
              <a:t>x</a:t>
            </a:r>
            <a:r>
              <a:rPr lang="en-US" dirty="0"/>
              <a:t>)). Only one pair of witnesses is needed. </a:t>
            </a:r>
          </a:p>
        </p:txBody>
      </p:sp>
      <p:pic>
        <p:nvPicPr>
          <p:cNvPr id="7" name="Picture 6" descr="addin_tmp.png"/>
          <p:cNvPicPr>
            <a:picLocks noChangeAspect="1"/>
          </p:cNvPicPr>
          <p:nvPr>
            <p:custDataLst>
              <p:tags r:id="rId1"/>
            </p:custDataLst>
          </p:nvPr>
        </p:nvPicPr>
        <p:blipFill>
          <a:blip r:embed="rId3" cstate="print"/>
          <a:stretch>
            <a:fillRect/>
          </a:stretch>
        </p:blipFill>
        <p:spPr>
          <a:xfrm>
            <a:off x="3352800" y="3276600"/>
            <a:ext cx="2157413" cy="3190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Illustration of Big-</a:t>
            </a:r>
            <a:r>
              <a:rPr lang="en-US" i="1" dirty="0"/>
              <a:t>O</a:t>
            </a:r>
            <a:r>
              <a:rPr lang="en-US" dirty="0"/>
              <a:t> Notation</a:t>
            </a:r>
          </a:p>
        </p:txBody>
      </p:sp>
      <p:pic>
        <p:nvPicPr>
          <p:cNvPr id="4" name="Content Placeholder 3" descr="0307.jpg"/>
          <p:cNvPicPr>
            <a:picLocks noGrp="1" noChangeAspect="1"/>
          </p:cNvPicPr>
          <p:nvPr>
            <p:ph idx="1"/>
          </p:nvPr>
        </p:nvPicPr>
        <p:blipFill>
          <a:blip r:embed="rId2" cstate="print"/>
          <a:stretch>
            <a:fillRect/>
          </a:stretch>
        </p:blipFill>
        <p:spPr>
          <a:xfrm>
            <a:off x="1143000" y="2057400"/>
            <a:ext cx="6795364" cy="3733800"/>
          </a:xfrm>
        </p:spPr>
      </p:pic>
      <p:sp>
        <p:nvSpPr>
          <p:cNvPr id="7" name="TextBox 6"/>
          <p:cNvSpPr txBox="1"/>
          <p:nvPr/>
        </p:nvSpPr>
        <p:spPr>
          <a:xfrm>
            <a:off x="4724400" y="2133600"/>
            <a:ext cx="3352800" cy="646331"/>
          </a:xfrm>
          <a:prstGeom prst="rect">
            <a:avLst/>
          </a:prstGeom>
          <a:noFill/>
        </p:spPr>
        <p:txBody>
          <a:bodyPr wrap="square" rtlCol="0">
            <a:spAutoFit/>
          </a:bodyPr>
          <a:lstStyle/>
          <a:p>
            <a:r>
              <a:rPr lang="en-US" sz="3600" i="1" dirty="0"/>
              <a:t>f</a:t>
            </a:r>
            <a:r>
              <a:rPr lang="en-US" sz="3600" dirty="0"/>
              <a:t>(</a:t>
            </a:r>
            <a:r>
              <a:rPr lang="en-US" sz="3600" i="1" dirty="0"/>
              <a:t>x</a:t>
            </a:r>
            <a:r>
              <a:rPr lang="en-US" sz="3600" dirty="0"/>
              <a:t>) is </a:t>
            </a:r>
            <a:r>
              <a:rPr lang="en-US" sz="3600" i="1" dirty="0"/>
              <a:t>O</a:t>
            </a:r>
            <a:r>
              <a:rPr lang="en-US" sz="3600" dirty="0"/>
              <a:t>(</a:t>
            </a:r>
            <a:r>
              <a:rPr lang="en-US" sz="3600" i="1" dirty="0"/>
              <a:t>g</a:t>
            </a:r>
            <a:r>
              <a:rPr lang="en-US" sz="3600" dirty="0"/>
              <a:t>(</a:t>
            </a:r>
            <a:r>
              <a:rPr lang="en-US" sz="3600" i="1" dirty="0"/>
              <a:t>x</a:t>
            </a:r>
            <a:r>
              <a:rPr lang="en-US" sz="3600"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Some Important Points about Big-</a:t>
            </a:r>
            <a:r>
              <a:rPr lang="en-US" i="1" dirty="0"/>
              <a:t>O</a:t>
            </a:r>
            <a:r>
              <a:rPr lang="en-US" dirty="0"/>
              <a:t> Notation</a:t>
            </a:r>
          </a:p>
        </p:txBody>
      </p:sp>
      <p:sp>
        <p:nvSpPr>
          <p:cNvPr id="3" name="Content Placeholder 2"/>
          <p:cNvSpPr>
            <a:spLocks noGrp="1"/>
          </p:cNvSpPr>
          <p:nvPr>
            <p:ph idx="1"/>
          </p:nvPr>
        </p:nvSpPr>
        <p:spPr/>
        <p:txBody>
          <a:bodyPr>
            <a:normAutofit fontScale="92500" lnSpcReduction="20000"/>
          </a:bodyPr>
          <a:lstStyle/>
          <a:p>
            <a:pPr algn="just"/>
            <a:r>
              <a:rPr lang="en-US" dirty="0"/>
              <a:t>If one pair of witnesses is found, then there are infinitely many pairs.  We can always make the </a:t>
            </a:r>
            <a:r>
              <a:rPr lang="en-US" i="1" dirty="0"/>
              <a:t>k</a:t>
            </a:r>
            <a:r>
              <a:rPr lang="en-US" dirty="0"/>
              <a:t> or the </a:t>
            </a:r>
            <a:r>
              <a:rPr lang="en-US" i="1" dirty="0"/>
              <a:t>C</a:t>
            </a:r>
            <a:r>
              <a:rPr lang="en-US" dirty="0"/>
              <a:t> larger and still maintain the inequality                            . </a:t>
            </a:r>
          </a:p>
          <a:p>
            <a:pPr lvl="1" algn="just"/>
            <a:r>
              <a:rPr lang="en-US" dirty="0"/>
              <a:t>Any pair </a:t>
            </a:r>
            <a:r>
              <a:rPr lang="en-US" i="1" dirty="0"/>
              <a:t>C</a:t>
            </a:r>
            <a:r>
              <a:rPr lang="en-US" i="1" dirty="0">
                <a:latin typeface="Cambria Math"/>
                <a:ea typeface="Cambria Math"/>
              </a:rPr>
              <a:t> </a:t>
            </a:r>
            <a:r>
              <a:rPr lang="en-US" dirty="0">
                <a:latin typeface="Cambria Math"/>
                <a:ea typeface="Cambria Math"/>
              </a:rPr>
              <a:t>̍</a:t>
            </a:r>
            <a:r>
              <a:rPr lang="en-US" dirty="0"/>
              <a:t> and </a:t>
            </a:r>
            <a:r>
              <a:rPr lang="en-US" i="1" dirty="0"/>
              <a:t>k</a:t>
            </a:r>
            <a:r>
              <a:rPr lang="en-US" i="1" dirty="0">
                <a:latin typeface="Cambria Math"/>
                <a:ea typeface="Cambria Math"/>
              </a:rPr>
              <a:t>̍</a:t>
            </a:r>
            <a:r>
              <a:rPr lang="en-US" dirty="0"/>
              <a:t> where </a:t>
            </a:r>
            <a:r>
              <a:rPr lang="en-US" i="1" dirty="0"/>
              <a:t>C</a:t>
            </a:r>
            <a:r>
              <a:rPr lang="en-US" dirty="0"/>
              <a:t> &lt; </a:t>
            </a:r>
            <a:r>
              <a:rPr lang="en-US" i="1" dirty="0"/>
              <a:t>C</a:t>
            </a:r>
            <a:r>
              <a:rPr lang="en-US" i="1" dirty="0">
                <a:latin typeface="Cambria Math"/>
                <a:ea typeface="Cambria Math"/>
              </a:rPr>
              <a:t>̍</a:t>
            </a:r>
            <a:r>
              <a:rPr lang="en-US" dirty="0"/>
              <a:t> and </a:t>
            </a:r>
            <a:r>
              <a:rPr lang="en-US" i="1" dirty="0"/>
              <a:t>k</a:t>
            </a:r>
            <a:r>
              <a:rPr lang="en-US" dirty="0"/>
              <a:t> &lt; </a:t>
            </a:r>
            <a:r>
              <a:rPr lang="en-US" i="1" dirty="0"/>
              <a:t>k </a:t>
            </a:r>
            <a:r>
              <a:rPr lang="en-US" dirty="0">
                <a:latin typeface="Cambria Math"/>
                <a:ea typeface="Cambria Math"/>
              </a:rPr>
              <a:t>̍</a:t>
            </a:r>
            <a:r>
              <a:rPr lang="en-US" dirty="0"/>
              <a:t> is also a pair of witnesses since                                  whenever </a:t>
            </a:r>
            <a:r>
              <a:rPr lang="en-US" i="1" dirty="0"/>
              <a:t>x</a:t>
            </a:r>
            <a:r>
              <a:rPr lang="en-US" dirty="0"/>
              <a:t> &gt; </a:t>
            </a:r>
            <a:r>
              <a:rPr lang="en-US" i="1" dirty="0"/>
              <a:t>k</a:t>
            </a:r>
            <a:r>
              <a:rPr lang="en-US" i="1" dirty="0">
                <a:latin typeface="Cambria Math"/>
                <a:ea typeface="Cambria Math"/>
              </a:rPr>
              <a:t>̍</a:t>
            </a:r>
            <a:r>
              <a:rPr lang="en-US" i="1" dirty="0"/>
              <a:t> </a:t>
            </a:r>
            <a:r>
              <a:rPr lang="en-US" dirty="0"/>
              <a:t>&gt; </a:t>
            </a:r>
            <a:r>
              <a:rPr lang="en-US" i="1" dirty="0"/>
              <a:t>k</a:t>
            </a:r>
            <a:r>
              <a:rPr lang="en-US" dirty="0"/>
              <a:t>.</a:t>
            </a:r>
          </a:p>
          <a:p>
            <a:pPr algn="just">
              <a:buNone/>
            </a:pPr>
            <a:r>
              <a:rPr lang="en-US" dirty="0"/>
              <a:t>You may see  “ </a:t>
            </a:r>
            <a:r>
              <a:rPr lang="en-US" i="1" dirty="0"/>
              <a:t>f</a:t>
            </a:r>
            <a:r>
              <a:rPr lang="en-US" dirty="0"/>
              <a:t>(</a:t>
            </a:r>
            <a:r>
              <a:rPr lang="en-US" i="1" dirty="0"/>
              <a:t>x</a:t>
            </a:r>
            <a:r>
              <a:rPr lang="en-US" dirty="0"/>
              <a:t>) = </a:t>
            </a:r>
            <a:r>
              <a:rPr lang="en-US" i="1" dirty="0"/>
              <a:t>O</a:t>
            </a:r>
            <a:r>
              <a:rPr lang="en-US" dirty="0"/>
              <a:t>(</a:t>
            </a:r>
            <a:r>
              <a:rPr lang="en-US" i="1" dirty="0"/>
              <a:t>g</a:t>
            </a:r>
            <a:r>
              <a:rPr lang="en-US" dirty="0"/>
              <a:t>(</a:t>
            </a:r>
            <a:r>
              <a:rPr lang="en-US" i="1" dirty="0"/>
              <a:t>x</a:t>
            </a:r>
            <a:r>
              <a:rPr lang="en-US" dirty="0"/>
              <a:t>))” instead of “ </a:t>
            </a:r>
            <a:r>
              <a:rPr lang="en-US" i="1" dirty="0"/>
              <a:t>f</a:t>
            </a:r>
            <a:r>
              <a:rPr lang="en-US" dirty="0"/>
              <a:t>(</a:t>
            </a:r>
            <a:r>
              <a:rPr lang="en-US" i="1" dirty="0"/>
              <a:t>x</a:t>
            </a:r>
            <a:r>
              <a:rPr lang="en-US" dirty="0"/>
              <a:t>) is </a:t>
            </a:r>
            <a:r>
              <a:rPr lang="en-US" i="1" dirty="0"/>
              <a:t>O</a:t>
            </a:r>
            <a:r>
              <a:rPr lang="en-US" dirty="0"/>
              <a:t>(</a:t>
            </a:r>
            <a:r>
              <a:rPr lang="en-US" i="1" dirty="0"/>
              <a:t>g</a:t>
            </a:r>
            <a:r>
              <a:rPr lang="en-US" dirty="0"/>
              <a:t>(</a:t>
            </a:r>
            <a:r>
              <a:rPr lang="en-US" i="1" dirty="0"/>
              <a:t>x</a:t>
            </a:r>
            <a:r>
              <a:rPr lang="en-US" dirty="0"/>
              <a:t>)).”  </a:t>
            </a:r>
          </a:p>
          <a:p>
            <a:pPr lvl="1" algn="just"/>
            <a:r>
              <a:rPr lang="en-US" dirty="0"/>
              <a:t>But this is an abuse of the equals sign since the meaning is that there is an inequality relating the values of </a:t>
            </a:r>
            <a:r>
              <a:rPr lang="en-US" i="1" dirty="0"/>
              <a:t>f</a:t>
            </a:r>
            <a:r>
              <a:rPr lang="en-US" dirty="0"/>
              <a:t> and </a:t>
            </a:r>
            <a:r>
              <a:rPr lang="en-US" i="1" dirty="0"/>
              <a:t>g</a:t>
            </a:r>
            <a:r>
              <a:rPr lang="en-US" dirty="0"/>
              <a:t>, for sufficiently large values of x. </a:t>
            </a:r>
          </a:p>
          <a:p>
            <a:pPr lvl="1" algn="just"/>
            <a:r>
              <a:rPr lang="en-US" dirty="0"/>
              <a:t>It is ok to write </a:t>
            </a:r>
            <a:r>
              <a:rPr lang="en-US" i="1" dirty="0"/>
              <a:t>f</a:t>
            </a:r>
            <a:r>
              <a:rPr lang="en-US" dirty="0"/>
              <a:t>(</a:t>
            </a:r>
            <a:r>
              <a:rPr lang="en-US" i="1" dirty="0"/>
              <a:t>x</a:t>
            </a:r>
            <a:r>
              <a:rPr lang="en-US" dirty="0"/>
              <a:t>) </a:t>
            </a:r>
            <a:r>
              <a:rPr lang="en-US" dirty="0">
                <a:latin typeface="Cambria Math"/>
                <a:ea typeface="Cambria Math"/>
              </a:rPr>
              <a:t>∊</a:t>
            </a:r>
            <a:r>
              <a:rPr lang="en-US" dirty="0"/>
              <a:t> </a:t>
            </a:r>
            <a:r>
              <a:rPr lang="en-US" i="1" dirty="0"/>
              <a:t>O</a:t>
            </a:r>
            <a:r>
              <a:rPr lang="en-US" dirty="0"/>
              <a:t>(</a:t>
            </a:r>
            <a:r>
              <a:rPr lang="en-US" i="1" dirty="0"/>
              <a:t>g</a:t>
            </a:r>
            <a:r>
              <a:rPr lang="en-US" dirty="0"/>
              <a:t>(</a:t>
            </a:r>
            <a:r>
              <a:rPr lang="en-US" i="1" dirty="0"/>
              <a:t>x</a:t>
            </a:r>
            <a:r>
              <a:rPr lang="en-US" dirty="0"/>
              <a:t>)), because  </a:t>
            </a:r>
            <a:r>
              <a:rPr lang="en-US" i="1" dirty="0"/>
              <a:t>O</a:t>
            </a:r>
            <a:r>
              <a:rPr lang="en-US" dirty="0"/>
              <a:t>(</a:t>
            </a:r>
            <a:r>
              <a:rPr lang="en-US" i="1" dirty="0"/>
              <a:t>g</a:t>
            </a:r>
            <a:r>
              <a:rPr lang="en-US" dirty="0"/>
              <a:t>(</a:t>
            </a:r>
            <a:r>
              <a:rPr lang="en-US" i="1" dirty="0"/>
              <a:t>x</a:t>
            </a:r>
            <a:r>
              <a:rPr lang="en-US" dirty="0"/>
              <a:t>)) represents the set of functions that are </a:t>
            </a:r>
            <a:r>
              <a:rPr lang="en-US" i="1" dirty="0"/>
              <a:t>O</a:t>
            </a:r>
            <a:r>
              <a:rPr lang="en-US" dirty="0"/>
              <a:t>(</a:t>
            </a:r>
            <a:r>
              <a:rPr lang="en-US" i="1" dirty="0"/>
              <a:t>g</a:t>
            </a:r>
            <a:r>
              <a:rPr lang="en-US" dirty="0"/>
              <a:t>(</a:t>
            </a:r>
            <a:r>
              <a:rPr lang="en-US" i="1" dirty="0"/>
              <a:t>x</a:t>
            </a:r>
            <a:r>
              <a:rPr lang="en-US" dirty="0"/>
              <a:t>)).</a:t>
            </a:r>
          </a:p>
          <a:p>
            <a:pPr algn="just"/>
            <a:r>
              <a:rPr lang="en-US" dirty="0"/>
              <a:t>Usually, we will drop the absolute value sign since we will always deal with functions that take on positive values. </a:t>
            </a:r>
          </a:p>
          <a:p>
            <a:pPr algn="just">
              <a:buNone/>
            </a:pPr>
            <a:endParaRPr lang="en-US" dirty="0"/>
          </a:p>
        </p:txBody>
      </p:sp>
      <p:pic>
        <p:nvPicPr>
          <p:cNvPr id="6" name="Picture 5" descr="addin_tmp.png"/>
          <p:cNvPicPr>
            <a:picLocks noChangeAspect="1"/>
          </p:cNvPicPr>
          <p:nvPr>
            <p:custDataLst>
              <p:tags r:id="rId1"/>
            </p:custDataLst>
          </p:nvPr>
        </p:nvPicPr>
        <p:blipFill>
          <a:blip r:embed="rId4" cstate="print"/>
          <a:stretch>
            <a:fillRect/>
          </a:stretch>
        </p:blipFill>
        <p:spPr>
          <a:xfrm>
            <a:off x="3124200" y="3200400"/>
            <a:ext cx="2157413" cy="191453"/>
          </a:xfrm>
          <a:prstGeom prst="rect">
            <a:avLst/>
          </a:prstGeom>
        </p:spPr>
      </p:pic>
      <p:pic>
        <p:nvPicPr>
          <p:cNvPr id="9" name="Picture 8" descr="addin_tmp.png"/>
          <p:cNvPicPr>
            <a:picLocks noChangeAspect="1"/>
          </p:cNvPicPr>
          <p:nvPr>
            <p:custDataLst>
              <p:tags r:id="rId2"/>
            </p:custDataLst>
          </p:nvPr>
        </p:nvPicPr>
        <p:blipFill>
          <a:blip r:embed="rId5" cstate="print"/>
          <a:stretch>
            <a:fillRect/>
          </a:stretch>
        </p:blipFill>
        <p:spPr>
          <a:xfrm>
            <a:off x="4572000" y="2590800"/>
            <a:ext cx="1725930" cy="2552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Using the Definition of Big-</a:t>
            </a:r>
            <a:r>
              <a:rPr lang="en-US" sz="4000" i="1" dirty="0"/>
              <a:t>O</a:t>
            </a:r>
            <a:r>
              <a:rPr lang="en-US" sz="4000" dirty="0"/>
              <a:t> Notation</a:t>
            </a:r>
          </a:p>
        </p:txBody>
      </p:sp>
      <p:sp>
        <p:nvSpPr>
          <p:cNvPr id="3" name="Content Placeholder 2"/>
          <p:cNvSpPr>
            <a:spLocks noGrp="1"/>
          </p:cNvSpPr>
          <p:nvPr>
            <p:ph idx="1"/>
          </p:nvPr>
        </p:nvSpPr>
        <p:spPr/>
        <p:txBody>
          <a:bodyPr>
            <a:normAutofit fontScale="92500" lnSpcReduction="10000"/>
          </a:bodyPr>
          <a:lstStyle/>
          <a:p>
            <a:pPr>
              <a:buNone/>
            </a:pPr>
            <a:r>
              <a:rPr lang="en-US" dirty="0"/>
              <a:t>   </a:t>
            </a:r>
            <a:r>
              <a:rPr lang="en-US" b="1" dirty="0"/>
              <a:t>Example</a:t>
            </a:r>
            <a:r>
              <a:rPr lang="en-US" dirty="0"/>
              <a:t>: Show that                                    is            .</a:t>
            </a:r>
          </a:p>
          <a:p>
            <a:pPr>
              <a:buNone/>
            </a:pPr>
            <a:r>
              <a:rPr lang="en-US" dirty="0"/>
              <a:t>   </a:t>
            </a:r>
            <a:r>
              <a:rPr lang="en-US" b="1" dirty="0"/>
              <a:t>Solution</a:t>
            </a:r>
            <a:r>
              <a:rPr lang="en-US" dirty="0"/>
              <a:t>:  Since when </a:t>
            </a:r>
            <a:r>
              <a:rPr lang="en-US" i="1" dirty="0"/>
              <a:t>x</a:t>
            </a:r>
            <a:r>
              <a:rPr lang="en-US" dirty="0"/>
              <a:t> &gt; </a:t>
            </a:r>
            <a:r>
              <a:rPr lang="en-US" dirty="0">
                <a:latin typeface="Cambria Math" pitchFamily="18" charset="0"/>
                <a:ea typeface="Cambria Math" pitchFamily="18" charset="0"/>
              </a:rPr>
              <a:t>1</a:t>
            </a:r>
            <a:r>
              <a:rPr lang="en-US" dirty="0"/>
              <a:t>,  </a:t>
            </a:r>
            <a:r>
              <a:rPr lang="en-US" i="1" dirty="0"/>
              <a:t>x</a:t>
            </a:r>
            <a:r>
              <a:rPr lang="en-US" dirty="0"/>
              <a:t> &lt; </a:t>
            </a:r>
            <a:r>
              <a:rPr lang="en-US" i="1" dirty="0">
                <a:ea typeface="Cambria Math" pitchFamily="18" charset="0"/>
              </a:rPr>
              <a:t>x</a:t>
            </a:r>
            <a:r>
              <a:rPr lang="en-US" baseline="30000" dirty="0">
                <a:latin typeface="Cambria Math" pitchFamily="18" charset="0"/>
                <a:ea typeface="Cambria Math" pitchFamily="18" charset="0"/>
              </a:rPr>
              <a:t>2</a:t>
            </a:r>
            <a:r>
              <a:rPr lang="en-US" dirty="0"/>
              <a:t> and </a:t>
            </a:r>
            <a:r>
              <a:rPr lang="en-US" dirty="0">
                <a:latin typeface="Cambria Math" pitchFamily="18" charset="0"/>
                <a:ea typeface="Cambria Math" pitchFamily="18" charset="0"/>
              </a:rPr>
              <a:t>1</a:t>
            </a:r>
            <a:r>
              <a:rPr lang="en-US" dirty="0"/>
              <a:t> &lt; </a:t>
            </a:r>
            <a:r>
              <a:rPr lang="en-US" i="1" dirty="0">
                <a:ea typeface="Cambria Math" pitchFamily="18" charset="0"/>
              </a:rPr>
              <a:t>x</a:t>
            </a:r>
            <a:r>
              <a:rPr lang="en-US" baseline="30000" dirty="0">
                <a:latin typeface="Cambria Math" pitchFamily="18" charset="0"/>
                <a:ea typeface="Cambria Math" pitchFamily="18" charset="0"/>
              </a:rPr>
              <a:t>2</a:t>
            </a:r>
            <a:r>
              <a:rPr lang="en-US" dirty="0"/>
              <a:t> </a:t>
            </a:r>
          </a:p>
          <a:p>
            <a:pPr>
              <a:buNone/>
            </a:pPr>
            <a:endParaRPr lang="en-US" dirty="0"/>
          </a:p>
          <a:p>
            <a:pPr>
              <a:buNone/>
            </a:pPr>
            <a:r>
              <a:rPr lang="en-US" dirty="0"/>
              <a:t>               </a:t>
            </a:r>
            <a:endParaRPr lang="en-US" i="1" dirty="0"/>
          </a:p>
          <a:p>
            <a:pPr lvl="1"/>
            <a:r>
              <a:rPr lang="en-US" dirty="0"/>
              <a:t>Can take </a:t>
            </a:r>
            <a:r>
              <a:rPr lang="en-US" i="1" dirty="0"/>
              <a:t>C = </a:t>
            </a:r>
            <a:r>
              <a:rPr lang="en-US" dirty="0">
                <a:latin typeface="Cambria Math" pitchFamily="18" charset="0"/>
                <a:ea typeface="Cambria Math" pitchFamily="18" charset="0"/>
              </a:rPr>
              <a:t>4</a:t>
            </a:r>
            <a:r>
              <a:rPr lang="en-US" i="1" dirty="0"/>
              <a:t> </a:t>
            </a:r>
            <a:r>
              <a:rPr lang="en-US" dirty="0"/>
              <a:t>and </a:t>
            </a:r>
            <a:r>
              <a:rPr lang="en-US" i="1" dirty="0"/>
              <a:t>k = </a:t>
            </a:r>
            <a:r>
              <a:rPr lang="en-US" dirty="0">
                <a:latin typeface="Cambria Math" pitchFamily="18" charset="0"/>
                <a:ea typeface="Cambria Math" pitchFamily="18" charset="0"/>
              </a:rPr>
              <a:t>1</a:t>
            </a:r>
            <a:r>
              <a:rPr lang="en-US" dirty="0"/>
              <a:t> as witnesses to show that</a:t>
            </a:r>
          </a:p>
          <a:p>
            <a:pPr>
              <a:buNone/>
            </a:pPr>
            <a:r>
              <a:rPr lang="en-US" dirty="0"/>
              <a:t>                                                      </a:t>
            </a:r>
          </a:p>
          <a:p>
            <a:r>
              <a:rPr lang="en-US" dirty="0"/>
              <a:t>Alternatively, when </a:t>
            </a:r>
            <a:r>
              <a:rPr lang="en-US" i="1" dirty="0"/>
              <a:t>x</a:t>
            </a:r>
            <a:r>
              <a:rPr lang="en-US" dirty="0"/>
              <a:t> &gt; </a:t>
            </a:r>
            <a:r>
              <a:rPr lang="en-US" dirty="0">
                <a:latin typeface="Cambria Math" pitchFamily="18" charset="0"/>
                <a:ea typeface="Cambria Math" pitchFamily="18" charset="0"/>
              </a:rPr>
              <a:t>2</a:t>
            </a:r>
            <a:r>
              <a:rPr lang="en-US" dirty="0"/>
              <a:t>, we have   </a:t>
            </a:r>
            <a:r>
              <a:rPr lang="en-US" dirty="0">
                <a:latin typeface="Cambria Math" pitchFamily="18" charset="0"/>
                <a:ea typeface="Cambria Math" pitchFamily="18" charset="0"/>
              </a:rPr>
              <a:t>2</a:t>
            </a:r>
            <a:r>
              <a:rPr lang="en-US" i="1" dirty="0"/>
              <a:t>x</a:t>
            </a:r>
            <a:r>
              <a:rPr lang="en-US" dirty="0"/>
              <a:t> </a:t>
            </a:r>
            <a:r>
              <a:rPr lang="en-US" dirty="0">
                <a:latin typeface="Cambria Math"/>
                <a:ea typeface="Cambria Math"/>
              </a:rPr>
              <a:t>≤</a:t>
            </a:r>
            <a:r>
              <a:rPr lang="en-US" dirty="0"/>
              <a:t> </a:t>
            </a:r>
            <a:r>
              <a:rPr lang="en-US" i="1" dirty="0">
                <a:ea typeface="Cambria Math" pitchFamily="18" charset="0"/>
              </a:rPr>
              <a:t>x</a:t>
            </a:r>
            <a:r>
              <a:rPr lang="en-US" baseline="30000" dirty="0">
                <a:latin typeface="Cambria Math" pitchFamily="18" charset="0"/>
                <a:ea typeface="Cambria Math" pitchFamily="18" charset="0"/>
              </a:rPr>
              <a:t>2</a:t>
            </a:r>
            <a:r>
              <a:rPr lang="en-US" dirty="0"/>
              <a:t> and </a:t>
            </a:r>
            <a:r>
              <a:rPr lang="en-US" dirty="0">
                <a:latin typeface="Cambria Math" pitchFamily="18" charset="0"/>
                <a:ea typeface="Cambria Math" pitchFamily="18" charset="0"/>
              </a:rPr>
              <a:t>1</a:t>
            </a:r>
            <a:r>
              <a:rPr lang="en-US" dirty="0"/>
              <a:t> &lt; </a:t>
            </a:r>
            <a:r>
              <a:rPr lang="en-US" i="1" dirty="0">
                <a:ea typeface="Cambria Math" pitchFamily="18" charset="0"/>
              </a:rPr>
              <a:t>x</a:t>
            </a:r>
            <a:r>
              <a:rPr lang="en-US" baseline="30000" dirty="0">
                <a:latin typeface="Cambria Math" pitchFamily="18" charset="0"/>
                <a:ea typeface="Cambria Math" pitchFamily="18" charset="0"/>
              </a:rPr>
              <a:t>2</a:t>
            </a:r>
            <a:r>
              <a:rPr lang="en-US" dirty="0"/>
              <a:t>. Hence,                                                                                   when </a:t>
            </a:r>
            <a:r>
              <a:rPr lang="en-US" i="1" dirty="0"/>
              <a:t>x</a:t>
            </a:r>
            <a:r>
              <a:rPr lang="en-US" dirty="0"/>
              <a:t> &gt; </a:t>
            </a:r>
            <a:r>
              <a:rPr lang="en-US" dirty="0">
                <a:latin typeface="Cambria Math" pitchFamily="18" charset="0"/>
                <a:ea typeface="Cambria Math" pitchFamily="18" charset="0"/>
              </a:rPr>
              <a:t>2. </a:t>
            </a:r>
          </a:p>
          <a:p>
            <a:pPr lvl="1"/>
            <a:r>
              <a:rPr lang="en-US" dirty="0">
                <a:latin typeface="Cambria Math" pitchFamily="18" charset="0"/>
                <a:ea typeface="Cambria Math" pitchFamily="18" charset="0"/>
              </a:rPr>
              <a:t>Can take </a:t>
            </a:r>
            <a:r>
              <a:rPr lang="en-US" i="1" dirty="0"/>
              <a:t>C = </a:t>
            </a:r>
            <a:r>
              <a:rPr lang="en-US" dirty="0">
                <a:latin typeface="Cambria Math" pitchFamily="18" charset="0"/>
                <a:ea typeface="Cambria Math" pitchFamily="18" charset="0"/>
              </a:rPr>
              <a:t>3</a:t>
            </a:r>
            <a:r>
              <a:rPr lang="en-US" i="1" dirty="0"/>
              <a:t> </a:t>
            </a:r>
            <a:r>
              <a:rPr lang="en-US" dirty="0"/>
              <a:t>and </a:t>
            </a:r>
            <a:r>
              <a:rPr lang="en-US" i="1" dirty="0"/>
              <a:t>k = </a:t>
            </a:r>
            <a:r>
              <a:rPr lang="en-US" dirty="0">
                <a:latin typeface="Cambria Math" pitchFamily="18" charset="0"/>
                <a:ea typeface="Cambria Math" pitchFamily="18" charset="0"/>
              </a:rPr>
              <a:t>2</a:t>
            </a:r>
            <a:r>
              <a:rPr lang="en-US" dirty="0"/>
              <a:t> as witnesses instead.                                               </a:t>
            </a:r>
          </a:p>
          <a:p>
            <a:pPr>
              <a:buNone/>
            </a:pPr>
            <a:r>
              <a:rPr lang="en-US" dirty="0"/>
              <a:t>                                            </a:t>
            </a:r>
          </a:p>
        </p:txBody>
      </p:sp>
      <p:pic>
        <p:nvPicPr>
          <p:cNvPr id="10" name="Picture 9" descr="addin_tmp.png"/>
          <p:cNvPicPr>
            <a:picLocks noChangeAspect="1"/>
          </p:cNvPicPr>
          <p:nvPr>
            <p:custDataLst>
              <p:tags r:id="rId1"/>
            </p:custDataLst>
          </p:nvPr>
        </p:nvPicPr>
        <p:blipFill>
          <a:blip r:embed="rId7" cstate="print"/>
          <a:stretch>
            <a:fillRect/>
          </a:stretch>
        </p:blipFill>
        <p:spPr>
          <a:xfrm>
            <a:off x="3581400" y="1981200"/>
            <a:ext cx="2590800" cy="342900"/>
          </a:xfrm>
          <a:prstGeom prst="rect">
            <a:avLst/>
          </a:prstGeom>
        </p:spPr>
      </p:pic>
      <p:pic>
        <p:nvPicPr>
          <p:cNvPr id="12" name="Picture 11" descr="addin_tmp.png"/>
          <p:cNvPicPr>
            <a:picLocks noChangeAspect="1"/>
          </p:cNvPicPr>
          <p:nvPr>
            <p:custDataLst>
              <p:tags r:id="rId2"/>
            </p:custDataLst>
          </p:nvPr>
        </p:nvPicPr>
        <p:blipFill>
          <a:blip r:embed="rId8" cstate="print"/>
          <a:stretch>
            <a:fillRect/>
          </a:stretch>
        </p:blipFill>
        <p:spPr>
          <a:xfrm>
            <a:off x="1295400" y="2971800"/>
            <a:ext cx="5355431" cy="309563"/>
          </a:xfrm>
          <a:prstGeom prst="rect">
            <a:avLst/>
          </a:prstGeom>
        </p:spPr>
      </p:pic>
      <p:pic>
        <p:nvPicPr>
          <p:cNvPr id="16" name="Picture 15" descr="addin_tmp.png"/>
          <p:cNvPicPr>
            <a:picLocks noChangeAspect="1"/>
          </p:cNvPicPr>
          <p:nvPr>
            <p:custDataLst>
              <p:tags r:id="rId3"/>
            </p:custDataLst>
          </p:nvPr>
        </p:nvPicPr>
        <p:blipFill>
          <a:blip r:embed="rId9" cstate="print"/>
          <a:stretch>
            <a:fillRect/>
          </a:stretch>
        </p:blipFill>
        <p:spPr>
          <a:xfrm>
            <a:off x="1828800" y="3962400"/>
            <a:ext cx="1883569" cy="342900"/>
          </a:xfrm>
          <a:prstGeom prst="rect">
            <a:avLst/>
          </a:prstGeom>
        </p:spPr>
      </p:pic>
      <p:pic>
        <p:nvPicPr>
          <p:cNvPr id="11" name="Picture 10" descr="addin_tmp.png"/>
          <p:cNvPicPr>
            <a:picLocks noChangeAspect="1"/>
          </p:cNvPicPr>
          <p:nvPr>
            <p:custDataLst>
              <p:tags r:id="rId4"/>
            </p:custDataLst>
          </p:nvPr>
        </p:nvPicPr>
        <p:blipFill>
          <a:blip r:embed="rId10" cstate="print"/>
          <a:stretch>
            <a:fillRect/>
          </a:stretch>
        </p:blipFill>
        <p:spPr>
          <a:xfrm>
            <a:off x="6553200" y="1981200"/>
            <a:ext cx="773906" cy="342900"/>
          </a:xfrm>
          <a:prstGeom prst="rect">
            <a:avLst/>
          </a:prstGeom>
        </p:spPr>
      </p:pic>
      <p:pic>
        <p:nvPicPr>
          <p:cNvPr id="15" name="Picture 14" descr="addin_tmp.png"/>
          <p:cNvPicPr>
            <a:picLocks noChangeAspect="1"/>
          </p:cNvPicPr>
          <p:nvPr>
            <p:custDataLst>
              <p:tags r:id="rId5"/>
            </p:custDataLst>
          </p:nvPr>
        </p:nvPicPr>
        <p:blipFill>
          <a:blip r:embed="rId11" cstate="print"/>
          <a:stretch>
            <a:fillRect/>
          </a:stretch>
        </p:blipFill>
        <p:spPr>
          <a:xfrm>
            <a:off x="1905000" y="4724400"/>
            <a:ext cx="5198269" cy="30956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Illustration of Big-</a:t>
            </a:r>
            <a:r>
              <a:rPr lang="en-US" i="1" dirty="0"/>
              <a:t>O</a:t>
            </a:r>
            <a:r>
              <a:rPr lang="en-US" dirty="0"/>
              <a:t> Notation                                                                                                                                       </a:t>
            </a:r>
          </a:p>
        </p:txBody>
      </p:sp>
      <p:pic>
        <p:nvPicPr>
          <p:cNvPr id="4" name="Content Placeholder 3" descr="0304.jpg"/>
          <p:cNvPicPr>
            <a:picLocks noGrp="1" noChangeAspect="1"/>
          </p:cNvPicPr>
          <p:nvPr>
            <p:ph idx="1"/>
          </p:nvPr>
        </p:nvPicPr>
        <p:blipFill>
          <a:blip r:embed="rId4" cstate="print"/>
          <a:stretch>
            <a:fillRect/>
          </a:stretch>
        </p:blipFill>
        <p:spPr>
          <a:xfrm>
            <a:off x="914400" y="2795238"/>
            <a:ext cx="7467600" cy="3910362"/>
          </a:xfrm>
        </p:spPr>
      </p:pic>
      <p:sp>
        <p:nvSpPr>
          <p:cNvPr id="7" name="TextBox 6"/>
          <p:cNvSpPr txBox="1"/>
          <p:nvPr/>
        </p:nvSpPr>
        <p:spPr>
          <a:xfrm>
            <a:off x="2286000" y="2057400"/>
            <a:ext cx="5486400" cy="461665"/>
          </a:xfrm>
          <a:prstGeom prst="rect">
            <a:avLst/>
          </a:prstGeom>
          <a:noFill/>
        </p:spPr>
        <p:txBody>
          <a:bodyPr wrap="square" rtlCol="0">
            <a:spAutoFit/>
          </a:bodyPr>
          <a:lstStyle/>
          <a:p>
            <a:r>
              <a:rPr lang="en-US" dirty="0"/>
              <a:t>                                </a:t>
            </a:r>
            <a:r>
              <a:rPr lang="en-US" sz="2400" dirty="0"/>
              <a:t>is</a:t>
            </a:r>
            <a:r>
              <a:rPr lang="en-US" dirty="0"/>
              <a:t>                                                 </a:t>
            </a:r>
          </a:p>
        </p:txBody>
      </p:sp>
      <p:pic>
        <p:nvPicPr>
          <p:cNvPr id="12" name="Picture 11" descr="addin_tmp.png"/>
          <p:cNvPicPr>
            <a:picLocks noChangeAspect="1"/>
          </p:cNvPicPr>
          <p:nvPr>
            <p:custDataLst>
              <p:tags r:id="rId1"/>
            </p:custDataLst>
          </p:nvPr>
        </p:nvPicPr>
        <p:blipFill>
          <a:blip r:embed="rId5" cstate="print"/>
          <a:stretch>
            <a:fillRect/>
          </a:stretch>
        </p:blipFill>
        <p:spPr>
          <a:xfrm>
            <a:off x="914400" y="2133600"/>
            <a:ext cx="3108960" cy="411480"/>
          </a:xfrm>
          <a:prstGeom prst="rect">
            <a:avLst/>
          </a:prstGeom>
        </p:spPr>
      </p:pic>
      <p:pic>
        <p:nvPicPr>
          <p:cNvPr id="13" name="Picture 12" descr="addin_tmp.png"/>
          <p:cNvPicPr>
            <a:picLocks noChangeAspect="1"/>
          </p:cNvPicPr>
          <p:nvPr>
            <p:custDataLst>
              <p:tags r:id="rId2"/>
            </p:custDataLst>
          </p:nvPr>
        </p:nvPicPr>
        <p:blipFill>
          <a:blip r:embed="rId6" cstate="print"/>
          <a:stretch>
            <a:fillRect/>
          </a:stretch>
        </p:blipFill>
        <p:spPr>
          <a:xfrm>
            <a:off x="4800600" y="2133600"/>
            <a:ext cx="928688" cy="4114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a:t>
            </a:r>
            <a:r>
              <a:rPr lang="en-US" i="1" dirty="0"/>
              <a:t>O</a:t>
            </a:r>
            <a:r>
              <a:rPr lang="en-US" dirty="0"/>
              <a:t> Notation</a:t>
            </a:r>
          </a:p>
        </p:txBody>
      </p:sp>
      <p:sp>
        <p:nvSpPr>
          <p:cNvPr id="3" name="Content Placeholder 2"/>
          <p:cNvSpPr>
            <a:spLocks noGrp="1"/>
          </p:cNvSpPr>
          <p:nvPr>
            <p:ph idx="1"/>
          </p:nvPr>
        </p:nvSpPr>
        <p:spPr>
          <a:xfrm>
            <a:off x="457200" y="1905000"/>
            <a:ext cx="8229600" cy="4389120"/>
          </a:xfrm>
        </p:spPr>
        <p:txBody>
          <a:bodyPr>
            <a:normAutofit fontScale="77500" lnSpcReduction="20000"/>
          </a:bodyPr>
          <a:lstStyle/>
          <a:p>
            <a:pPr algn="just"/>
            <a:r>
              <a:rPr lang="en-US" dirty="0"/>
              <a:t>Both                                     and</a:t>
            </a:r>
          </a:p>
          <a:p>
            <a:pPr algn="just">
              <a:buNone/>
            </a:pPr>
            <a:r>
              <a:rPr lang="en-US" dirty="0"/>
              <a:t>    are such that                                 and                              .</a:t>
            </a:r>
          </a:p>
          <a:p>
            <a:pPr algn="just">
              <a:buNone/>
            </a:pPr>
            <a:r>
              <a:rPr lang="en-US" dirty="0"/>
              <a:t>    We say that the two functions are of the </a:t>
            </a:r>
            <a:r>
              <a:rPr lang="en-US" i="1" dirty="0"/>
              <a:t>same order</a:t>
            </a:r>
            <a:r>
              <a:rPr lang="en-US" dirty="0"/>
              <a:t>. (More on this later)</a:t>
            </a:r>
          </a:p>
          <a:p>
            <a:pPr algn="just">
              <a:buNone/>
            </a:pPr>
            <a:endParaRPr lang="en-US" dirty="0"/>
          </a:p>
          <a:p>
            <a:pPr algn="just"/>
            <a:r>
              <a:rPr lang="en-US" dirty="0"/>
              <a:t>If                                and </a:t>
            </a:r>
            <a:r>
              <a:rPr lang="en-US" i="1" dirty="0"/>
              <a:t>h(x)</a:t>
            </a:r>
            <a:r>
              <a:rPr lang="en-US" dirty="0"/>
              <a:t> is larger than </a:t>
            </a:r>
            <a:r>
              <a:rPr lang="en-US" i="1" dirty="0"/>
              <a:t>g(x)</a:t>
            </a:r>
            <a:r>
              <a:rPr lang="en-US" dirty="0"/>
              <a:t> for all positive real numbers, then                              . </a:t>
            </a:r>
          </a:p>
          <a:p>
            <a:pPr algn="just">
              <a:buNone/>
            </a:pPr>
            <a:r>
              <a:rPr lang="en-US" dirty="0"/>
              <a:t>        </a:t>
            </a:r>
          </a:p>
          <a:p>
            <a:pPr algn="just"/>
            <a:r>
              <a:rPr lang="en-US" dirty="0"/>
              <a:t> Note that  if                               for </a:t>
            </a:r>
            <a:r>
              <a:rPr lang="en-US" i="1" dirty="0"/>
              <a:t>x &gt; k </a:t>
            </a:r>
            <a:r>
              <a:rPr lang="en-US" dirty="0"/>
              <a:t>and if</a:t>
            </a:r>
          </a:p>
          <a:p>
            <a:pPr algn="just">
              <a:buNone/>
            </a:pPr>
            <a:r>
              <a:rPr lang="en-US" dirty="0"/>
              <a:t>     for all </a:t>
            </a:r>
            <a:r>
              <a:rPr lang="en-US" i="1" dirty="0"/>
              <a:t>x</a:t>
            </a:r>
            <a:r>
              <a:rPr lang="en-US" dirty="0"/>
              <a:t>,    then                               if </a:t>
            </a:r>
            <a:r>
              <a:rPr lang="en-US" i="1" dirty="0"/>
              <a:t>x &gt; k. </a:t>
            </a:r>
            <a:r>
              <a:rPr lang="en-US" dirty="0"/>
              <a:t>Hence,                              . </a:t>
            </a:r>
          </a:p>
          <a:p>
            <a:pPr algn="just">
              <a:buNone/>
            </a:pPr>
            <a:endParaRPr lang="en-US" dirty="0"/>
          </a:p>
          <a:p>
            <a:pPr algn="just"/>
            <a:r>
              <a:rPr lang="en-US" dirty="0"/>
              <a:t>For many applications, the goal is to select the function </a:t>
            </a:r>
            <a:r>
              <a:rPr lang="en-US" i="1" dirty="0"/>
              <a:t>g</a:t>
            </a:r>
            <a:r>
              <a:rPr lang="en-US" dirty="0"/>
              <a:t>(</a:t>
            </a:r>
            <a:r>
              <a:rPr lang="en-US" i="1" dirty="0"/>
              <a:t>x</a:t>
            </a:r>
            <a:r>
              <a:rPr lang="en-US" dirty="0"/>
              <a:t>) in </a:t>
            </a:r>
            <a:r>
              <a:rPr lang="en-US" i="1" dirty="0"/>
              <a:t>O(g(x)) </a:t>
            </a:r>
            <a:r>
              <a:rPr lang="en-US" dirty="0"/>
              <a:t>as small as possible (up to multiplication by a constant, of course).</a:t>
            </a:r>
          </a:p>
          <a:p>
            <a:pPr algn="just"/>
            <a:endParaRPr lang="en-US" dirty="0"/>
          </a:p>
          <a:p>
            <a:pPr algn="just">
              <a:buNone/>
            </a:pPr>
            <a:endParaRPr lang="en-US" dirty="0"/>
          </a:p>
        </p:txBody>
      </p:sp>
      <p:pic>
        <p:nvPicPr>
          <p:cNvPr id="28" name="Picture 27" descr="addin_tmp.png"/>
          <p:cNvPicPr>
            <a:picLocks noChangeAspect="1"/>
          </p:cNvPicPr>
          <p:nvPr>
            <p:custDataLst>
              <p:tags r:id="rId1"/>
            </p:custDataLst>
          </p:nvPr>
        </p:nvPicPr>
        <p:blipFill>
          <a:blip r:embed="rId12" cstate="print"/>
          <a:stretch>
            <a:fillRect/>
          </a:stretch>
        </p:blipFill>
        <p:spPr>
          <a:xfrm>
            <a:off x="1524000" y="1905000"/>
            <a:ext cx="2072640" cy="274320"/>
          </a:xfrm>
          <a:prstGeom prst="rect">
            <a:avLst/>
          </a:prstGeom>
        </p:spPr>
      </p:pic>
      <p:pic>
        <p:nvPicPr>
          <p:cNvPr id="29" name="Picture 28" descr="addin_tmp.png"/>
          <p:cNvPicPr>
            <a:picLocks noChangeAspect="1"/>
          </p:cNvPicPr>
          <p:nvPr>
            <p:custDataLst>
              <p:tags r:id="rId2"/>
            </p:custDataLst>
          </p:nvPr>
        </p:nvPicPr>
        <p:blipFill>
          <a:blip r:embed="rId13" cstate="print"/>
          <a:stretch>
            <a:fillRect/>
          </a:stretch>
        </p:blipFill>
        <p:spPr>
          <a:xfrm>
            <a:off x="4267200" y="1905000"/>
            <a:ext cx="1042035" cy="274320"/>
          </a:xfrm>
          <a:prstGeom prst="rect">
            <a:avLst/>
          </a:prstGeom>
        </p:spPr>
      </p:pic>
      <p:pic>
        <p:nvPicPr>
          <p:cNvPr id="27" name="Picture 26" descr="addin_tmp.png"/>
          <p:cNvPicPr>
            <a:picLocks noChangeAspect="1"/>
          </p:cNvPicPr>
          <p:nvPr>
            <p:custDataLst>
              <p:tags r:id="rId3"/>
            </p:custDataLst>
          </p:nvPr>
        </p:nvPicPr>
        <p:blipFill>
          <a:blip r:embed="rId14" cstate="print"/>
          <a:stretch>
            <a:fillRect/>
          </a:stretch>
        </p:blipFill>
        <p:spPr>
          <a:xfrm>
            <a:off x="2362200" y="2209800"/>
            <a:ext cx="1720215" cy="255270"/>
          </a:xfrm>
          <a:prstGeom prst="rect">
            <a:avLst/>
          </a:prstGeom>
        </p:spPr>
      </p:pic>
      <p:pic>
        <p:nvPicPr>
          <p:cNvPr id="31" name="Picture 30" descr="addin_tmp.png"/>
          <p:cNvPicPr>
            <a:picLocks noChangeAspect="1"/>
          </p:cNvPicPr>
          <p:nvPr>
            <p:custDataLst>
              <p:tags r:id="rId4"/>
            </p:custDataLst>
          </p:nvPr>
        </p:nvPicPr>
        <p:blipFill>
          <a:blip r:embed="rId15" cstate="print"/>
          <a:stretch>
            <a:fillRect/>
          </a:stretch>
        </p:blipFill>
        <p:spPr>
          <a:xfrm>
            <a:off x="4800600" y="2209800"/>
            <a:ext cx="1731645" cy="255270"/>
          </a:xfrm>
          <a:prstGeom prst="rect">
            <a:avLst/>
          </a:prstGeom>
        </p:spPr>
      </p:pic>
      <p:pic>
        <p:nvPicPr>
          <p:cNvPr id="26" name="Picture 25" descr="addin_tmp.png"/>
          <p:cNvPicPr>
            <a:picLocks noChangeAspect="1"/>
          </p:cNvPicPr>
          <p:nvPr>
            <p:custDataLst>
              <p:tags r:id="rId5"/>
            </p:custDataLst>
          </p:nvPr>
        </p:nvPicPr>
        <p:blipFill>
          <a:blip r:embed="rId14" cstate="print"/>
          <a:stretch>
            <a:fillRect/>
          </a:stretch>
        </p:blipFill>
        <p:spPr>
          <a:xfrm>
            <a:off x="1219200" y="3352800"/>
            <a:ext cx="1720215" cy="255270"/>
          </a:xfrm>
          <a:prstGeom prst="rect">
            <a:avLst/>
          </a:prstGeom>
        </p:spPr>
      </p:pic>
      <p:pic>
        <p:nvPicPr>
          <p:cNvPr id="25" name="Picture 24" descr="addin_tmp.png"/>
          <p:cNvPicPr>
            <a:picLocks noChangeAspect="1"/>
          </p:cNvPicPr>
          <p:nvPr>
            <p:custDataLst>
              <p:tags r:id="rId6"/>
            </p:custDataLst>
          </p:nvPr>
        </p:nvPicPr>
        <p:blipFill>
          <a:blip r:embed="rId16" cstate="print"/>
          <a:stretch>
            <a:fillRect/>
          </a:stretch>
        </p:blipFill>
        <p:spPr>
          <a:xfrm>
            <a:off x="2514600" y="3657600"/>
            <a:ext cx="1737360" cy="255270"/>
          </a:xfrm>
          <a:prstGeom prst="rect">
            <a:avLst/>
          </a:prstGeom>
        </p:spPr>
      </p:pic>
      <p:pic>
        <p:nvPicPr>
          <p:cNvPr id="23" name="Picture 22" descr="addin_tmp.png"/>
          <p:cNvPicPr>
            <a:picLocks noChangeAspect="1"/>
          </p:cNvPicPr>
          <p:nvPr>
            <p:custDataLst>
              <p:tags r:id="rId7"/>
            </p:custDataLst>
          </p:nvPr>
        </p:nvPicPr>
        <p:blipFill>
          <a:blip r:embed="rId17" cstate="print"/>
          <a:stretch>
            <a:fillRect/>
          </a:stretch>
        </p:blipFill>
        <p:spPr>
          <a:xfrm>
            <a:off x="2362200" y="4267200"/>
            <a:ext cx="1725930" cy="255270"/>
          </a:xfrm>
          <a:prstGeom prst="rect">
            <a:avLst/>
          </a:prstGeom>
        </p:spPr>
      </p:pic>
      <p:pic>
        <p:nvPicPr>
          <p:cNvPr id="24" name="Picture 23" descr="addin_tmp.png"/>
          <p:cNvPicPr>
            <a:picLocks noChangeAspect="1"/>
          </p:cNvPicPr>
          <p:nvPr>
            <p:custDataLst>
              <p:tags r:id="rId8"/>
            </p:custDataLst>
          </p:nvPr>
        </p:nvPicPr>
        <p:blipFill>
          <a:blip r:embed="rId18" cstate="print"/>
          <a:stretch>
            <a:fillRect/>
          </a:stretch>
        </p:blipFill>
        <p:spPr>
          <a:xfrm>
            <a:off x="5943600" y="4191000"/>
            <a:ext cx="1522095" cy="255270"/>
          </a:xfrm>
          <a:prstGeom prst="rect">
            <a:avLst/>
          </a:prstGeom>
        </p:spPr>
      </p:pic>
      <p:pic>
        <p:nvPicPr>
          <p:cNvPr id="22" name="Picture 21" descr="addin_tmp.png"/>
          <p:cNvPicPr>
            <a:picLocks noChangeAspect="1"/>
          </p:cNvPicPr>
          <p:nvPr>
            <p:custDataLst>
              <p:tags r:id="rId9"/>
            </p:custDataLst>
          </p:nvPr>
        </p:nvPicPr>
        <p:blipFill>
          <a:blip r:embed="rId19" cstate="print"/>
          <a:stretch>
            <a:fillRect/>
          </a:stretch>
        </p:blipFill>
        <p:spPr>
          <a:xfrm>
            <a:off x="2590800" y="4572000"/>
            <a:ext cx="1743075" cy="255270"/>
          </a:xfrm>
          <a:prstGeom prst="rect">
            <a:avLst/>
          </a:prstGeom>
        </p:spPr>
      </p:pic>
      <p:pic>
        <p:nvPicPr>
          <p:cNvPr id="21" name="Picture 20" descr="addin_tmp.png"/>
          <p:cNvPicPr>
            <a:picLocks noChangeAspect="1"/>
          </p:cNvPicPr>
          <p:nvPr>
            <p:custDataLst>
              <p:tags r:id="rId10"/>
            </p:custDataLst>
          </p:nvPr>
        </p:nvPicPr>
        <p:blipFill>
          <a:blip r:embed="rId16" cstate="print"/>
          <a:stretch>
            <a:fillRect/>
          </a:stretch>
        </p:blipFill>
        <p:spPr>
          <a:xfrm>
            <a:off x="6172200" y="4572000"/>
            <a:ext cx="1737360" cy="2552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ppt_x"/>
                                          </p:val>
                                        </p:tav>
                                        <p:tav tm="100000">
                                          <p:val>
                                            <p:strVal val="#ppt_x"/>
                                          </p:val>
                                        </p:tav>
                                      </p:tavLst>
                                    </p:anim>
                                    <p:anim calcmode="lin" valueType="num">
                                      <p:cBhvr additive="base">
                                        <p:cTn id="52" dur="500" fill="hold"/>
                                        <p:tgtEl>
                                          <p:spTgt spid="22"/>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ppt_x"/>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anim calcmode="lin" valueType="num">
                                      <p:cBhvr additive="base">
                                        <p:cTn id="6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Using the Definition of Big-</a:t>
            </a:r>
            <a:r>
              <a:rPr lang="en-US" sz="4000" i="1" dirty="0"/>
              <a:t>O</a:t>
            </a:r>
            <a:r>
              <a:rPr lang="en-US" sz="4000" dirty="0"/>
              <a:t> Notation</a:t>
            </a:r>
          </a:p>
        </p:txBody>
      </p:sp>
      <p:sp>
        <p:nvSpPr>
          <p:cNvPr id="3" name="Content Placeholder 2"/>
          <p:cNvSpPr>
            <a:spLocks noGrp="1"/>
          </p:cNvSpPr>
          <p:nvPr>
            <p:ph idx="1"/>
          </p:nvPr>
        </p:nvSpPr>
        <p:spPr/>
        <p:txBody>
          <a:bodyPr/>
          <a:lstStyle/>
          <a:p>
            <a:pPr>
              <a:buNone/>
            </a:pPr>
            <a:r>
              <a:rPr lang="en-US" b="1" dirty="0"/>
              <a:t>   Example</a:t>
            </a:r>
            <a:r>
              <a:rPr lang="en-US" dirty="0"/>
              <a:t>: Show that </a:t>
            </a:r>
            <a:r>
              <a:rPr lang="en-US" dirty="0">
                <a:latin typeface="Cambria Math" pitchFamily="18" charset="0"/>
                <a:ea typeface="Cambria Math" pitchFamily="18" charset="0"/>
              </a:rPr>
              <a:t>7</a:t>
            </a:r>
            <a:r>
              <a:rPr lang="en-US" i="1" dirty="0"/>
              <a:t>x</a:t>
            </a:r>
            <a:r>
              <a:rPr lang="en-US" baseline="30000" dirty="0">
                <a:latin typeface="Cambria Math" pitchFamily="18" charset="0"/>
                <a:ea typeface="Cambria Math" pitchFamily="18" charset="0"/>
              </a:rPr>
              <a:t>2</a:t>
            </a:r>
            <a:r>
              <a:rPr lang="en-US" dirty="0"/>
              <a:t>  is </a:t>
            </a:r>
            <a:r>
              <a:rPr lang="en-US" i="1" dirty="0"/>
              <a:t>O</a:t>
            </a:r>
            <a:r>
              <a:rPr lang="en-US" dirty="0"/>
              <a:t>(</a:t>
            </a:r>
            <a:r>
              <a:rPr lang="en-US" i="1" dirty="0"/>
              <a:t>x</a:t>
            </a:r>
            <a:r>
              <a:rPr lang="en-US" baseline="30000" dirty="0">
                <a:latin typeface="Cambria Math" pitchFamily="18" charset="0"/>
                <a:ea typeface="Cambria Math" pitchFamily="18" charset="0"/>
              </a:rPr>
              <a:t>3</a:t>
            </a:r>
            <a:r>
              <a:rPr lang="en-US" dirty="0"/>
              <a:t>).</a:t>
            </a:r>
          </a:p>
          <a:p>
            <a:pPr>
              <a:buNone/>
            </a:pPr>
            <a:r>
              <a:rPr lang="en-US" dirty="0"/>
              <a:t>   </a:t>
            </a:r>
            <a:r>
              <a:rPr lang="en-US" b="1" dirty="0"/>
              <a:t>Solution</a:t>
            </a:r>
            <a:r>
              <a:rPr lang="en-US" dirty="0"/>
              <a:t>: When </a:t>
            </a:r>
            <a:r>
              <a:rPr lang="en-US" i="1" dirty="0"/>
              <a:t>x</a:t>
            </a:r>
            <a:r>
              <a:rPr lang="en-US" dirty="0"/>
              <a:t> &gt; </a:t>
            </a:r>
            <a:r>
              <a:rPr lang="en-US" dirty="0">
                <a:latin typeface="Cambria Math" pitchFamily="18" charset="0"/>
                <a:ea typeface="Cambria Math" pitchFamily="18" charset="0"/>
              </a:rPr>
              <a:t>7</a:t>
            </a:r>
            <a:r>
              <a:rPr lang="en-US" dirty="0"/>
              <a:t>, </a:t>
            </a:r>
            <a:r>
              <a:rPr lang="en-US" dirty="0">
                <a:latin typeface="Cambria Math" pitchFamily="18" charset="0"/>
                <a:ea typeface="Cambria Math" pitchFamily="18" charset="0"/>
              </a:rPr>
              <a:t>7</a:t>
            </a:r>
            <a:r>
              <a:rPr lang="en-US" i="1" dirty="0"/>
              <a:t>x</a:t>
            </a:r>
            <a:r>
              <a:rPr lang="en-US" baseline="30000" dirty="0">
                <a:latin typeface="Cambria Math" pitchFamily="18" charset="0"/>
                <a:ea typeface="Cambria Math" pitchFamily="18" charset="0"/>
              </a:rPr>
              <a:t>2 </a:t>
            </a:r>
            <a:r>
              <a:rPr lang="en-US" dirty="0">
                <a:latin typeface="Cambria Math" pitchFamily="18" charset="0"/>
                <a:ea typeface="Cambria Math" pitchFamily="18" charset="0"/>
              </a:rPr>
              <a:t>&lt; </a:t>
            </a:r>
            <a:r>
              <a:rPr lang="en-US" i="1" dirty="0"/>
              <a:t>x</a:t>
            </a:r>
            <a:r>
              <a:rPr lang="en-US" baseline="30000" dirty="0">
                <a:latin typeface="Cambria Math" pitchFamily="18" charset="0"/>
                <a:ea typeface="Cambria Math" pitchFamily="18" charset="0"/>
              </a:rPr>
              <a:t>3</a:t>
            </a:r>
            <a:r>
              <a:rPr lang="en-US" dirty="0">
                <a:latin typeface="Cambria Math" pitchFamily="18" charset="0"/>
                <a:ea typeface="Cambria Math" pitchFamily="18" charset="0"/>
              </a:rPr>
              <a:t>. </a:t>
            </a:r>
            <a:r>
              <a:rPr lang="en-US" dirty="0">
                <a:ea typeface="Cambria Math" pitchFamily="18" charset="0"/>
              </a:rPr>
              <a:t>Take</a:t>
            </a:r>
            <a:r>
              <a:rPr lang="en-US" dirty="0">
                <a:latin typeface="Cambria Math" pitchFamily="18" charset="0"/>
                <a:ea typeface="Cambria Math" pitchFamily="18" charset="0"/>
              </a:rPr>
              <a:t> </a:t>
            </a:r>
            <a:r>
              <a:rPr lang="en-US" i="1" dirty="0">
                <a:ea typeface="Cambria Math" pitchFamily="18" charset="0"/>
              </a:rPr>
              <a:t>C</a:t>
            </a:r>
            <a:r>
              <a:rPr lang="en-US" i="1" dirty="0">
                <a:latin typeface="Cambria Math" pitchFamily="18" charset="0"/>
                <a:ea typeface="Cambria Math" pitchFamily="18" charset="0"/>
              </a:rPr>
              <a:t> </a:t>
            </a:r>
            <a:r>
              <a:rPr lang="en-US" dirty="0">
                <a:latin typeface="Cambria Math" pitchFamily="18" charset="0"/>
                <a:ea typeface="Cambria Math" pitchFamily="18" charset="0"/>
              </a:rPr>
              <a:t>=1 </a:t>
            </a:r>
            <a:r>
              <a:rPr lang="en-US" dirty="0">
                <a:ea typeface="Cambria Math" pitchFamily="18" charset="0"/>
              </a:rPr>
              <a:t>and</a:t>
            </a:r>
            <a:r>
              <a:rPr lang="en-US" dirty="0">
                <a:latin typeface="Cambria Math" pitchFamily="18" charset="0"/>
                <a:ea typeface="Cambria Math" pitchFamily="18" charset="0"/>
              </a:rPr>
              <a:t> </a:t>
            </a:r>
            <a:r>
              <a:rPr lang="en-US" i="1" dirty="0">
                <a:ea typeface="Cambria Math" pitchFamily="18" charset="0"/>
              </a:rPr>
              <a:t>k</a:t>
            </a:r>
            <a:r>
              <a:rPr lang="en-US" dirty="0">
                <a:latin typeface="Cambria Math" pitchFamily="18" charset="0"/>
                <a:ea typeface="Cambria Math" pitchFamily="18" charset="0"/>
              </a:rPr>
              <a:t> = 7 </a:t>
            </a:r>
            <a:r>
              <a:rPr lang="en-US" dirty="0">
                <a:ea typeface="Cambria Math" pitchFamily="18" charset="0"/>
              </a:rPr>
              <a:t>as witnesses to establish that </a:t>
            </a:r>
            <a:r>
              <a:rPr lang="en-US" dirty="0">
                <a:latin typeface="Cambria Math" pitchFamily="18" charset="0"/>
                <a:ea typeface="Cambria Math" pitchFamily="18" charset="0"/>
              </a:rPr>
              <a:t>7</a:t>
            </a:r>
            <a:r>
              <a:rPr lang="en-US" i="1" dirty="0"/>
              <a:t>x</a:t>
            </a:r>
            <a:r>
              <a:rPr lang="en-US" baseline="30000" dirty="0">
                <a:latin typeface="Cambria Math" pitchFamily="18" charset="0"/>
                <a:ea typeface="Cambria Math" pitchFamily="18" charset="0"/>
              </a:rPr>
              <a:t>2</a:t>
            </a:r>
            <a:r>
              <a:rPr lang="en-US" dirty="0"/>
              <a:t>  is </a:t>
            </a:r>
            <a:r>
              <a:rPr lang="en-US" i="1" dirty="0"/>
              <a:t>O</a:t>
            </a:r>
            <a:r>
              <a:rPr lang="en-US" dirty="0"/>
              <a:t>(</a:t>
            </a:r>
            <a:r>
              <a:rPr lang="en-US" i="1" dirty="0"/>
              <a:t>x</a:t>
            </a:r>
            <a:r>
              <a:rPr lang="en-US" baseline="30000" dirty="0">
                <a:latin typeface="Cambria Math" pitchFamily="18" charset="0"/>
                <a:ea typeface="Cambria Math" pitchFamily="18" charset="0"/>
              </a:rPr>
              <a:t>3</a:t>
            </a:r>
            <a:r>
              <a:rPr lang="en-US" dirty="0"/>
              <a:t>).</a:t>
            </a:r>
          </a:p>
          <a:p>
            <a:pPr>
              <a:buNone/>
            </a:pPr>
            <a:r>
              <a:rPr lang="en-US" dirty="0">
                <a:latin typeface="Cambria Math" pitchFamily="18" charset="0"/>
                <a:ea typeface="Cambria Math" pitchFamily="18" charset="0"/>
              </a:rPr>
              <a:t>    (</a:t>
            </a:r>
            <a:r>
              <a:rPr lang="en-US" dirty="0">
                <a:ea typeface="Cambria Math" pitchFamily="18" charset="0"/>
              </a:rPr>
              <a:t>Would</a:t>
            </a:r>
            <a:r>
              <a:rPr lang="en-US" dirty="0">
                <a:latin typeface="Cambria Math" pitchFamily="18" charset="0"/>
                <a:ea typeface="Cambria Math" pitchFamily="18" charset="0"/>
              </a:rPr>
              <a:t> </a:t>
            </a:r>
            <a:r>
              <a:rPr lang="en-US" i="1" dirty="0">
                <a:ea typeface="Cambria Math" pitchFamily="18" charset="0"/>
              </a:rPr>
              <a:t>C</a:t>
            </a:r>
            <a:r>
              <a:rPr lang="en-US" dirty="0">
                <a:latin typeface="Cambria Math" pitchFamily="18" charset="0"/>
                <a:ea typeface="Cambria Math" pitchFamily="18" charset="0"/>
              </a:rPr>
              <a:t> = 7 </a:t>
            </a:r>
            <a:r>
              <a:rPr lang="en-US" dirty="0">
                <a:ea typeface="Cambria Math" pitchFamily="18" charset="0"/>
              </a:rPr>
              <a:t>and</a:t>
            </a:r>
            <a:r>
              <a:rPr lang="en-US" dirty="0">
                <a:latin typeface="Cambria Math" pitchFamily="18" charset="0"/>
                <a:ea typeface="Cambria Math" pitchFamily="18" charset="0"/>
              </a:rPr>
              <a:t> </a:t>
            </a:r>
            <a:r>
              <a:rPr lang="en-US" i="1" dirty="0">
                <a:ea typeface="Cambria Math" pitchFamily="18" charset="0"/>
              </a:rPr>
              <a:t>k</a:t>
            </a:r>
            <a:r>
              <a:rPr lang="en-US" dirty="0">
                <a:latin typeface="Cambria Math" pitchFamily="18" charset="0"/>
                <a:ea typeface="Cambria Math" pitchFamily="18" charset="0"/>
              </a:rPr>
              <a:t> = 1 </a:t>
            </a:r>
            <a:r>
              <a:rPr lang="en-US" dirty="0">
                <a:ea typeface="Cambria Math" pitchFamily="18" charset="0"/>
              </a:rPr>
              <a:t>work?)</a:t>
            </a:r>
          </a:p>
          <a:p>
            <a:pPr>
              <a:buNone/>
            </a:pPr>
            <a:r>
              <a:rPr lang="en-US" dirty="0">
                <a:latin typeface="Cambria Math" pitchFamily="18" charset="0"/>
                <a:ea typeface="Cambria Math" pitchFamily="18" charset="0"/>
              </a:rPr>
              <a:t>    </a:t>
            </a:r>
            <a:r>
              <a:rPr lang="en-US" b="1" dirty="0">
                <a:ea typeface="Cambria Math" pitchFamily="18" charset="0"/>
              </a:rPr>
              <a:t>Example</a:t>
            </a:r>
            <a:r>
              <a:rPr lang="en-US" dirty="0">
                <a:ea typeface="Cambria Math" pitchFamily="18" charset="0"/>
              </a:rPr>
              <a:t>: </a:t>
            </a:r>
            <a:r>
              <a:rPr lang="en-US" dirty="0"/>
              <a:t>Show that </a:t>
            </a:r>
            <a:r>
              <a:rPr lang="en-US" i="1" dirty="0"/>
              <a:t>n</a:t>
            </a:r>
            <a:r>
              <a:rPr lang="en-US" baseline="30000" dirty="0">
                <a:latin typeface="Cambria Math" pitchFamily="18" charset="0"/>
                <a:ea typeface="Cambria Math" pitchFamily="18" charset="0"/>
              </a:rPr>
              <a:t>2</a:t>
            </a:r>
            <a:r>
              <a:rPr lang="en-US" dirty="0"/>
              <a:t>  is  not </a:t>
            </a:r>
            <a:r>
              <a:rPr lang="en-US" i="1" dirty="0"/>
              <a:t>O</a:t>
            </a:r>
            <a:r>
              <a:rPr lang="en-US" dirty="0"/>
              <a:t>(</a:t>
            </a:r>
            <a:r>
              <a:rPr lang="en-US" i="1" dirty="0"/>
              <a:t>n</a:t>
            </a:r>
            <a:r>
              <a:rPr lang="en-US" dirty="0"/>
              <a:t>).</a:t>
            </a:r>
            <a:endParaRPr lang="en-US" dirty="0">
              <a:ea typeface="Cambria Math" pitchFamily="18" charset="0"/>
            </a:endParaRPr>
          </a:p>
          <a:p>
            <a:pPr>
              <a:buNone/>
            </a:pPr>
            <a:r>
              <a:rPr lang="en-US" b="1" dirty="0"/>
              <a:t>    Solution</a:t>
            </a:r>
            <a:r>
              <a:rPr lang="en-US" dirty="0"/>
              <a:t>: Suppose there are constants </a:t>
            </a:r>
            <a:r>
              <a:rPr lang="en-US" i="1" dirty="0"/>
              <a:t>C</a:t>
            </a:r>
            <a:r>
              <a:rPr lang="en-US" dirty="0"/>
              <a:t> and </a:t>
            </a:r>
            <a:r>
              <a:rPr lang="en-US" i="1" dirty="0"/>
              <a:t>k</a:t>
            </a:r>
            <a:r>
              <a:rPr lang="en-US" dirty="0"/>
              <a:t> for which </a:t>
            </a:r>
            <a:r>
              <a:rPr lang="en-US" i="1" dirty="0"/>
              <a:t>n</a:t>
            </a:r>
            <a:r>
              <a:rPr lang="en-US" baseline="30000" dirty="0">
                <a:latin typeface="Cambria Math" pitchFamily="18" charset="0"/>
                <a:ea typeface="Cambria Math" pitchFamily="18" charset="0"/>
              </a:rPr>
              <a:t>2</a:t>
            </a:r>
            <a:r>
              <a:rPr lang="en-US" dirty="0"/>
              <a:t>  </a:t>
            </a:r>
            <a:r>
              <a:rPr lang="en-US" dirty="0">
                <a:latin typeface="Cambria Math"/>
                <a:ea typeface="Cambria Math"/>
              </a:rPr>
              <a:t>≤</a:t>
            </a:r>
            <a:r>
              <a:rPr lang="en-US" dirty="0"/>
              <a:t> </a:t>
            </a:r>
            <a:r>
              <a:rPr lang="en-US" i="1" dirty="0" err="1"/>
              <a:t>Cn</a:t>
            </a:r>
            <a:r>
              <a:rPr lang="en-US" dirty="0"/>
              <a:t>, whenever </a:t>
            </a:r>
            <a:r>
              <a:rPr lang="en-US" i="1" dirty="0"/>
              <a:t>n</a:t>
            </a:r>
            <a:r>
              <a:rPr lang="en-US" dirty="0"/>
              <a:t> &gt; </a:t>
            </a:r>
            <a:r>
              <a:rPr lang="en-US" i="1" dirty="0"/>
              <a:t>k</a:t>
            </a:r>
            <a:r>
              <a:rPr lang="en-US" dirty="0"/>
              <a:t>. Then  (by dividing both sides of </a:t>
            </a:r>
            <a:r>
              <a:rPr lang="en-US" i="1" dirty="0"/>
              <a:t>n</a:t>
            </a:r>
            <a:r>
              <a:rPr lang="en-US" baseline="30000" dirty="0">
                <a:latin typeface="Cambria Math" pitchFamily="18" charset="0"/>
                <a:ea typeface="Cambria Math" pitchFamily="18" charset="0"/>
              </a:rPr>
              <a:t>2</a:t>
            </a:r>
            <a:r>
              <a:rPr lang="en-US" dirty="0"/>
              <a:t>  </a:t>
            </a:r>
            <a:r>
              <a:rPr lang="en-US" dirty="0">
                <a:latin typeface="Cambria Math"/>
                <a:ea typeface="Cambria Math"/>
              </a:rPr>
              <a:t>≤</a:t>
            </a:r>
            <a:r>
              <a:rPr lang="en-US" dirty="0"/>
              <a:t> </a:t>
            </a:r>
            <a:r>
              <a:rPr lang="en-US" i="1" dirty="0" err="1"/>
              <a:t>Cn</a:t>
            </a:r>
            <a:r>
              <a:rPr lang="en-US" i="1" dirty="0"/>
              <a:t>)</a:t>
            </a:r>
            <a:r>
              <a:rPr lang="en-US" dirty="0"/>
              <a:t> by </a:t>
            </a:r>
            <a:r>
              <a:rPr lang="en-US" i="1" dirty="0"/>
              <a:t>n</a:t>
            </a:r>
            <a:r>
              <a:rPr lang="en-US" dirty="0"/>
              <a:t>, then </a:t>
            </a:r>
            <a:r>
              <a:rPr lang="en-US" i="1" dirty="0"/>
              <a:t>n</a:t>
            </a:r>
            <a:r>
              <a:rPr lang="en-US" dirty="0"/>
              <a:t>  </a:t>
            </a:r>
            <a:r>
              <a:rPr lang="en-US" dirty="0">
                <a:latin typeface="Cambria Math"/>
                <a:ea typeface="Cambria Math"/>
              </a:rPr>
              <a:t>≤</a:t>
            </a:r>
            <a:r>
              <a:rPr lang="en-US" dirty="0"/>
              <a:t> </a:t>
            </a:r>
            <a:r>
              <a:rPr lang="en-US" i="1" dirty="0"/>
              <a:t>C </a:t>
            </a:r>
            <a:r>
              <a:rPr lang="en-US" dirty="0"/>
              <a:t>must hold for all </a:t>
            </a:r>
            <a:r>
              <a:rPr lang="en-US" i="1" dirty="0"/>
              <a:t>n</a:t>
            </a:r>
            <a:r>
              <a:rPr lang="en-US" dirty="0"/>
              <a:t> &gt; </a:t>
            </a:r>
            <a:r>
              <a:rPr lang="en-US" i="1" dirty="0"/>
              <a:t>k</a:t>
            </a:r>
            <a:r>
              <a:rPr lang="en-US" dirty="0"/>
              <a:t>. A contradiction!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a:t>
            </a:r>
            <a:r>
              <a:rPr lang="en-US" i="1" dirty="0"/>
              <a:t>O</a:t>
            </a:r>
            <a:r>
              <a:rPr lang="en-US" dirty="0"/>
              <a:t> Estimates for Polynomials</a:t>
            </a:r>
          </a:p>
        </p:txBody>
      </p:sp>
      <p:sp>
        <p:nvSpPr>
          <p:cNvPr id="3" name="Content Placeholder 2"/>
          <p:cNvSpPr>
            <a:spLocks noGrp="1"/>
          </p:cNvSpPr>
          <p:nvPr>
            <p:ph idx="1"/>
          </p:nvPr>
        </p:nvSpPr>
        <p:spPr/>
        <p:txBody>
          <a:bodyPr>
            <a:normAutofit fontScale="92500"/>
          </a:bodyPr>
          <a:lstStyle/>
          <a:p>
            <a:pPr>
              <a:buNone/>
            </a:pPr>
            <a:r>
              <a:rPr lang="en-US" b="1" dirty="0"/>
              <a:t>Example</a:t>
            </a:r>
            <a:r>
              <a:rPr lang="en-US" dirty="0"/>
              <a:t>: Let </a:t>
            </a:r>
          </a:p>
          <a:p>
            <a:pPr>
              <a:buNone/>
            </a:pPr>
            <a:r>
              <a:rPr lang="en-US" dirty="0"/>
              <a:t>where                                 are real numbers with </a:t>
            </a:r>
            <a:r>
              <a:rPr lang="en-US" i="1" dirty="0"/>
              <a:t>a</a:t>
            </a:r>
            <a:r>
              <a:rPr lang="en-US" i="1" baseline="-25000" dirty="0"/>
              <a:t>n </a:t>
            </a:r>
            <a:r>
              <a:rPr lang="en-US" dirty="0">
                <a:latin typeface="Cambria Math"/>
                <a:ea typeface="Cambria Math"/>
              </a:rPr>
              <a:t>≠0</a:t>
            </a:r>
            <a:r>
              <a:rPr lang="en-US" dirty="0"/>
              <a:t>. </a:t>
            </a:r>
          </a:p>
          <a:p>
            <a:pPr>
              <a:buNone/>
            </a:pPr>
            <a:r>
              <a:rPr lang="en-US" dirty="0"/>
              <a:t>   Then </a:t>
            </a:r>
            <a:r>
              <a:rPr lang="en-US" i="1" dirty="0">
                <a:ea typeface="Cambria Math" pitchFamily="18" charset="0"/>
              </a:rPr>
              <a:t>f</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latin typeface="Cambria Math" pitchFamily="18" charset="0"/>
                <a:ea typeface="Cambria Math" pitchFamily="18" charset="0"/>
              </a:rPr>
              <a:t>O</a:t>
            </a:r>
            <a:r>
              <a:rPr lang="en-US" dirty="0">
                <a:latin typeface="Cambria Math" pitchFamily="18" charset="0"/>
                <a:ea typeface="Cambria Math" pitchFamily="18" charset="0"/>
              </a:rPr>
              <a:t>(</a:t>
            </a:r>
            <a:r>
              <a:rPr lang="en-US" i="1" dirty="0" err="1"/>
              <a:t>x</a:t>
            </a:r>
            <a:r>
              <a:rPr lang="en-US" i="1" baseline="30000" dirty="0" err="1"/>
              <a:t>n</a:t>
            </a:r>
            <a:r>
              <a:rPr lang="en-US" dirty="0"/>
              <a:t>).                           </a:t>
            </a:r>
          </a:p>
          <a:p>
            <a:pPr>
              <a:buNone/>
            </a:pPr>
            <a:r>
              <a:rPr lang="en-US" b="1" dirty="0"/>
              <a:t>Proof</a:t>
            </a:r>
            <a:r>
              <a:rPr lang="en-US" dirty="0"/>
              <a:t>:  |</a:t>
            </a:r>
            <a:r>
              <a:rPr lang="en-US" i="1" dirty="0"/>
              <a:t>f</a:t>
            </a:r>
            <a:r>
              <a:rPr lang="en-US" dirty="0"/>
              <a:t>(x)| = |</a:t>
            </a:r>
            <a:r>
              <a:rPr lang="en-US" i="1" dirty="0" err="1"/>
              <a:t>a</a:t>
            </a:r>
            <a:r>
              <a:rPr lang="en-US" i="1" baseline="-25000" dirty="0" err="1"/>
              <a:t>n</a:t>
            </a:r>
            <a:r>
              <a:rPr lang="en-US" i="1" dirty="0" err="1"/>
              <a:t>x</a:t>
            </a:r>
            <a:r>
              <a:rPr lang="en-US" i="1" baseline="30000" dirty="0" err="1"/>
              <a:t>n</a:t>
            </a:r>
            <a:r>
              <a:rPr lang="en-US" i="1" dirty="0"/>
              <a:t> </a:t>
            </a:r>
            <a:r>
              <a:rPr lang="en-US" dirty="0"/>
              <a:t>+ </a:t>
            </a:r>
            <a:r>
              <a:rPr lang="en-US" i="1" dirty="0"/>
              <a:t>a</a:t>
            </a:r>
            <a:r>
              <a:rPr lang="en-US" i="1" baseline="-25000" dirty="0"/>
              <a:t>n-</a:t>
            </a:r>
            <a:r>
              <a:rPr lang="en-US" baseline="-25000" dirty="0">
                <a:ea typeface="Cambria Math" pitchFamily="18" charset="0"/>
              </a:rPr>
              <a:t>1</a:t>
            </a:r>
            <a:r>
              <a:rPr lang="en-US" i="1" dirty="0"/>
              <a:t> x</a:t>
            </a:r>
            <a:r>
              <a:rPr lang="en-US" i="1" baseline="30000" dirty="0"/>
              <a:t>n-</a:t>
            </a:r>
            <a:r>
              <a:rPr lang="en-US" baseline="30000" dirty="0"/>
              <a:t>1</a:t>
            </a:r>
            <a:r>
              <a:rPr lang="en-US" i="1" dirty="0"/>
              <a:t> + </a:t>
            </a:r>
            <a:r>
              <a:rPr lang="en-US" dirty="0">
                <a:ea typeface="Cambria Math"/>
              </a:rPr>
              <a:t>∙∙∙</a:t>
            </a:r>
            <a:r>
              <a:rPr lang="en-US" i="1" dirty="0">
                <a:latin typeface="Cambria Math"/>
                <a:ea typeface="Cambria Math"/>
              </a:rPr>
              <a:t> </a:t>
            </a:r>
            <a:r>
              <a:rPr lang="en-US" dirty="0">
                <a:ea typeface="Cambria Math"/>
              </a:rPr>
              <a:t>+ </a:t>
            </a:r>
            <a:r>
              <a:rPr lang="en-US" i="1" dirty="0"/>
              <a:t>a</a:t>
            </a:r>
            <a:r>
              <a:rPr lang="en-US" baseline="-25000" dirty="0"/>
              <a:t>1</a:t>
            </a:r>
            <a:r>
              <a:rPr lang="en-US" i="1" dirty="0"/>
              <a:t>x</a:t>
            </a:r>
            <a:r>
              <a:rPr lang="en-US" baseline="30000" dirty="0"/>
              <a:t>1   </a:t>
            </a:r>
            <a:r>
              <a:rPr lang="en-US" dirty="0">
                <a:ea typeface="Cambria Math"/>
              </a:rPr>
              <a:t>+ </a:t>
            </a:r>
            <a:r>
              <a:rPr lang="en-US" i="1" dirty="0"/>
              <a:t>a</a:t>
            </a:r>
            <a:r>
              <a:rPr lang="en-US" baseline="-25000" dirty="0"/>
              <a:t>0</a:t>
            </a:r>
            <a:r>
              <a:rPr lang="en-US" dirty="0"/>
              <a:t>|</a:t>
            </a:r>
          </a:p>
          <a:p>
            <a:pPr>
              <a:buNone/>
            </a:pPr>
            <a:r>
              <a:rPr lang="en-US" dirty="0"/>
              <a:t>                       </a:t>
            </a:r>
            <a:r>
              <a:rPr lang="en-US" dirty="0">
                <a:latin typeface="Cambria Math"/>
                <a:ea typeface="Cambria Math"/>
              </a:rPr>
              <a:t>≤ </a:t>
            </a:r>
            <a:r>
              <a:rPr lang="en-US" dirty="0"/>
              <a:t>|</a:t>
            </a:r>
            <a:r>
              <a:rPr lang="en-US" i="1" dirty="0" err="1"/>
              <a:t>a</a:t>
            </a:r>
            <a:r>
              <a:rPr lang="en-US" i="1" baseline="-25000" dirty="0" err="1"/>
              <a:t>n</a:t>
            </a:r>
            <a:r>
              <a:rPr lang="en-US" dirty="0" err="1"/>
              <a:t>|</a:t>
            </a:r>
            <a:r>
              <a:rPr lang="en-US" i="1" dirty="0" err="1"/>
              <a:t>x</a:t>
            </a:r>
            <a:r>
              <a:rPr lang="en-US" i="1" baseline="30000" dirty="0" err="1"/>
              <a:t>n</a:t>
            </a:r>
            <a:r>
              <a:rPr lang="en-US" dirty="0"/>
              <a:t> + |</a:t>
            </a:r>
            <a:r>
              <a:rPr lang="en-US" i="1" dirty="0"/>
              <a:t>a</a:t>
            </a:r>
            <a:r>
              <a:rPr lang="en-US" i="1" baseline="-25000" dirty="0"/>
              <a:t>n-</a:t>
            </a:r>
            <a:r>
              <a:rPr lang="en-US" baseline="-25000" dirty="0">
                <a:ea typeface="Cambria Math" pitchFamily="18" charset="0"/>
              </a:rPr>
              <a:t>1</a:t>
            </a:r>
            <a:r>
              <a:rPr lang="en-US" i="1" dirty="0"/>
              <a:t>| x</a:t>
            </a:r>
            <a:r>
              <a:rPr lang="en-US" i="1" baseline="30000" dirty="0"/>
              <a:t>n-</a:t>
            </a:r>
            <a:r>
              <a:rPr lang="en-US" baseline="30000" dirty="0"/>
              <a:t>1 </a:t>
            </a:r>
            <a:r>
              <a:rPr lang="en-US" i="1" dirty="0"/>
              <a:t>+ </a:t>
            </a:r>
            <a:r>
              <a:rPr lang="en-US" i="1" dirty="0">
                <a:ea typeface="Cambria Math"/>
              </a:rPr>
              <a:t>∙∙∙</a:t>
            </a:r>
            <a:r>
              <a:rPr lang="en-US" i="1" dirty="0">
                <a:latin typeface="Cambria Math"/>
                <a:ea typeface="Cambria Math"/>
              </a:rPr>
              <a:t> </a:t>
            </a:r>
            <a:r>
              <a:rPr lang="en-US" dirty="0">
                <a:ea typeface="Cambria Math"/>
              </a:rPr>
              <a:t>+ |</a:t>
            </a:r>
            <a:r>
              <a:rPr lang="en-US" i="1" dirty="0"/>
              <a:t>a</a:t>
            </a:r>
            <a:r>
              <a:rPr lang="en-US" baseline="-25000" dirty="0"/>
              <a:t>1</a:t>
            </a:r>
            <a:r>
              <a:rPr lang="en-US" dirty="0"/>
              <a:t>|</a:t>
            </a:r>
            <a:r>
              <a:rPr lang="en-US" i="1" dirty="0"/>
              <a:t>x</a:t>
            </a:r>
            <a:r>
              <a:rPr lang="en-US" baseline="30000" dirty="0"/>
              <a:t>1</a:t>
            </a:r>
            <a:r>
              <a:rPr lang="en-US" dirty="0"/>
              <a:t> </a:t>
            </a:r>
            <a:r>
              <a:rPr lang="en-US" dirty="0">
                <a:ea typeface="Cambria Math"/>
              </a:rPr>
              <a:t>+ |</a:t>
            </a:r>
            <a:r>
              <a:rPr lang="en-US" i="1" dirty="0"/>
              <a:t>a</a:t>
            </a:r>
            <a:r>
              <a:rPr lang="en-US" baseline="-25000" dirty="0"/>
              <a:t>0</a:t>
            </a:r>
            <a:r>
              <a:rPr lang="en-US" dirty="0"/>
              <a:t>|</a:t>
            </a:r>
          </a:p>
          <a:p>
            <a:pPr>
              <a:buNone/>
            </a:pPr>
            <a:r>
              <a:rPr lang="en-US" dirty="0"/>
              <a:t>                       </a:t>
            </a:r>
            <a:r>
              <a:rPr lang="en-US" dirty="0">
                <a:latin typeface="Cambria Math"/>
                <a:ea typeface="Cambria Math"/>
              </a:rPr>
              <a:t>= </a:t>
            </a:r>
            <a:r>
              <a:rPr lang="en-US" i="1" dirty="0" err="1"/>
              <a:t>x</a:t>
            </a:r>
            <a:r>
              <a:rPr lang="en-US" i="1" baseline="30000" dirty="0" err="1"/>
              <a:t>n</a:t>
            </a:r>
            <a:r>
              <a:rPr lang="en-US" i="1" baseline="30000" dirty="0"/>
              <a:t> </a:t>
            </a:r>
            <a:r>
              <a:rPr lang="en-US" dirty="0"/>
              <a:t>(|</a:t>
            </a:r>
            <a:r>
              <a:rPr lang="en-US" i="1" dirty="0"/>
              <a:t>a</a:t>
            </a:r>
            <a:r>
              <a:rPr lang="en-US" i="1" baseline="-25000" dirty="0"/>
              <a:t>n</a:t>
            </a:r>
            <a:r>
              <a:rPr lang="en-US" dirty="0"/>
              <a:t>| + |</a:t>
            </a:r>
            <a:r>
              <a:rPr lang="en-US" i="1" dirty="0"/>
              <a:t>a</a:t>
            </a:r>
            <a:r>
              <a:rPr lang="en-US" i="1" baseline="-25000" dirty="0"/>
              <a:t>n-</a:t>
            </a:r>
            <a:r>
              <a:rPr lang="en-US" baseline="-25000" dirty="0">
                <a:ea typeface="Cambria Math" pitchFamily="18" charset="0"/>
              </a:rPr>
              <a:t>1</a:t>
            </a:r>
            <a:r>
              <a:rPr lang="en-US" i="1" dirty="0"/>
              <a:t>| /x</a:t>
            </a:r>
            <a:r>
              <a:rPr lang="en-US" baseline="30000" dirty="0"/>
              <a:t> </a:t>
            </a:r>
            <a:r>
              <a:rPr lang="en-US" i="1" dirty="0"/>
              <a:t>+ </a:t>
            </a:r>
            <a:r>
              <a:rPr lang="en-US" i="1" dirty="0">
                <a:ea typeface="Cambria Math"/>
              </a:rPr>
              <a:t>∙∙∙</a:t>
            </a:r>
            <a:r>
              <a:rPr lang="en-US" i="1" dirty="0">
                <a:latin typeface="Cambria Math"/>
                <a:ea typeface="Cambria Math"/>
              </a:rPr>
              <a:t> </a:t>
            </a:r>
            <a:r>
              <a:rPr lang="en-US" dirty="0">
                <a:ea typeface="Cambria Math"/>
              </a:rPr>
              <a:t>+ |</a:t>
            </a:r>
            <a:r>
              <a:rPr lang="en-US" i="1" dirty="0"/>
              <a:t>a</a:t>
            </a:r>
            <a:r>
              <a:rPr lang="en-US" baseline="-25000" dirty="0"/>
              <a:t>1</a:t>
            </a:r>
            <a:r>
              <a:rPr lang="en-US" dirty="0"/>
              <a:t>|/</a:t>
            </a:r>
            <a:r>
              <a:rPr lang="en-US" i="1" dirty="0"/>
              <a:t>x</a:t>
            </a:r>
            <a:r>
              <a:rPr lang="en-US" i="1" baseline="30000" dirty="0"/>
              <a:t>n-</a:t>
            </a:r>
            <a:r>
              <a:rPr lang="en-US" baseline="30000" dirty="0"/>
              <a:t>1</a:t>
            </a:r>
            <a:r>
              <a:rPr lang="en-US" dirty="0"/>
              <a:t> </a:t>
            </a:r>
            <a:r>
              <a:rPr lang="en-US" dirty="0">
                <a:ea typeface="Cambria Math"/>
              </a:rPr>
              <a:t>+ |</a:t>
            </a:r>
            <a:r>
              <a:rPr lang="en-US" i="1" dirty="0"/>
              <a:t>a</a:t>
            </a:r>
            <a:r>
              <a:rPr lang="en-US" baseline="-25000" dirty="0"/>
              <a:t>0</a:t>
            </a:r>
            <a:r>
              <a:rPr lang="en-US" dirty="0"/>
              <a:t>|/</a:t>
            </a:r>
            <a:r>
              <a:rPr lang="en-US" i="1" dirty="0"/>
              <a:t> </a:t>
            </a:r>
            <a:r>
              <a:rPr lang="en-US" i="1" dirty="0" err="1"/>
              <a:t>x</a:t>
            </a:r>
            <a:r>
              <a:rPr lang="en-US" i="1" baseline="30000" dirty="0" err="1"/>
              <a:t>n</a:t>
            </a:r>
            <a:r>
              <a:rPr lang="en-US" dirty="0"/>
              <a:t>)</a:t>
            </a:r>
            <a:endParaRPr lang="en-US" i="1" baseline="30000" dirty="0"/>
          </a:p>
          <a:p>
            <a:pPr>
              <a:buNone/>
            </a:pPr>
            <a:r>
              <a:rPr lang="en-US" dirty="0"/>
              <a:t>                       </a:t>
            </a:r>
            <a:r>
              <a:rPr lang="en-US" dirty="0">
                <a:latin typeface="Cambria Math"/>
                <a:ea typeface="Cambria Math"/>
              </a:rPr>
              <a:t>≤ </a:t>
            </a:r>
            <a:r>
              <a:rPr lang="en-US" i="1" dirty="0" err="1"/>
              <a:t>x</a:t>
            </a:r>
            <a:r>
              <a:rPr lang="en-US" i="1" baseline="30000" dirty="0" err="1"/>
              <a:t>n</a:t>
            </a:r>
            <a:r>
              <a:rPr lang="en-US" i="1" baseline="30000" dirty="0"/>
              <a:t> </a:t>
            </a:r>
            <a:r>
              <a:rPr lang="en-US" dirty="0"/>
              <a:t>(|</a:t>
            </a:r>
            <a:r>
              <a:rPr lang="en-US" i="1" dirty="0"/>
              <a:t>a</a:t>
            </a:r>
            <a:r>
              <a:rPr lang="en-US" i="1" baseline="-25000" dirty="0"/>
              <a:t>n</a:t>
            </a:r>
            <a:r>
              <a:rPr lang="en-US" dirty="0"/>
              <a:t>| + |</a:t>
            </a:r>
            <a:r>
              <a:rPr lang="en-US" i="1" dirty="0"/>
              <a:t>a</a:t>
            </a:r>
            <a:r>
              <a:rPr lang="en-US" i="1" baseline="-25000" dirty="0"/>
              <a:t>n-</a:t>
            </a:r>
            <a:r>
              <a:rPr lang="en-US" baseline="-25000" dirty="0">
                <a:ea typeface="Cambria Math" pitchFamily="18" charset="0"/>
              </a:rPr>
              <a:t>1</a:t>
            </a:r>
            <a:r>
              <a:rPr lang="en-US" i="1" dirty="0"/>
              <a:t>| + </a:t>
            </a:r>
            <a:r>
              <a:rPr lang="en-US" i="1" dirty="0">
                <a:ea typeface="Cambria Math"/>
              </a:rPr>
              <a:t>∙∙∙</a:t>
            </a:r>
            <a:r>
              <a:rPr lang="en-US" i="1" dirty="0">
                <a:latin typeface="Cambria Math"/>
                <a:ea typeface="Cambria Math"/>
              </a:rPr>
              <a:t> </a:t>
            </a:r>
            <a:r>
              <a:rPr lang="en-US" dirty="0">
                <a:ea typeface="Cambria Math"/>
              </a:rPr>
              <a:t>+ |</a:t>
            </a:r>
            <a:r>
              <a:rPr lang="en-US" i="1" dirty="0"/>
              <a:t>a</a:t>
            </a:r>
            <a:r>
              <a:rPr lang="en-US" baseline="-25000" dirty="0"/>
              <a:t>1</a:t>
            </a:r>
            <a:r>
              <a:rPr lang="en-US" dirty="0"/>
              <a:t>|</a:t>
            </a:r>
            <a:r>
              <a:rPr lang="en-US" dirty="0">
                <a:ea typeface="Cambria Math"/>
              </a:rPr>
              <a:t>+ |</a:t>
            </a:r>
            <a:r>
              <a:rPr lang="en-US" i="1" dirty="0"/>
              <a:t>a</a:t>
            </a:r>
            <a:r>
              <a:rPr lang="en-US" baseline="-25000" dirty="0"/>
              <a:t>0</a:t>
            </a:r>
            <a:r>
              <a:rPr lang="en-US" dirty="0"/>
              <a:t>|)</a:t>
            </a:r>
          </a:p>
          <a:p>
            <a:r>
              <a:rPr lang="en-US" dirty="0"/>
              <a:t>Take </a:t>
            </a:r>
            <a:r>
              <a:rPr lang="en-US" i="1" dirty="0"/>
              <a:t>C</a:t>
            </a:r>
            <a:r>
              <a:rPr lang="en-US" dirty="0"/>
              <a:t> = |</a:t>
            </a:r>
            <a:r>
              <a:rPr lang="en-US" i="1" dirty="0"/>
              <a:t>a</a:t>
            </a:r>
            <a:r>
              <a:rPr lang="en-US" i="1" baseline="-25000" dirty="0"/>
              <a:t>n</a:t>
            </a:r>
            <a:r>
              <a:rPr lang="en-US" dirty="0"/>
              <a:t>| + |</a:t>
            </a:r>
            <a:r>
              <a:rPr lang="en-US" i="1" dirty="0"/>
              <a:t>a</a:t>
            </a:r>
            <a:r>
              <a:rPr lang="en-US" i="1" baseline="-25000" dirty="0"/>
              <a:t>n-</a:t>
            </a:r>
            <a:r>
              <a:rPr lang="en-US" baseline="-25000" dirty="0">
                <a:ea typeface="Cambria Math" pitchFamily="18" charset="0"/>
              </a:rPr>
              <a:t>1</a:t>
            </a:r>
            <a:r>
              <a:rPr lang="en-US" i="1" dirty="0"/>
              <a:t>| + </a:t>
            </a:r>
            <a:r>
              <a:rPr lang="en-US" i="1" dirty="0">
                <a:ea typeface="Cambria Math"/>
              </a:rPr>
              <a:t>∙∙∙</a:t>
            </a:r>
            <a:r>
              <a:rPr lang="en-US" i="1" dirty="0">
                <a:latin typeface="Cambria Math"/>
                <a:ea typeface="Cambria Math"/>
              </a:rPr>
              <a:t> </a:t>
            </a:r>
            <a:r>
              <a:rPr lang="en-US" dirty="0">
                <a:ea typeface="Cambria Math"/>
              </a:rPr>
              <a:t>+ |</a:t>
            </a:r>
            <a:r>
              <a:rPr lang="en-US" i="1" dirty="0"/>
              <a:t>a</a:t>
            </a:r>
            <a:r>
              <a:rPr lang="en-US" baseline="-25000" dirty="0"/>
              <a:t>0</a:t>
            </a:r>
            <a:r>
              <a:rPr lang="en-US" dirty="0"/>
              <a:t>| and </a:t>
            </a:r>
            <a:r>
              <a:rPr lang="en-US" i="1" dirty="0"/>
              <a:t>k</a:t>
            </a:r>
            <a:r>
              <a:rPr lang="en-US" dirty="0"/>
              <a:t> = </a:t>
            </a:r>
            <a:r>
              <a:rPr lang="en-US" dirty="0">
                <a:latin typeface="Cambria Math" pitchFamily="18" charset="0"/>
                <a:ea typeface="Cambria Math" pitchFamily="18" charset="0"/>
              </a:rPr>
              <a:t>1. Then </a:t>
            </a:r>
            <a:r>
              <a:rPr lang="en-US" i="1" dirty="0">
                <a:ea typeface="Cambria Math" pitchFamily="18" charset="0"/>
              </a:rPr>
              <a:t>f</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latin typeface="Cambria Math" pitchFamily="18" charset="0"/>
                <a:ea typeface="Cambria Math" pitchFamily="18" charset="0"/>
              </a:rPr>
              <a:t>O</a:t>
            </a:r>
            <a:r>
              <a:rPr lang="en-US" dirty="0">
                <a:latin typeface="Cambria Math" pitchFamily="18" charset="0"/>
                <a:ea typeface="Cambria Math" pitchFamily="18" charset="0"/>
              </a:rPr>
              <a:t>(</a:t>
            </a:r>
            <a:r>
              <a:rPr lang="en-US" i="1" dirty="0" err="1"/>
              <a:t>x</a:t>
            </a:r>
            <a:r>
              <a:rPr lang="en-US" i="1" baseline="30000" dirty="0" err="1"/>
              <a:t>n</a:t>
            </a:r>
            <a:r>
              <a:rPr lang="en-US" dirty="0"/>
              <a:t>). </a:t>
            </a:r>
          </a:p>
          <a:p>
            <a:pPr algn="just"/>
            <a:r>
              <a:rPr lang="en-US" dirty="0"/>
              <a:t>The leading term </a:t>
            </a:r>
            <a:r>
              <a:rPr lang="en-US" i="1" dirty="0" err="1"/>
              <a:t>a</a:t>
            </a:r>
            <a:r>
              <a:rPr lang="en-US" i="1" baseline="-25000" dirty="0" err="1"/>
              <a:t>n</a:t>
            </a:r>
            <a:r>
              <a:rPr lang="en-US" i="1" dirty="0" err="1"/>
              <a:t>x</a:t>
            </a:r>
            <a:r>
              <a:rPr lang="en-US" i="1" baseline="30000" dirty="0" err="1"/>
              <a:t>n</a:t>
            </a:r>
            <a:r>
              <a:rPr lang="en-US" dirty="0"/>
              <a:t> of a polynomial dominates its growth.  [ For any polynomial of degree n, </a:t>
            </a:r>
            <a:r>
              <a:rPr lang="en-US" i="1" dirty="0">
                <a:ea typeface="Cambria Math" pitchFamily="18" charset="0"/>
              </a:rPr>
              <a:t>f</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latin typeface="Cambria Math" pitchFamily="18" charset="0"/>
                <a:ea typeface="Cambria Math" pitchFamily="18" charset="0"/>
              </a:rPr>
              <a:t>O</a:t>
            </a:r>
            <a:r>
              <a:rPr lang="en-US" dirty="0">
                <a:latin typeface="Cambria Math" pitchFamily="18" charset="0"/>
                <a:ea typeface="Cambria Math" pitchFamily="18" charset="0"/>
              </a:rPr>
              <a:t>(</a:t>
            </a:r>
            <a:r>
              <a:rPr lang="en-US" i="1" dirty="0" err="1"/>
              <a:t>x</a:t>
            </a:r>
            <a:r>
              <a:rPr lang="en-US" i="1" baseline="30000" dirty="0" err="1"/>
              <a:t>n</a:t>
            </a:r>
            <a:r>
              <a:rPr lang="en-US" dirty="0"/>
              <a:t>). ]</a:t>
            </a:r>
          </a:p>
        </p:txBody>
      </p:sp>
      <p:pic>
        <p:nvPicPr>
          <p:cNvPr id="9" name="Picture 8" descr="addin_tmp.png"/>
          <p:cNvPicPr>
            <a:picLocks noChangeAspect="1"/>
          </p:cNvPicPr>
          <p:nvPr>
            <p:custDataLst>
              <p:tags r:id="rId1"/>
            </p:custDataLst>
          </p:nvPr>
        </p:nvPicPr>
        <p:blipFill>
          <a:blip r:embed="rId4" cstate="print"/>
          <a:stretch>
            <a:fillRect/>
          </a:stretch>
        </p:blipFill>
        <p:spPr>
          <a:xfrm>
            <a:off x="2438400" y="1981200"/>
            <a:ext cx="5745956" cy="342900"/>
          </a:xfrm>
          <a:prstGeom prst="rect">
            <a:avLst/>
          </a:prstGeom>
        </p:spPr>
      </p:pic>
      <p:pic>
        <p:nvPicPr>
          <p:cNvPr id="5" name="Picture 4" descr="addin_tmp.png"/>
          <p:cNvPicPr>
            <a:picLocks noChangeAspect="1"/>
          </p:cNvPicPr>
          <p:nvPr>
            <p:custDataLst>
              <p:tags r:id="rId2"/>
            </p:custDataLst>
          </p:nvPr>
        </p:nvPicPr>
        <p:blipFill>
          <a:blip r:embed="rId5" cstate="print"/>
          <a:stretch>
            <a:fillRect/>
          </a:stretch>
        </p:blipFill>
        <p:spPr>
          <a:xfrm>
            <a:off x="1524000" y="2500312"/>
            <a:ext cx="2117408" cy="242888"/>
          </a:xfrm>
          <a:prstGeom prst="rect">
            <a:avLst/>
          </a:prstGeom>
        </p:spPr>
      </p:pic>
      <p:sp>
        <p:nvSpPr>
          <p:cNvPr id="8" name="TextBox 7"/>
          <p:cNvSpPr txBox="1"/>
          <p:nvPr/>
        </p:nvSpPr>
        <p:spPr>
          <a:xfrm>
            <a:off x="6553200" y="2895600"/>
            <a:ext cx="2209800" cy="523220"/>
          </a:xfrm>
          <a:prstGeom prst="rect">
            <a:avLst/>
          </a:prstGeom>
          <a:noFill/>
        </p:spPr>
        <p:txBody>
          <a:bodyPr wrap="square" rtlCol="0">
            <a:spAutoFit/>
          </a:bodyPr>
          <a:lstStyle/>
          <a:p>
            <a:r>
              <a:rPr lang="en-US" sz="1400" dirty="0">
                <a:solidFill>
                  <a:srgbClr val="C00000"/>
                </a:solidFill>
              </a:rPr>
              <a:t>Uses triangle inequality, an exercise in Section </a:t>
            </a:r>
            <a:r>
              <a:rPr lang="en-US" sz="1400" dirty="0">
                <a:solidFill>
                  <a:srgbClr val="C00000"/>
                </a:solidFill>
                <a:latin typeface="Cambria Math" pitchFamily="18" charset="0"/>
                <a:ea typeface="Cambria Math" pitchFamily="18" charset="0"/>
              </a:rPr>
              <a:t>1.8</a:t>
            </a:r>
            <a:r>
              <a:rPr lang="en-US" sz="1400" dirty="0">
                <a:solidFill>
                  <a:srgbClr val="C00000"/>
                </a:solidFill>
              </a:rPr>
              <a:t>.</a:t>
            </a:r>
          </a:p>
        </p:txBody>
      </p:sp>
      <p:sp>
        <p:nvSpPr>
          <p:cNvPr id="10" name="TextBox 9"/>
          <p:cNvSpPr txBox="1"/>
          <p:nvPr/>
        </p:nvSpPr>
        <p:spPr>
          <a:xfrm>
            <a:off x="304800" y="3886200"/>
            <a:ext cx="1752600" cy="307777"/>
          </a:xfrm>
          <a:prstGeom prst="rect">
            <a:avLst/>
          </a:prstGeom>
          <a:noFill/>
        </p:spPr>
        <p:txBody>
          <a:bodyPr wrap="square" rtlCol="0">
            <a:spAutoFit/>
          </a:bodyPr>
          <a:lstStyle/>
          <a:p>
            <a:r>
              <a:rPr lang="en-US" sz="1400" dirty="0"/>
              <a:t>   </a:t>
            </a:r>
            <a:r>
              <a:rPr lang="en-US" sz="1400" dirty="0">
                <a:solidFill>
                  <a:srgbClr val="C00000"/>
                </a:solidFill>
              </a:rPr>
              <a:t>Assuming </a:t>
            </a:r>
            <a:r>
              <a:rPr lang="en-US" sz="1400" i="1" dirty="0">
                <a:solidFill>
                  <a:srgbClr val="C00000"/>
                </a:solidFill>
              </a:rPr>
              <a:t>x</a:t>
            </a:r>
            <a:r>
              <a:rPr lang="en-US" sz="1400" dirty="0">
                <a:solidFill>
                  <a:srgbClr val="C00000"/>
                </a:solidFill>
              </a:rPr>
              <a:t> &gt; </a:t>
            </a:r>
            <a:r>
              <a:rPr lang="en-US" sz="1400" dirty="0">
                <a:solidFill>
                  <a:srgbClr val="C00000"/>
                </a:solidFill>
                <a:latin typeface="Cambria Math" pitchFamily="18" charset="0"/>
                <a:ea typeface="Cambria Math" pitchFamily="18" charset="0"/>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04088"/>
            <a:ext cx="8686800" cy="667512"/>
          </a:xfrm>
        </p:spPr>
        <p:txBody>
          <a:bodyPr>
            <a:normAutofit/>
          </a:bodyPr>
          <a:lstStyle/>
          <a:p>
            <a:r>
              <a:rPr lang="en-US" sz="3600" dirty="0"/>
              <a:t>Big-</a:t>
            </a:r>
            <a:r>
              <a:rPr lang="en-US" sz="3600" i="1" dirty="0"/>
              <a:t>O</a:t>
            </a:r>
            <a:r>
              <a:rPr lang="en-US" sz="3600" dirty="0"/>
              <a:t> Estimates for some Important Functions</a:t>
            </a:r>
          </a:p>
        </p:txBody>
      </p:sp>
      <p:sp>
        <p:nvSpPr>
          <p:cNvPr id="3" name="Content Placeholder 2"/>
          <p:cNvSpPr>
            <a:spLocks noGrp="1"/>
          </p:cNvSpPr>
          <p:nvPr>
            <p:ph idx="1"/>
          </p:nvPr>
        </p:nvSpPr>
        <p:spPr/>
        <p:txBody>
          <a:bodyPr/>
          <a:lstStyle/>
          <a:p>
            <a:pPr>
              <a:buNone/>
            </a:pPr>
            <a:r>
              <a:rPr lang="en-US" b="1" dirty="0"/>
              <a:t>   Example</a:t>
            </a:r>
            <a:r>
              <a:rPr lang="en-US" dirty="0"/>
              <a:t>: Use big-</a:t>
            </a:r>
            <a:r>
              <a:rPr lang="en-US" i="1" dirty="0"/>
              <a:t>O</a:t>
            </a:r>
            <a:r>
              <a:rPr lang="en-US" dirty="0"/>
              <a:t> notation to estimate the sum of the first </a:t>
            </a:r>
            <a:r>
              <a:rPr lang="en-US" i="1" dirty="0"/>
              <a:t>n</a:t>
            </a:r>
            <a:r>
              <a:rPr lang="en-US" dirty="0"/>
              <a:t> positive integers.</a:t>
            </a:r>
          </a:p>
          <a:p>
            <a:pPr>
              <a:buNone/>
            </a:pPr>
            <a:r>
              <a:rPr lang="en-US" b="1" dirty="0"/>
              <a:t>   Solution</a:t>
            </a:r>
            <a:r>
              <a:rPr lang="en-US" dirty="0"/>
              <a:t>:</a:t>
            </a:r>
          </a:p>
          <a:p>
            <a:pPr>
              <a:buNone/>
            </a:pPr>
            <a:endParaRPr lang="en-US" dirty="0"/>
          </a:p>
          <a:p>
            <a:pPr>
              <a:buNone/>
            </a:pPr>
            <a:r>
              <a:rPr lang="en-US" b="1" dirty="0"/>
              <a:t>   Example</a:t>
            </a:r>
            <a:r>
              <a:rPr lang="en-US" dirty="0"/>
              <a:t>: Use big-</a:t>
            </a:r>
            <a:r>
              <a:rPr lang="en-US" i="1" dirty="0"/>
              <a:t>O</a:t>
            </a:r>
            <a:r>
              <a:rPr lang="en-US" dirty="0"/>
              <a:t> notation to estimate the factorial function </a:t>
            </a:r>
          </a:p>
          <a:p>
            <a:pPr>
              <a:buNone/>
            </a:pPr>
            <a:r>
              <a:rPr lang="en-US" b="1" dirty="0"/>
              <a:t>   Solution</a:t>
            </a:r>
            <a:r>
              <a:rPr lang="en-US" dirty="0"/>
              <a:t>:</a:t>
            </a:r>
          </a:p>
          <a:p>
            <a:pPr>
              <a:buNone/>
            </a:pPr>
            <a:endParaRPr lang="en-US" dirty="0"/>
          </a:p>
        </p:txBody>
      </p:sp>
      <p:pic>
        <p:nvPicPr>
          <p:cNvPr id="21" name="Picture 20" descr="addin_tmp.png"/>
          <p:cNvPicPr>
            <a:picLocks noChangeAspect="1"/>
          </p:cNvPicPr>
          <p:nvPr>
            <p:custDataLst>
              <p:tags r:id="rId1"/>
            </p:custDataLst>
          </p:nvPr>
        </p:nvPicPr>
        <p:blipFill>
          <a:blip r:embed="rId7" cstate="print"/>
          <a:stretch>
            <a:fillRect/>
          </a:stretch>
        </p:blipFill>
        <p:spPr>
          <a:xfrm>
            <a:off x="2362200" y="2895600"/>
            <a:ext cx="5272088" cy="309563"/>
          </a:xfrm>
          <a:prstGeom prst="rect">
            <a:avLst/>
          </a:prstGeom>
        </p:spPr>
      </p:pic>
      <p:pic>
        <p:nvPicPr>
          <p:cNvPr id="22" name="Picture 21" descr="addin_tmp.png"/>
          <p:cNvPicPr>
            <a:picLocks noChangeAspect="1"/>
          </p:cNvPicPr>
          <p:nvPr>
            <p:custDataLst>
              <p:tags r:id="rId2"/>
            </p:custDataLst>
          </p:nvPr>
        </p:nvPicPr>
        <p:blipFill>
          <a:blip r:embed="rId8" cstate="print"/>
          <a:stretch>
            <a:fillRect/>
          </a:stretch>
        </p:blipFill>
        <p:spPr>
          <a:xfrm>
            <a:off x="1371600" y="3429000"/>
            <a:ext cx="6603206" cy="342900"/>
          </a:xfrm>
          <a:prstGeom prst="rect">
            <a:avLst/>
          </a:prstGeom>
        </p:spPr>
      </p:pic>
      <p:pic>
        <p:nvPicPr>
          <p:cNvPr id="19" name="Picture 18" descr="addin_tmp.png"/>
          <p:cNvPicPr>
            <a:picLocks noChangeAspect="1"/>
          </p:cNvPicPr>
          <p:nvPr>
            <p:custDataLst>
              <p:tags r:id="rId3"/>
            </p:custDataLst>
          </p:nvPr>
        </p:nvPicPr>
        <p:blipFill>
          <a:blip r:embed="rId9" cstate="print"/>
          <a:stretch>
            <a:fillRect/>
          </a:stretch>
        </p:blipFill>
        <p:spPr>
          <a:xfrm>
            <a:off x="1143001" y="5334000"/>
            <a:ext cx="6360319" cy="273844"/>
          </a:xfrm>
          <a:prstGeom prst="rect">
            <a:avLst/>
          </a:prstGeom>
        </p:spPr>
      </p:pic>
      <p:pic>
        <p:nvPicPr>
          <p:cNvPr id="18" name="Picture 17" descr="addin_tmp.png"/>
          <p:cNvPicPr>
            <a:picLocks noChangeAspect="1"/>
          </p:cNvPicPr>
          <p:nvPr>
            <p:custDataLst>
              <p:tags r:id="rId4"/>
            </p:custDataLst>
          </p:nvPr>
        </p:nvPicPr>
        <p:blipFill>
          <a:blip r:embed="rId10" cstate="print"/>
          <a:stretch>
            <a:fillRect/>
          </a:stretch>
        </p:blipFill>
        <p:spPr>
          <a:xfrm>
            <a:off x="2133600" y="5943600"/>
            <a:ext cx="4893469" cy="319088"/>
          </a:xfrm>
          <a:prstGeom prst="rect">
            <a:avLst/>
          </a:prstGeom>
        </p:spPr>
      </p:pic>
      <p:pic>
        <p:nvPicPr>
          <p:cNvPr id="11" name="Picture 10" descr="addin_tmp.png"/>
          <p:cNvPicPr>
            <a:picLocks noChangeAspect="1"/>
          </p:cNvPicPr>
          <p:nvPr>
            <p:custDataLst>
              <p:tags r:id="rId5"/>
            </p:custDataLst>
          </p:nvPr>
        </p:nvPicPr>
        <p:blipFill>
          <a:blip r:embed="rId11" cstate="print"/>
          <a:stretch>
            <a:fillRect/>
          </a:stretch>
        </p:blipFill>
        <p:spPr>
          <a:xfrm>
            <a:off x="2362200" y="4267200"/>
            <a:ext cx="3914775" cy="319088"/>
          </a:xfrm>
          <a:prstGeom prst="rect">
            <a:avLst/>
          </a:prstGeom>
        </p:spPr>
      </p:pic>
      <p:sp>
        <p:nvSpPr>
          <p:cNvPr id="9" name="TextBox 8"/>
          <p:cNvSpPr txBox="1"/>
          <p:nvPr/>
        </p:nvSpPr>
        <p:spPr>
          <a:xfrm>
            <a:off x="5943600" y="6400800"/>
            <a:ext cx="2057400" cy="369332"/>
          </a:xfrm>
          <a:prstGeom prst="rect">
            <a:avLst/>
          </a:prstGeom>
          <a:noFill/>
        </p:spPr>
        <p:txBody>
          <a:bodyPr wrap="square" rtlCol="0">
            <a:spAutoFit/>
          </a:bodyPr>
          <a:lstStyle/>
          <a:p>
            <a:r>
              <a:rPr lang="en-US" dirty="0"/>
              <a:t>Continued </a:t>
            </a:r>
            <a:r>
              <a:rPr lang="en-US" dirty="0">
                <a:latin typeface="Cambria Math"/>
                <a:ea typeface="Cambria Math"/>
              </a:rPr>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04088"/>
            <a:ext cx="8686800" cy="1143000"/>
          </a:xfrm>
        </p:spPr>
        <p:txBody>
          <a:bodyPr>
            <a:noAutofit/>
          </a:bodyPr>
          <a:lstStyle/>
          <a:p>
            <a:r>
              <a:rPr lang="en-US" sz="4000" dirty="0"/>
              <a:t>Big-</a:t>
            </a:r>
            <a:r>
              <a:rPr lang="en-US" sz="4000" i="1" dirty="0"/>
              <a:t>O</a:t>
            </a:r>
            <a:r>
              <a:rPr lang="en-US" sz="4000" dirty="0"/>
              <a:t> Estimates for some Important Functions</a:t>
            </a:r>
          </a:p>
        </p:txBody>
      </p:sp>
      <p:sp>
        <p:nvSpPr>
          <p:cNvPr id="3" name="Content Placeholder 2"/>
          <p:cNvSpPr>
            <a:spLocks noGrp="1"/>
          </p:cNvSpPr>
          <p:nvPr>
            <p:ph idx="1"/>
          </p:nvPr>
        </p:nvSpPr>
        <p:spPr/>
        <p:txBody>
          <a:bodyPr/>
          <a:lstStyle/>
          <a:p>
            <a:pPr>
              <a:buNone/>
            </a:pPr>
            <a:r>
              <a:rPr lang="en-US" b="1" dirty="0"/>
              <a:t>   Example</a:t>
            </a:r>
            <a:r>
              <a:rPr lang="en-US" dirty="0"/>
              <a:t>: Use big-</a:t>
            </a:r>
            <a:r>
              <a:rPr lang="en-US" i="1" dirty="0"/>
              <a:t>O</a:t>
            </a:r>
            <a:r>
              <a:rPr lang="en-US" dirty="0"/>
              <a:t> notation to estimate log </a:t>
            </a:r>
            <a:r>
              <a:rPr lang="en-US" i="1" dirty="0"/>
              <a:t>n</a:t>
            </a:r>
            <a:r>
              <a:rPr lang="en-US" dirty="0"/>
              <a:t>!</a:t>
            </a:r>
          </a:p>
          <a:p>
            <a:pPr>
              <a:buNone/>
            </a:pPr>
            <a:r>
              <a:rPr lang="en-US" b="1" dirty="0"/>
              <a:t>   Solution</a:t>
            </a:r>
            <a:r>
              <a:rPr lang="en-US" dirty="0"/>
              <a:t>: Given that                  (previous slide) </a:t>
            </a:r>
          </a:p>
          <a:p>
            <a:pPr>
              <a:buNone/>
            </a:pPr>
            <a:r>
              <a:rPr lang="en-US" dirty="0"/>
              <a:t>                     then                                    .</a:t>
            </a:r>
          </a:p>
          <a:p>
            <a:pPr>
              <a:buNone/>
            </a:pPr>
            <a:r>
              <a:rPr lang="en-US" dirty="0"/>
              <a:t>     Hence, log(</a:t>
            </a:r>
            <a:r>
              <a:rPr lang="en-US" i="1" dirty="0"/>
              <a:t>n</a:t>
            </a:r>
            <a:r>
              <a:rPr lang="en-US" dirty="0"/>
              <a:t>!) is </a:t>
            </a:r>
            <a:r>
              <a:rPr lang="en-US" i="1" dirty="0"/>
              <a:t>O</a:t>
            </a:r>
            <a:r>
              <a:rPr lang="en-US" dirty="0"/>
              <a:t>(</a:t>
            </a:r>
            <a:r>
              <a:rPr lang="en-US" i="1" dirty="0" err="1"/>
              <a:t>n</a:t>
            </a:r>
            <a:r>
              <a:rPr lang="en-US" dirty="0" err="1">
                <a:latin typeface="Cambria Math"/>
                <a:ea typeface="Cambria Math"/>
              </a:rPr>
              <a:t>∙log</a:t>
            </a:r>
            <a:r>
              <a:rPr lang="en-US" dirty="0">
                <a:latin typeface="Cambria Math"/>
                <a:ea typeface="Cambria Math"/>
              </a:rPr>
              <a:t>(</a:t>
            </a:r>
            <a:r>
              <a:rPr lang="en-US" i="1" dirty="0">
                <a:latin typeface="Cambria Math"/>
                <a:ea typeface="Cambria Math"/>
              </a:rPr>
              <a:t>n</a:t>
            </a:r>
            <a:r>
              <a:rPr lang="en-US" dirty="0">
                <a:latin typeface="Cambria Math"/>
                <a:ea typeface="Cambria Math"/>
              </a:rPr>
              <a:t>)) taking </a:t>
            </a:r>
            <a:r>
              <a:rPr lang="en-US" i="1" dirty="0">
                <a:ea typeface="Cambria Math"/>
              </a:rPr>
              <a:t>C </a:t>
            </a:r>
            <a:r>
              <a:rPr lang="en-US" dirty="0">
                <a:latin typeface="Cambria Math"/>
                <a:ea typeface="Cambria Math"/>
              </a:rPr>
              <a:t>= 1 and </a:t>
            </a:r>
            <a:r>
              <a:rPr lang="en-US" i="1" dirty="0">
                <a:latin typeface="Cambria Math"/>
                <a:ea typeface="Cambria Math"/>
              </a:rPr>
              <a:t>k</a:t>
            </a:r>
            <a:r>
              <a:rPr lang="en-US" dirty="0">
                <a:latin typeface="Cambria Math"/>
                <a:ea typeface="Cambria Math"/>
              </a:rPr>
              <a:t> = 1.</a:t>
            </a:r>
            <a:endParaRPr lang="en-US" dirty="0"/>
          </a:p>
          <a:p>
            <a:pPr>
              <a:buNone/>
            </a:pPr>
            <a:r>
              <a:rPr lang="en-US" b="1" dirty="0"/>
              <a:t>   </a:t>
            </a:r>
            <a:endParaRPr lang="en-US" dirty="0"/>
          </a:p>
        </p:txBody>
      </p:sp>
      <p:pic>
        <p:nvPicPr>
          <p:cNvPr id="10" name="Picture 9" descr="addin_tmp.png"/>
          <p:cNvPicPr>
            <a:picLocks noChangeAspect="1"/>
          </p:cNvPicPr>
          <p:nvPr>
            <p:custDataLst>
              <p:tags r:id="rId1"/>
            </p:custDataLst>
          </p:nvPr>
        </p:nvPicPr>
        <p:blipFill>
          <a:blip r:embed="rId4" cstate="print"/>
          <a:stretch>
            <a:fillRect/>
          </a:stretch>
        </p:blipFill>
        <p:spPr>
          <a:xfrm>
            <a:off x="4038600" y="2514600"/>
            <a:ext cx="1119188" cy="273844"/>
          </a:xfrm>
          <a:prstGeom prst="rect">
            <a:avLst/>
          </a:prstGeom>
        </p:spPr>
      </p:pic>
      <p:pic>
        <p:nvPicPr>
          <p:cNvPr id="6" name="Picture 5" descr="addin_tmp.png"/>
          <p:cNvPicPr>
            <a:picLocks noChangeAspect="1"/>
          </p:cNvPicPr>
          <p:nvPr>
            <p:custDataLst>
              <p:tags r:id="rId2"/>
            </p:custDataLst>
          </p:nvPr>
        </p:nvPicPr>
        <p:blipFill>
          <a:blip r:embed="rId5" cstate="print"/>
          <a:stretch>
            <a:fillRect/>
          </a:stretch>
        </p:blipFill>
        <p:spPr>
          <a:xfrm>
            <a:off x="3200400" y="2971800"/>
            <a:ext cx="2659856" cy="31908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Display of Growth of Functions</a:t>
            </a:r>
          </a:p>
        </p:txBody>
      </p:sp>
      <p:pic>
        <p:nvPicPr>
          <p:cNvPr id="5" name="Content Placeholder 3" descr="0309.jpg"/>
          <p:cNvPicPr>
            <a:picLocks noGrp="1" noChangeAspect="1"/>
          </p:cNvPicPr>
          <p:nvPr>
            <p:ph idx="1"/>
          </p:nvPr>
        </p:nvPicPr>
        <p:blipFill>
          <a:blip r:embed="rId2" cstate="print"/>
          <a:stretch>
            <a:fillRect/>
          </a:stretch>
        </p:blipFill>
        <p:spPr>
          <a:xfrm>
            <a:off x="3250276" y="2362200"/>
            <a:ext cx="3836324" cy="3118499"/>
          </a:xfrm>
        </p:spPr>
      </p:pic>
      <p:sp>
        <p:nvSpPr>
          <p:cNvPr id="6" name="TextBox 5"/>
          <p:cNvSpPr txBox="1"/>
          <p:nvPr/>
        </p:nvSpPr>
        <p:spPr>
          <a:xfrm>
            <a:off x="1219200" y="5562600"/>
            <a:ext cx="6781800" cy="369332"/>
          </a:xfrm>
          <a:prstGeom prst="rect">
            <a:avLst/>
          </a:prstGeom>
          <a:noFill/>
        </p:spPr>
        <p:txBody>
          <a:bodyPr wrap="square" rtlCol="0">
            <a:spAutoFit/>
          </a:bodyPr>
          <a:lstStyle/>
          <a:p>
            <a:r>
              <a:rPr lang="en-US" b="1" dirty="0"/>
              <a:t>The difference in behavior of functions as </a:t>
            </a:r>
            <a:r>
              <a:rPr lang="en-US" b="1" i="1" dirty="0"/>
              <a:t>n</a:t>
            </a:r>
            <a:r>
              <a:rPr lang="en-US" b="1" dirty="0"/>
              <a:t> gets larger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Useful Big-</a:t>
            </a:r>
            <a:r>
              <a:rPr lang="en-US" sz="4000" i="1" dirty="0"/>
              <a:t>O</a:t>
            </a:r>
            <a:r>
              <a:rPr lang="en-US" sz="4000" dirty="0"/>
              <a:t> Estimates Involving Logarithms, Powers, and Exponents</a:t>
            </a:r>
          </a:p>
        </p:txBody>
      </p:sp>
      <p:sp>
        <p:nvSpPr>
          <p:cNvPr id="3" name="Content Placeholder 2"/>
          <p:cNvSpPr>
            <a:spLocks noGrp="1"/>
          </p:cNvSpPr>
          <p:nvPr>
            <p:ph idx="1"/>
          </p:nvPr>
        </p:nvSpPr>
        <p:spPr/>
        <p:txBody>
          <a:bodyPr/>
          <a:lstStyle/>
          <a:p>
            <a:r>
              <a:rPr lang="en-US" dirty="0"/>
              <a:t>If </a:t>
            </a:r>
            <a:r>
              <a:rPr lang="en-US" i="1" dirty="0"/>
              <a:t>d</a:t>
            </a:r>
            <a:r>
              <a:rPr lang="en-US" dirty="0"/>
              <a:t> &gt; c &gt; </a:t>
            </a:r>
            <a:r>
              <a:rPr lang="en-US" dirty="0">
                <a:latin typeface="Cambria Math" pitchFamily="18" charset="0"/>
                <a:ea typeface="Cambria Math" pitchFamily="18" charset="0"/>
              </a:rPr>
              <a:t>1</a:t>
            </a:r>
            <a:r>
              <a:rPr lang="en-US" dirty="0"/>
              <a:t>, then </a:t>
            </a:r>
          </a:p>
          <a:p>
            <a:pPr>
              <a:buNone/>
            </a:pPr>
            <a:r>
              <a:rPr lang="en-US" i="1" dirty="0"/>
              <a:t>            </a:t>
            </a:r>
            <a:r>
              <a:rPr lang="en-US" i="1" dirty="0" err="1"/>
              <a:t>n</a:t>
            </a:r>
            <a:r>
              <a:rPr lang="en-US" i="1" baseline="30000" dirty="0" err="1"/>
              <a:t>c</a:t>
            </a:r>
            <a:r>
              <a:rPr lang="en-US" baseline="30000" dirty="0"/>
              <a:t>  </a:t>
            </a:r>
            <a:r>
              <a:rPr lang="en-US" dirty="0"/>
              <a:t>is </a:t>
            </a:r>
            <a:r>
              <a:rPr lang="en-US" i="1" dirty="0"/>
              <a:t>O</a:t>
            </a:r>
            <a:r>
              <a:rPr lang="en-US" dirty="0"/>
              <a:t>(</a:t>
            </a:r>
            <a:r>
              <a:rPr lang="en-US" i="1" dirty="0" err="1"/>
              <a:t>n</a:t>
            </a:r>
            <a:r>
              <a:rPr lang="en-US" i="1" baseline="30000" dirty="0" err="1"/>
              <a:t>d</a:t>
            </a:r>
            <a:r>
              <a:rPr lang="en-US" dirty="0"/>
              <a:t>), but </a:t>
            </a:r>
            <a:r>
              <a:rPr lang="en-US" i="1" dirty="0" err="1"/>
              <a:t>n</a:t>
            </a:r>
            <a:r>
              <a:rPr lang="en-US" i="1" baseline="30000" dirty="0" err="1"/>
              <a:t>d</a:t>
            </a:r>
            <a:r>
              <a:rPr lang="en-US" i="1" baseline="30000" dirty="0"/>
              <a:t> </a:t>
            </a:r>
            <a:r>
              <a:rPr lang="en-US" dirty="0"/>
              <a:t>is not  </a:t>
            </a:r>
            <a:r>
              <a:rPr lang="en-US" i="1" dirty="0"/>
              <a:t>O</a:t>
            </a:r>
            <a:r>
              <a:rPr lang="en-US" dirty="0"/>
              <a:t>(</a:t>
            </a:r>
            <a:r>
              <a:rPr lang="en-US" i="1" dirty="0" err="1"/>
              <a:t>n</a:t>
            </a:r>
            <a:r>
              <a:rPr lang="en-US" i="1" baseline="30000" dirty="0" err="1"/>
              <a:t>c</a:t>
            </a:r>
            <a:r>
              <a:rPr lang="en-US" dirty="0"/>
              <a:t>). </a:t>
            </a:r>
          </a:p>
          <a:p>
            <a:r>
              <a:rPr lang="en-US" dirty="0"/>
              <a:t>If  b &gt; </a:t>
            </a:r>
            <a:r>
              <a:rPr lang="en-US" dirty="0">
                <a:latin typeface="Cambria Math" pitchFamily="18" charset="0"/>
                <a:ea typeface="Cambria Math" pitchFamily="18" charset="0"/>
              </a:rPr>
              <a:t>1</a:t>
            </a:r>
            <a:r>
              <a:rPr lang="en-US" dirty="0"/>
              <a:t>  and </a:t>
            </a:r>
            <a:r>
              <a:rPr lang="en-US" i="1" dirty="0"/>
              <a:t>c</a:t>
            </a:r>
            <a:r>
              <a:rPr lang="en-US" dirty="0"/>
              <a:t> and </a:t>
            </a:r>
            <a:r>
              <a:rPr lang="en-US" i="1" dirty="0"/>
              <a:t>d</a:t>
            </a:r>
            <a:r>
              <a:rPr lang="en-US" dirty="0"/>
              <a:t> are positive, then </a:t>
            </a:r>
          </a:p>
          <a:p>
            <a:pPr>
              <a:buNone/>
            </a:pPr>
            <a:r>
              <a:rPr lang="en-US" i="1" dirty="0"/>
              <a:t>        </a:t>
            </a:r>
            <a:r>
              <a:rPr lang="en-US" dirty="0"/>
              <a:t>(</a:t>
            </a:r>
            <a:r>
              <a:rPr lang="en-US" dirty="0" err="1"/>
              <a:t>log</a:t>
            </a:r>
            <a:r>
              <a:rPr lang="en-US" baseline="-25000" dirty="0" err="1"/>
              <a:t>b</a:t>
            </a:r>
            <a:r>
              <a:rPr lang="en-US" i="1" dirty="0"/>
              <a:t>  n</a:t>
            </a:r>
            <a:r>
              <a:rPr lang="en-US" dirty="0"/>
              <a:t>)</a:t>
            </a:r>
            <a:r>
              <a:rPr lang="en-US" i="1" baseline="30000" dirty="0"/>
              <a:t>c</a:t>
            </a:r>
            <a:r>
              <a:rPr lang="en-US" baseline="30000" dirty="0"/>
              <a:t>  </a:t>
            </a:r>
            <a:r>
              <a:rPr lang="en-US" dirty="0"/>
              <a:t>is </a:t>
            </a:r>
            <a:r>
              <a:rPr lang="en-US" i="1" dirty="0"/>
              <a:t>O</a:t>
            </a:r>
            <a:r>
              <a:rPr lang="en-US" dirty="0"/>
              <a:t>(</a:t>
            </a:r>
            <a:r>
              <a:rPr lang="en-US" i="1" dirty="0" err="1"/>
              <a:t>n</a:t>
            </a:r>
            <a:r>
              <a:rPr lang="en-US" i="1" baseline="30000" dirty="0" err="1"/>
              <a:t>d</a:t>
            </a:r>
            <a:r>
              <a:rPr lang="en-US" dirty="0"/>
              <a:t>), but </a:t>
            </a:r>
            <a:r>
              <a:rPr lang="en-US" i="1" dirty="0" err="1"/>
              <a:t>n</a:t>
            </a:r>
            <a:r>
              <a:rPr lang="en-US" i="1" baseline="30000" dirty="0" err="1"/>
              <a:t>d</a:t>
            </a:r>
            <a:r>
              <a:rPr lang="en-US" i="1" baseline="30000" dirty="0"/>
              <a:t> </a:t>
            </a:r>
            <a:r>
              <a:rPr lang="en-US" dirty="0"/>
              <a:t>is not </a:t>
            </a:r>
            <a:r>
              <a:rPr lang="en-US" i="1" dirty="0"/>
              <a:t>O</a:t>
            </a:r>
            <a:r>
              <a:rPr lang="en-US" dirty="0"/>
              <a:t>((</a:t>
            </a:r>
            <a:r>
              <a:rPr lang="en-US" dirty="0" err="1"/>
              <a:t>log</a:t>
            </a:r>
            <a:r>
              <a:rPr lang="en-US" baseline="-25000" dirty="0" err="1"/>
              <a:t>b</a:t>
            </a:r>
            <a:r>
              <a:rPr lang="en-US" i="1" dirty="0"/>
              <a:t>  n</a:t>
            </a:r>
            <a:r>
              <a:rPr lang="en-US" dirty="0"/>
              <a:t>)</a:t>
            </a:r>
            <a:r>
              <a:rPr lang="en-US" i="1" baseline="30000" dirty="0"/>
              <a:t>c</a:t>
            </a:r>
            <a:r>
              <a:rPr lang="en-US" dirty="0"/>
              <a:t>). </a:t>
            </a:r>
          </a:p>
          <a:p>
            <a:r>
              <a:rPr lang="en-US" dirty="0"/>
              <a:t> If  b &gt; </a:t>
            </a:r>
            <a:r>
              <a:rPr lang="en-US" dirty="0">
                <a:latin typeface="Cambria Math" pitchFamily="18" charset="0"/>
                <a:ea typeface="Cambria Math" pitchFamily="18" charset="0"/>
              </a:rPr>
              <a:t>1</a:t>
            </a:r>
            <a:r>
              <a:rPr lang="en-US" dirty="0"/>
              <a:t>  and  </a:t>
            </a:r>
            <a:r>
              <a:rPr lang="en-US" i="1" dirty="0"/>
              <a:t>d</a:t>
            </a:r>
            <a:r>
              <a:rPr lang="en-US" dirty="0"/>
              <a:t> is positive, then </a:t>
            </a:r>
          </a:p>
          <a:p>
            <a:pPr>
              <a:buNone/>
            </a:pPr>
            <a:r>
              <a:rPr lang="en-US" i="1" dirty="0"/>
              <a:t>            </a:t>
            </a:r>
            <a:r>
              <a:rPr lang="en-US" i="1" dirty="0" err="1"/>
              <a:t>n</a:t>
            </a:r>
            <a:r>
              <a:rPr lang="en-US" i="1" baseline="30000" dirty="0" err="1"/>
              <a:t>d</a:t>
            </a:r>
            <a:r>
              <a:rPr lang="en-US" baseline="30000" dirty="0"/>
              <a:t>  </a:t>
            </a:r>
            <a:r>
              <a:rPr lang="en-US" dirty="0"/>
              <a:t>is </a:t>
            </a:r>
            <a:r>
              <a:rPr lang="en-US" i="1" dirty="0"/>
              <a:t>O</a:t>
            </a:r>
            <a:r>
              <a:rPr lang="en-US" dirty="0"/>
              <a:t>(</a:t>
            </a:r>
            <a:r>
              <a:rPr lang="en-US" i="1" dirty="0" err="1"/>
              <a:t>b</a:t>
            </a:r>
            <a:r>
              <a:rPr lang="en-US" i="1" baseline="30000" dirty="0" err="1"/>
              <a:t>n</a:t>
            </a:r>
            <a:r>
              <a:rPr lang="en-US" dirty="0"/>
              <a:t>), but </a:t>
            </a:r>
            <a:r>
              <a:rPr lang="en-US" i="1" dirty="0" err="1"/>
              <a:t>b</a:t>
            </a:r>
            <a:r>
              <a:rPr lang="en-US" i="1" baseline="30000" dirty="0" err="1"/>
              <a:t>n</a:t>
            </a:r>
            <a:r>
              <a:rPr lang="en-US" i="1" baseline="30000" dirty="0"/>
              <a:t> </a:t>
            </a:r>
            <a:r>
              <a:rPr lang="en-US" dirty="0"/>
              <a:t>is not  </a:t>
            </a:r>
            <a:r>
              <a:rPr lang="en-US" i="1" dirty="0"/>
              <a:t>O</a:t>
            </a:r>
            <a:r>
              <a:rPr lang="en-US" dirty="0"/>
              <a:t>(</a:t>
            </a:r>
            <a:r>
              <a:rPr lang="en-US" i="1" dirty="0" err="1"/>
              <a:t>n</a:t>
            </a:r>
            <a:r>
              <a:rPr lang="en-US" i="1" baseline="30000" dirty="0" err="1"/>
              <a:t>d</a:t>
            </a:r>
            <a:r>
              <a:rPr lang="en-US" dirty="0"/>
              <a:t>).</a:t>
            </a:r>
          </a:p>
          <a:p>
            <a:r>
              <a:rPr lang="en-US" dirty="0"/>
              <a:t> If </a:t>
            </a:r>
            <a:r>
              <a:rPr lang="en-US" i="1" dirty="0"/>
              <a:t>c</a:t>
            </a:r>
            <a:r>
              <a:rPr lang="en-US" dirty="0"/>
              <a:t> &gt; b &gt; </a:t>
            </a:r>
            <a:r>
              <a:rPr lang="en-US" dirty="0">
                <a:latin typeface="Cambria Math" pitchFamily="18" charset="0"/>
                <a:ea typeface="Cambria Math" pitchFamily="18" charset="0"/>
              </a:rPr>
              <a:t>1</a:t>
            </a:r>
            <a:r>
              <a:rPr lang="en-US" dirty="0"/>
              <a:t>, then </a:t>
            </a:r>
          </a:p>
          <a:p>
            <a:pPr>
              <a:buNone/>
            </a:pPr>
            <a:r>
              <a:rPr lang="en-US" i="1" dirty="0"/>
              <a:t>            </a:t>
            </a:r>
            <a:r>
              <a:rPr lang="en-US" i="1" dirty="0" err="1"/>
              <a:t>b</a:t>
            </a:r>
            <a:r>
              <a:rPr lang="en-US" i="1" baseline="30000" dirty="0" err="1"/>
              <a:t>n</a:t>
            </a:r>
            <a:r>
              <a:rPr lang="en-US" baseline="30000" dirty="0"/>
              <a:t>  </a:t>
            </a:r>
            <a:r>
              <a:rPr lang="en-US" dirty="0"/>
              <a:t>is </a:t>
            </a:r>
            <a:r>
              <a:rPr lang="en-US" i="1" dirty="0"/>
              <a:t>O</a:t>
            </a:r>
            <a:r>
              <a:rPr lang="en-US" dirty="0"/>
              <a:t>(</a:t>
            </a:r>
            <a:r>
              <a:rPr lang="en-US" i="1" dirty="0" err="1"/>
              <a:t>c</a:t>
            </a:r>
            <a:r>
              <a:rPr lang="en-US" i="1" baseline="30000" dirty="0" err="1"/>
              <a:t>n</a:t>
            </a:r>
            <a:r>
              <a:rPr lang="en-US" dirty="0"/>
              <a:t>), but </a:t>
            </a:r>
            <a:r>
              <a:rPr lang="en-US" i="1" dirty="0" err="1"/>
              <a:t>c</a:t>
            </a:r>
            <a:r>
              <a:rPr lang="en-US" i="1" baseline="30000" dirty="0" err="1"/>
              <a:t>n</a:t>
            </a:r>
            <a:r>
              <a:rPr lang="en-US" i="1" baseline="30000" dirty="0"/>
              <a:t> </a:t>
            </a:r>
            <a:r>
              <a:rPr lang="en-US" dirty="0"/>
              <a:t>is not  </a:t>
            </a:r>
            <a:r>
              <a:rPr lang="en-US" i="1" dirty="0"/>
              <a:t>O</a:t>
            </a:r>
            <a:r>
              <a:rPr lang="en-US" dirty="0"/>
              <a:t>(</a:t>
            </a:r>
            <a:r>
              <a:rPr lang="en-US" i="1" dirty="0" err="1"/>
              <a:t>b</a:t>
            </a:r>
            <a:r>
              <a:rPr lang="en-US" i="1" baseline="30000" dirty="0" err="1"/>
              <a:t>n</a:t>
            </a:r>
            <a:r>
              <a:rPr lang="en-US" dirty="0"/>
              <a:t>).</a:t>
            </a:r>
          </a:p>
          <a:p>
            <a:pPr>
              <a:buNone/>
            </a:pPr>
            <a:endParaRPr lang="en-US" dirty="0"/>
          </a:p>
          <a:p>
            <a:pPr>
              <a:buNone/>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Combinations of Functions</a:t>
            </a:r>
          </a:p>
        </p:txBody>
      </p:sp>
      <p:sp>
        <p:nvSpPr>
          <p:cNvPr id="3" name="Content Placeholder 2"/>
          <p:cNvSpPr>
            <a:spLocks noGrp="1"/>
          </p:cNvSpPr>
          <p:nvPr>
            <p:ph idx="1"/>
          </p:nvPr>
        </p:nvSpPr>
        <p:spPr/>
        <p:txBody>
          <a:bodyPr>
            <a:normAutofit lnSpcReduction="10000"/>
          </a:bodyPr>
          <a:lstStyle/>
          <a:p>
            <a:pPr algn="just"/>
            <a:r>
              <a:rPr lang="en-US" dirty="0"/>
              <a:t>If  </a:t>
            </a:r>
            <a:r>
              <a:rPr lang="en-US" i="1" dirty="0"/>
              <a:t>f</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ea typeface="Cambria Math" pitchFamily="18" charset="0"/>
              </a:rPr>
              <a:t>O</a:t>
            </a:r>
            <a:r>
              <a:rPr lang="en-US" dirty="0">
                <a:latin typeface="Cambria Math" pitchFamily="18" charset="0"/>
                <a:ea typeface="Cambria Math" pitchFamily="18" charset="0"/>
              </a:rPr>
              <a:t>(</a:t>
            </a:r>
            <a:r>
              <a:rPr lang="en-US" dirty="0"/>
              <a:t>g</a:t>
            </a:r>
            <a:r>
              <a:rPr lang="en-US" baseline="-25000" dirty="0">
                <a:latin typeface="Cambria Math" pitchFamily="18" charset="0"/>
                <a:ea typeface="Cambria Math" pitchFamily="18" charset="0"/>
              </a:rPr>
              <a:t>1</a:t>
            </a:r>
            <a:r>
              <a:rPr lang="en-US" dirty="0"/>
              <a:t>(x)) and </a:t>
            </a:r>
            <a:r>
              <a:rPr lang="en-US" i="1" dirty="0"/>
              <a:t>f</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ea typeface="Cambria Math" pitchFamily="18" charset="0"/>
              </a:rPr>
              <a:t>O</a:t>
            </a:r>
            <a:r>
              <a:rPr lang="en-US" dirty="0">
                <a:latin typeface="Cambria Math" pitchFamily="18" charset="0"/>
                <a:ea typeface="Cambria Math" pitchFamily="18" charset="0"/>
              </a:rPr>
              <a:t>(</a:t>
            </a:r>
            <a:r>
              <a:rPr lang="en-US" dirty="0"/>
              <a:t>g</a:t>
            </a:r>
            <a:r>
              <a:rPr lang="en-US" baseline="-25000" dirty="0">
                <a:latin typeface="Cambria Math" pitchFamily="18" charset="0"/>
                <a:ea typeface="Cambria Math" pitchFamily="18" charset="0"/>
              </a:rPr>
              <a:t>2</a:t>
            </a:r>
            <a:r>
              <a:rPr lang="en-US" dirty="0"/>
              <a:t>(x)) then </a:t>
            </a:r>
          </a:p>
          <a:p>
            <a:pPr algn="just">
              <a:buNone/>
            </a:pPr>
            <a:r>
              <a:rPr lang="en-US" dirty="0"/>
              <a:t>                     ( </a:t>
            </a:r>
            <a:r>
              <a:rPr lang="en-US" i="1" dirty="0"/>
              <a:t>f</a:t>
            </a:r>
            <a:r>
              <a:rPr lang="en-US" baseline="-25000" dirty="0">
                <a:latin typeface="Cambria Math" pitchFamily="18" charset="0"/>
                <a:ea typeface="Cambria Math" pitchFamily="18" charset="0"/>
              </a:rPr>
              <a:t>1</a:t>
            </a:r>
            <a:r>
              <a:rPr lang="en-US" dirty="0"/>
              <a:t> + </a:t>
            </a:r>
            <a:r>
              <a:rPr lang="en-US" i="1" dirty="0"/>
              <a:t>f</a:t>
            </a:r>
            <a:r>
              <a:rPr lang="en-US" baseline="-25000" dirty="0">
                <a:latin typeface="Cambria Math" pitchFamily="18" charset="0"/>
                <a:ea typeface="Cambria Math" pitchFamily="18" charset="0"/>
              </a:rPr>
              <a:t>2</a:t>
            </a:r>
            <a:r>
              <a:rPr lang="en-US" dirty="0"/>
              <a:t> )(</a:t>
            </a:r>
            <a:r>
              <a:rPr lang="en-US" i="1" dirty="0"/>
              <a:t>x</a:t>
            </a:r>
            <a:r>
              <a:rPr lang="en-US" dirty="0"/>
              <a:t>) is </a:t>
            </a:r>
            <a:r>
              <a:rPr lang="en-US" i="1" dirty="0"/>
              <a:t>O</a:t>
            </a:r>
            <a:r>
              <a:rPr lang="en-US" dirty="0"/>
              <a:t>(max(</a:t>
            </a:r>
            <a:r>
              <a:rPr lang="en-US" dirty="0">
                <a:latin typeface="Cambria Math" pitchFamily="18" charset="0"/>
                <a:ea typeface="Cambria Math" pitchFamily="18" charset="0"/>
              </a:rPr>
              <a:t>|</a:t>
            </a:r>
            <a:r>
              <a:rPr lang="en-US" dirty="0"/>
              <a:t>g</a:t>
            </a:r>
            <a:r>
              <a:rPr lang="en-US" baseline="-25000" dirty="0">
                <a:latin typeface="Cambria Math" pitchFamily="18" charset="0"/>
                <a:ea typeface="Cambria Math" pitchFamily="18" charset="0"/>
              </a:rPr>
              <a:t>1</a:t>
            </a:r>
            <a:r>
              <a:rPr lang="en-US" dirty="0"/>
              <a:t>(x)</a:t>
            </a:r>
            <a:r>
              <a:rPr lang="en-US" dirty="0">
                <a:latin typeface="Cambria Math" pitchFamily="18" charset="0"/>
                <a:ea typeface="Cambria Math" pitchFamily="18" charset="0"/>
              </a:rPr>
              <a:t> |,|</a:t>
            </a:r>
            <a:r>
              <a:rPr lang="en-US" dirty="0"/>
              <a:t>g</a:t>
            </a:r>
            <a:r>
              <a:rPr lang="en-US" baseline="-25000" dirty="0">
                <a:latin typeface="Cambria Math" pitchFamily="18" charset="0"/>
                <a:ea typeface="Cambria Math" pitchFamily="18" charset="0"/>
              </a:rPr>
              <a:t>2</a:t>
            </a:r>
            <a:r>
              <a:rPr lang="en-US" dirty="0"/>
              <a:t>(x)</a:t>
            </a:r>
            <a:r>
              <a:rPr lang="en-US" dirty="0">
                <a:latin typeface="Cambria Math" pitchFamily="18" charset="0"/>
                <a:ea typeface="Cambria Math" pitchFamily="18" charset="0"/>
              </a:rPr>
              <a:t> |)).</a:t>
            </a:r>
            <a:r>
              <a:rPr lang="en-US" dirty="0"/>
              <a:t>  </a:t>
            </a:r>
          </a:p>
          <a:p>
            <a:pPr algn="just">
              <a:buNone/>
            </a:pPr>
            <a:r>
              <a:rPr lang="en-US" dirty="0"/>
              <a:t>                                                           </a:t>
            </a:r>
          </a:p>
          <a:p>
            <a:pPr algn="just"/>
            <a:r>
              <a:rPr lang="en-US" dirty="0"/>
              <a:t> If  </a:t>
            </a:r>
            <a:r>
              <a:rPr lang="en-US" i="1" dirty="0"/>
              <a:t>f</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a:t>
            </a:r>
            <a:r>
              <a:rPr lang="en-US" dirty="0"/>
              <a:t>and </a:t>
            </a:r>
            <a:r>
              <a:rPr lang="en-US" i="1" dirty="0"/>
              <a:t>f</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are both </a:t>
            </a:r>
            <a:r>
              <a:rPr lang="en-US" i="1" dirty="0">
                <a:ea typeface="Cambria Math" pitchFamily="18" charset="0"/>
              </a:rPr>
              <a:t>O</a:t>
            </a:r>
            <a:r>
              <a:rPr lang="en-US" dirty="0">
                <a:latin typeface="Cambria Math" pitchFamily="18" charset="0"/>
                <a:ea typeface="Cambria Math" pitchFamily="18" charset="0"/>
              </a:rPr>
              <a:t>(</a:t>
            </a:r>
            <a:r>
              <a:rPr lang="en-US" dirty="0"/>
              <a:t>g(</a:t>
            </a:r>
            <a:r>
              <a:rPr lang="en-US" i="1" dirty="0"/>
              <a:t>x</a:t>
            </a:r>
            <a:r>
              <a:rPr lang="en-US" dirty="0"/>
              <a:t>)) then </a:t>
            </a:r>
          </a:p>
          <a:p>
            <a:pPr algn="just">
              <a:buNone/>
            </a:pPr>
            <a:r>
              <a:rPr lang="en-US" dirty="0"/>
              <a:t>                     ( </a:t>
            </a:r>
            <a:r>
              <a:rPr lang="en-US" i="1" dirty="0"/>
              <a:t>f</a:t>
            </a:r>
            <a:r>
              <a:rPr lang="en-US" baseline="-25000" dirty="0">
                <a:latin typeface="Cambria Math" pitchFamily="18" charset="0"/>
                <a:ea typeface="Cambria Math" pitchFamily="18" charset="0"/>
              </a:rPr>
              <a:t>1</a:t>
            </a:r>
            <a:r>
              <a:rPr lang="en-US" dirty="0"/>
              <a:t> + </a:t>
            </a:r>
            <a:r>
              <a:rPr lang="en-US" i="1" dirty="0"/>
              <a:t>f</a:t>
            </a:r>
            <a:r>
              <a:rPr lang="en-US" baseline="-25000" dirty="0">
                <a:latin typeface="Cambria Math" pitchFamily="18" charset="0"/>
                <a:ea typeface="Cambria Math" pitchFamily="18" charset="0"/>
              </a:rPr>
              <a:t>2</a:t>
            </a:r>
            <a:r>
              <a:rPr lang="en-US" dirty="0"/>
              <a:t> )(</a:t>
            </a:r>
            <a:r>
              <a:rPr lang="en-US" i="1" dirty="0"/>
              <a:t>x</a:t>
            </a:r>
            <a:r>
              <a:rPr lang="en-US" dirty="0"/>
              <a:t>) is </a:t>
            </a:r>
            <a:r>
              <a:rPr lang="en-US" i="1" dirty="0"/>
              <a:t>O</a:t>
            </a:r>
            <a:r>
              <a:rPr lang="en-US" dirty="0"/>
              <a:t>(g(</a:t>
            </a:r>
            <a:r>
              <a:rPr lang="en-US" i="1" dirty="0"/>
              <a:t>x</a:t>
            </a:r>
            <a:r>
              <a:rPr lang="en-US" dirty="0"/>
              <a:t>)</a:t>
            </a:r>
            <a:r>
              <a:rPr lang="en-US" dirty="0">
                <a:latin typeface="Cambria Math" pitchFamily="18" charset="0"/>
                <a:ea typeface="Cambria Math" pitchFamily="18" charset="0"/>
              </a:rPr>
              <a:t>).</a:t>
            </a:r>
            <a:r>
              <a:rPr lang="en-US" dirty="0"/>
              <a:t>      </a:t>
            </a:r>
          </a:p>
          <a:p>
            <a:pPr algn="just">
              <a:buNone/>
            </a:pPr>
            <a:endParaRPr lang="en-US" dirty="0"/>
          </a:p>
          <a:p>
            <a:pPr lvl="1" algn="just"/>
            <a:r>
              <a:rPr lang="en-US" dirty="0"/>
              <a:t>If  </a:t>
            </a:r>
            <a:r>
              <a:rPr lang="en-US" i="1" dirty="0"/>
              <a:t>f</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ea typeface="Cambria Math" pitchFamily="18" charset="0"/>
              </a:rPr>
              <a:t>O</a:t>
            </a:r>
            <a:r>
              <a:rPr lang="en-US" dirty="0">
                <a:latin typeface="Cambria Math" pitchFamily="18" charset="0"/>
                <a:ea typeface="Cambria Math" pitchFamily="18" charset="0"/>
              </a:rPr>
              <a:t>(</a:t>
            </a:r>
            <a:r>
              <a:rPr lang="en-US" dirty="0"/>
              <a:t>g</a:t>
            </a:r>
            <a:r>
              <a:rPr lang="en-US" baseline="-25000" dirty="0">
                <a:latin typeface="Cambria Math" pitchFamily="18" charset="0"/>
                <a:ea typeface="Cambria Math" pitchFamily="18" charset="0"/>
              </a:rPr>
              <a:t>1</a:t>
            </a:r>
            <a:r>
              <a:rPr lang="en-US" dirty="0"/>
              <a:t>(x)) and </a:t>
            </a:r>
            <a:r>
              <a:rPr lang="en-US" i="1" dirty="0"/>
              <a:t>f</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ea typeface="Cambria Math" pitchFamily="18" charset="0"/>
              </a:rPr>
              <a:t>O</a:t>
            </a:r>
            <a:r>
              <a:rPr lang="en-US" dirty="0">
                <a:latin typeface="Cambria Math" pitchFamily="18" charset="0"/>
                <a:ea typeface="Cambria Math" pitchFamily="18" charset="0"/>
              </a:rPr>
              <a:t>(</a:t>
            </a:r>
            <a:r>
              <a:rPr lang="en-US" dirty="0"/>
              <a:t>g</a:t>
            </a:r>
            <a:r>
              <a:rPr lang="en-US" baseline="-25000" dirty="0">
                <a:latin typeface="Cambria Math" pitchFamily="18" charset="0"/>
                <a:ea typeface="Cambria Math" pitchFamily="18" charset="0"/>
              </a:rPr>
              <a:t>2</a:t>
            </a:r>
            <a:r>
              <a:rPr lang="en-US" dirty="0"/>
              <a:t>(</a:t>
            </a:r>
            <a:r>
              <a:rPr lang="en-US" i="1" dirty="0"/>
              <a:t>x</a:t>
            </a:r>
            <a:r>
              <a:rPr lang="en-US" dirty="0"/>
              <a:t>)) then </a:t>
            </a:r>
          </a:p>
          <a:p>
            <a:pPr algn="just">
              <a:buNone/>
            </a:pPr>
            <a:r>
              <a:rPr lang="en-US" dirty="0"/>
              <a:t>                     ( </a:t>
            </a:r>
            <a:r>
              <a:rPr lang="en-US" i="1" dirty="0"/>
              <a:t>f</a:t>
            </a:r>
            <a:r>
              <a:rPr lang="en-US" baseline="-25000" dirty="0">
                <a:latin typeface="Cambria Math" pitchFamily="18" charset="0"/>
                <a:ea typeface="Cambria Math" pitchFamily="18" charset="0"/>
              </a:rPr>
              <a:t>1</a:t>
            </a:r>
            <a:r>
              <a:rPr lang="en-US" dirty="0"/>
              <a:t> </a:t>
            </a:r>
            <a:r>
              <a:rPr lang="en-US" i="1" dirty="0"/>
              <a:t>f</a:t>
            </a:r>
            <a:r>
              <a:rPr lang="en-US" baseline="-25000" dirty="0">
                <a:latin typeface="Cambria Math" pitchFamily="18" charset="0"/>
                <a:ea typeface="Cambria Math" pitchFamily="18" charset="0"/>
              </a:rPr>
              <a:t>2</a:t>
            </a:r>
            <a:r>
              <a:rPr lang="en-US" dirty="0"/>
              <a:t> )(</a:t>
            </a:r>
            <a:r>
              <a:rPr lang="en-US" i="1" dirty="0"/>
              <a:t>x</a:t>
            </a:r>
            <a:r>
              <a:rPr lang="en-US" dirty="0"/>
              <a:t>) is </a:t>
            </a:r>
            <a:r>
              <a:rPr lang="en-US" i="1" dirty="0"/>
              <a:t>O</a:t>
            </a:r>
            <a:r>
              <a:rPr lang="en-US" dirty="0"/>
              <a:t>(g</a:t>
            </a:r>
            <a:r>
              <a:rPr lang="en-US" baseline="-25000" dirty="0">
                <a:latin typeface="Cambria Math" pitchFamily="18" charset="0"/>
                <a:ea typeface="Cambria Math" pitchFamily="18" charset="0"/>
              </a:rPr>
              <a:t>1</a:t>
            </a:r>
            <a:r>
              <a:rPr lang="en-US" dirty="0"/>
              <a:t>(x)g</a:t>
            </a:r>
            <a:r>
              <a:rPr lang="en-US" baseline="-25000" dirty="0">
                <a:latin typeface="Cambria Math" pitchFamily="18" charset="0"/>
                <a:ea typeface="Cambria Math" pitchFamily="18" charset="0"/>
              </a:rPr>
              <a:t>2</a:t>
            </a:r>
            <a:r>
              <a:rPr lang="en-US" dirty="0"/>
              <a:t>(x)</a:t>
            </a:r>
            <a:r>
              <a:rPr lang="en-US" dirty="0">
                <a:latin typeface="Cambria Math" pitchFamily="18" charset="0"/>
                <a:ea typeface="Cambria Math" pitchFamily="18" charset="0"/>
              </a:rPr>
              <a:t>).</a:t>
            </a:r>
            <a:r>
              <a:rPr lang="en-US" dirty="0"/>
              <a:t>                                                                                                                               </a:t>
            </a:r>
          </a:p>
          <a:p>
            <a:pPr algn="just"/>
            <a:endParaRPr lang="en-US" dirty="0"/>
          </a:p>
          <a:p>
            <a:pPr algn="just">
              <a:buNone/>
            </a:pPr>
            <a:r>
              <a:rPr lang="en-US" dirty="0"/>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Combinations of Functions</a:t>
            </a:r>
          </a:p>
        </p:txBody>
      </p:sp>
      <p:sp>
        <p:nvSpPr>
          <p:cNvPr id="3" name="Content Placeholder 2"/>
          <p:cNvSpPr>
            <a:spLocks noGrp="1"/>
          </p:cNvSpPr>
          <p:nvPr>
            <p:ph idx="1"/>
          </p:nvPr>
        </p:nvSpPr>
        <p:spPr>
          <a:xfrm>
            <a:off x="457200" y="1935480"/>
            <a:ext cx="8229600" cy="4770120"/>
          </a:xfrm>
        </p:spPr>
        <p:txBody>
          <a:bodyPr>
            <a:normAutofit fontScale="70000" lnSpcReduction="20000"/>
          </a:bodyPr>
          <a:lstStyle/>
          <a:p>
            <a:r>
              <a:rPr lang="en-US" dirty="0"/>
              <a:t>If  </a:t>
            </a:r>
            <a:r>
              <a:rPr lang="en-US" i="1" dirty="0"/>
              <a:t>f</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ea typeface="Cambria Math" pitchFamily="18" charset="0"/>
              </a:rPr>
              <a:t>O</a:t>
            </a:r>
            <a:r>
              <a:rPr lang="en-US" dirty="0">
                <a:latin typeface="Cambria Math" pitchFamily="18" charset="0"/>
                <a:ea typeface="Cambria Math" pitchFamily="18" charset="0"/>
              </a:rPr>
              <a:t>(</a:t>
            </a:r>
            <a:r>
              <a:rPr lang="en-US" dirty="0"/>
              <a:t>g</a:t>
            </a:r>
            <a:r>
              <a:rPr lang="en-US" baseline="-25000" dirty="0">
                <a:latin typeface="Cambria Math" pitchFamily="18" charset="0"/>
                <a:ea typeface="Cambria Math" pitchFamily="18" charset="0"/>
              </a:rPr>
              <a:t>1</a:t>
            </a:r>
            <a:r>
              <a:rPr lang="en-US" dirty="0"/>
              <a:t>(x)) and </a:t>
            </a:r>
            <a:r>
              <a:rPr lang="en-US" i="1" dirty="0"/>
              <a:t>f</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a:t>
            </a:r>
            <a:r>
              <a:rPr lang="en-US" i="1" dirty="0">
                <a:ea typeface="Cambria Math" pitchFamily="18" charset="0"/>
              </a:rPr>
              <a:t>O</a:t>
            </a:r>
            <a:r>
              <a:rPr lang="en-US" dirty="0">
                <a:latin typeface="Cambria Math" pitchFamily="18" charset="0"/>
                <a:ea typeface="Cambria Math" pitchFamily="18" charset="0"/>
              </a:rPr>
              <a:t>(</a:t>
            </a:r>
            <a:r>
              <a:rPr lang="en-US" dirty="0"/>
              <a:t>g</a:t>
            </a:r>
            <a:r>
              <a:rPr lang="en-US" baseline="-25000" dirty="0">
                <a:latin typeface="Cambria Math" pitchFamily="18" charset="0"/>
                <a:ea typeface="Cambria Math" pitchFamily="18" charset="0"/>
              </a:rPr>
              <a:t>2</a:t>
            </a:r>
            <a:r>
              <a:rPr lang="en-US" dirty="0"/>
              <a:t>(x)) then </a:t>
            </a:r>
          </a:p>
          <a:p>
            <a:pPr>
              <a:buNone/>
            </a:pPr>
            <a:r>
              <a:rPr lang="en-US" dirty="0"/>
              <a:t>                     ( </a:t>
            </a:r>
            <a:r>
              <a:rPr lang="en-US" i="1" dirty="0"/>
              <a:t>f</a:t>
            </a:r>
            <a:r>
              <a:rPr lang="en-US" baseline="-25000" dirty="0">
                <a:latin typeface="Cambria Math" pitchFamily="18" charset="0"/>
                <a:ea typeface="Cambria Math" pitchFamily="18" charset="0"/>
              </a:rPr>
              <a:t>1</a:t>
            </a:r>
            <a:r>
              <a:rPr lang="en-US" dirty="0"/>
              <a:t> + </a:t>
            </a:r>
            <a:r>
              <a:rPr lang="en-US" i="1" dirty="0"/>
              <a:t>f</a:t>
            </a:r>
            <a:r>
              <a:rPr lang="en-US" baseline="-25000" dirty="0">
                <a:latin typeface="Cambria Math" pitchFamily="18" charset="0"/>
                <a:ea typeface="Cambria Math" pitchFamily="18" charset="0"/>
              </a:rPr>
              <a:t>2</a:t>
            </a:r>
            <a:r>
              <a:rPr lang="en-US" dirty="0"/>
              <a:t> )(</a:t>
            </a:r>
            <a:r>
              <a:rPr lang="en-US" i="1" dirty="0"/>
              <a:t>x</a:t>
            </a:r>
            <a:r>
              <a:rPr lang="en-US" dirty="0"/>
              <a:t>) is </a:t>
            </a:r>
            <a:r>
              <a:rPr lang="en-US" i="1" dirty="0"/>
              <a:t>O</a:t>
            </a:r>
            <a:r>
              <a:rPr lang="en-US" dirty="0"/>
              <a:t>(max(</a:t>
            </a:r>
            <a:r>
              <a:rPr lang="en-US" dirty="0">
                <a:latin typeface="Cambria Math" pitchFamily="18" charset="0"/>
                <a:ea typeface="Cambria Math" pitchFamily="18" charset="0"/>
              </a:rPr>
              <a:t>|</a:t>
            </a:r>
            <a:r>
              <a:rPr lang="en-US" dirty="0"/>
              <a:t>g</a:t>
            </a:r>
            <a:r>
              <a:rPr lang="en-US" baseline="-25000" dirty="0">
                <a:latin typeface="Cambria Math" pitchFamily="18" charset="0"/>
                <a:ea typeface="Cambria Math" pitchFamily="18" charset="0"/>
              </a:rPr>
              <a:t>1</a:t>
            </a:r>
            <a:r>
              <a:rPr lang="en-US" dirty="0"/>
              <a:t>(x)</a:t>
            </a:r>
            <a:r>
              <a:rPr lang="en-US" dirty="0">
                <a:latin typeface="Cambria Math" pitchFamily="18" charset="0"/>
                <a:ea typeface="Cambria Math" pitchFamily="18" charset="0"/>
              </a:rPr>
              <a:t> |,|</a:t>
            </a:r>
            <a:r>
              <a:rPr lang="en-US" dirty="0"/>
              <a:t>g</a:t>
            </a:r>
            <a:r>
              <a:rPr lang="en-US" baseline="-25000" dirty="0">
                <a:latin typeface="Cambria Math" pitchFamily="18" charset="0"/>
                <a:ea typeface="Cambria Math" pitchFamily="18" charset="0"/>
              </a:rPr>
              <a:t>2</a:t>
            </a:r>
            <a:r>
              <a:rPr lang="en-US" dirty="0"/>
              <a:t>(x)</a:t>
            </a:r>
            <a:r>
              <a:rPr lang="en-US" dirty="0">
                <a:latin typeface="Cambria Math" pitchFamily="18" charset="0"/>
                <a:ea typeface="Cambria Math" pitchFamily="18" charset="0"/>
              </a:rPr>
              <a:t> |)).</a:t>
            </a:r>
            <a:r>
              <a:rPr lang="en-US" dirty="0"/>
              <a:t>  </a:t>
            </a:r>
          </a:p>
          <a:p>
            <a:pPr>
              <a:buNone/>
            </a:pPr>
            <a:r>
              <a:rPr lang="en-US" dirty="0"/>
              <a:t>                                                           </a:t>
            </a:r>
          </a:p>
          <a:p>
            <a:pPr lvl="1"/>
            <a:r>
              <a:rPr lang="en-US" dirty="0"/>
              <a:t>By the definition of big-</a:t>
            </a:r>
            <a:r>
              <a:rPr lang="en-US" i="1" dirty="0"/>
              <a:t>O</a:t>
            </a:r>
            <a:r>
              <a:rPr lang="en-US" dirty="0"/>
              <a:t> notation, there are constants C</a:t>
            </a:r>
            <a:r>
              <a:rPr lang="en-US" baseline="-25000" dirty="0">
                <a:latin typeface="Cambria Math" pitchFamily="18" charset="0"/>
                <a:ea typeface="Cambria Math" pitchFamily="18" charset="0"/>
              </a:rPr>
              <a:t>1</a:t>
            </a:r>
            <a:r>
              <a:rPr lang="en-US" dirty="0"/>
              <a:t>,C</a:t>
            </a:r>
            <a:r>
              <a:rPr lang="en-US" baseline="-25000" dirty="0">
                <a:latin typeface="Cambria Math" pitchFamily="18" charset="0"/>
                <a:ea typeface="Cambria Math" pitchFamily="18" charset="0"/>
              </a:rPr>
              <a:t>2 </a:t>
            </a:r>
            <a:r>
              <a:rPr lang="en-US" dirty="0"/>
              <a:t>,</a:t>
            </a:r>
            <a:r>
              <a:rPr lang="en-US" i="1" dirty="0"/>
              <a:t>k</a:t>
            </a:r>
            <a:r>
              <a:rPr lang="en-US" baseline="-25000" dirty="0">
                <a:latin typeface="Cambria Math" pitchFamily="18" charset="0"/>
                <a:ea typeface="Cambria Math" pitchFamily="18" charset="0"/>
              </a:rPr>
              <a:t>1</a:t>
            </a:r>
            <a:r>
              <a:rPr lang="en-US" dirty="0"/>
              <a:t>,</a:t>
            </a:r>
            <a:r>
              <a:rPr lang="en-US" i="1" dirty="0"/>
              <a:t>k</a:t>
            </a:r>
            <a:r>
              <a:rPr lang="en-US" baseline="-25000" dirty="0">
                <a:latin typeface="Cambria Math" pitchFamily="18" charset="0"/>
                <a:ea typeface="Cambria Math" pitchFamily="18" charset="0"/>
              </a:rPr>
              <a:t>2 </a:t>
            </a:r>
            <a:r>
              <a:rPr lang="en-US" dirty="0"/>
              <a:t>such that                                               | </a:t>
            </a:r>
            <a:r>
              <a:rPr lang="en-US" i="1" dirty="0"/>
              <a:t>f</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a:t>
            </a:r>
            <a:r>
              <a:rPr lang="en-US" dirty="0">
                <a:latin typeface="Cambria Math"/>
                <a:ea typeface="Cambria Math"/>
              </a:rPr>
              <a:t>≤ </a:t>
            </a:r>
            <a:r>
              <a:rPr lang="en-US" dirty="0"/>
              <a:t>C</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g</a:t>
            </a:r>
            <a:r>
              <a:rPr lang="en-US" baseline="-25000" dirty="0">
                <a:latin typeface="Cambria Math" pitchFamily="18" charset="0"/>
                <a:ea typeface="Cambria Math" pitchFamily="18" charset="0"/>
              </a:rPr>
              <a:t>1</a:t>
            </a:r>
            <a:r>
              <a:rPr lang="en-US" dirty="0"/>
              <a:t>(x)</a:t>
            </a:r>
            <a:r>
              <a:rPr lang="en-US" dirty="0">
                <a:latin typeface="Cambria Math" pitchFamily="18" charset="0"/>
                <a:ea typeface="Cambria Math" pitchFamily="18" charset="0"/>
              </a:rPr>
              <a:t> | when x &gt; </a:t>
            </a:r>
            <a:r>
              <a:rPr lang="en-US" i="1" dirty="0"/>
              <a:t>k</a:t>
            </a:r>
            <a:r>
              <a:rPr lang="en-US" baseline="-25000" dirty="0">
                <a:latin typeface="Cambria Math" pitchFamily="18" charset="0"/>
                <a:ea typeface="Cambria Math" pitchFamily="18" charset="0"/>
              </a:rPr>
              <a:t>1 </a:t>
            </a:r>
            <a:r>
              <a:rPr lang="en-US" dirty="0"/>
              <a:t>and</a:t>
            </a:r>
            <a:r>
              <a:rPr lang="en-US" i="1" dirty="0"/>
              <a:t> f</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a:t>
            </a:r>
            <a:r>
              <a:rPr lang="en-US" dirty="0">
                <a:latin typeface="Cambria Math"/>
                <a:ea typeface="Cambria Math"/>
              </a:rPr>
              <a:t>≤ </a:t>
            </a:r>
            <a:r>
              <a:rPr lang="en-US" dirty="0"/>
              <a:t>C</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a:t>
            </a:r>
            <a:r>
              <a:rPr lang="en-US" i="1" dirty="0"/>
              <a:t>g</a:t>
            </a:r>
            <a:r>
              <a:rPr lang="en-US" baseline="-25000" dirty="0">
                <a:latin typeface="Cambria Math" pitchFamily="18" charset="0"/>
                <a:ea typeface="Cambria Math" pitchFamily="18" charset="0"/>
              </a:rPr>
              <a:t>2</a:t>
            </a:r>
            <a:r>
              <a:rPr lang="en-US" dirty="0"/>
              <a:t>(x)</a:t>
            </a:r>
            <a:r>
              <a:rPr lang="en-US" dirty="0">
                <a:latin typeface="Cambria Math" pitchFamily="18" charset="0"/>
                <a:ea typeface="Cambria Math" pitchFamily="18" charset="0"/>
              </a:rPr>
              <a:t> | when </a:t>
            </a:r>
            <a:r>
              <a:rPr lang="en-US" i="1" dirty="0">
                <a:ea typeface="Cambria Math" pitchFamily="18" charset="0"/>
              </a:rPr>
              <a:t>x</a:t>
            </a:r>
            <a:r>
              <a:rPr lang="en-US" dirty="0">
                <a:latin typeface="Cambria Math" pitchFamily="18" charset="0"/>
                <a:ea typeface="Cambria Math" pitchFamily="18" charset="0"/>
              </a:rPr>
              <a:t> &gt; </a:t>
            </a:r>
            <a:r>
              <a:rPr lang="en-US" i="1" dirty="0"/>
              <a:t>k</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a:t>
            </a:r>
            <a:r>
              <a:rPr lang="en-US" baseline="-25000" dirty="0">
                <a:latin typeface="Cambria Math" pitchFamily="18" charset="0"/>
                <a:ea typeface="Cambria Math" pitchFamily="18" charset="0"/>
              </a:rPr>
              <a:t> </a:t>
            </a:r>
          </a:p>
          <a:p>
            <a:pPr lvl="1"/>
            <a:endParaRPr lang="en-US" baseline="-25000" dirty="0">
              <a:latin typeface="Cambria Math" pitchFamily="18" charset="0"/>
              <a:ea typeface="Cambria Math" pitchFamily="18" charset="0"/>
            </a:endParaRPr>
          </a:p>
          <a:p>
            <a:pPr lvl="1"/>
            <a:r>
              <a:rPr lang="en-US" dirty="0"/>
              <a:t> |( </a:t>
            </a:r>
            <a:r>
              <a:rPr lang="en-US" i="1" dirty="0"/>
              <a:t>f</a:t>
            </a:r>
            <a:r>
              <a:rPr lang="en-US" baseline="-25000" dirty="0">
                <a:latin typeface="Cambria Math" pitchFamily="18" charset="0"/>
                <a:ea typeface="Cambria Math" pitchFamily="18" charset="0"/>
              </a:rPr>
              <a:t>1</a:t>
            </a:r>
            <a:r>
              <a:rPr lang="en-US" dirty="0"/>
              <a:t> + </a:t>
            </a:r>
            <a:r>
              <a:rPr lang="en-US" i="1" dirty="0"/>
              <a:t>f</a:t>
            </a:r>
            <a:r>
              <a:rPr lang="en-US" baseline="-25000" dirty="0">
                <a:latin typeface="Cambria Math" pitchFamily="18" charset="0"/>
                <a:ea typeface="Cambria Math" pitchFamily="18" charset="0"/>
              </a:rPr>
              <a:t>2</a:t>
            </a:r>
            <a:r>
              <a:rPr lang="en-US" dirty="0"/>
              <a:t> )(</a:t>
            </a:r>
            <a:r>
              <a:rPr lang="en-US" i="1" dirty="0"/>
              <a:t>x</a:t>
            </a:r>
            <a:r>
              <a:rPr lang="en-US" dirty="0"/>
              <a:t>)| = |</a:t>
            </a:r>
            <a:r>
              <a:rPr lang="en-US" i="1" dirty="0"/>
              <a:t>f</a:t>
            </a:r>
            <a:r>
              <a:rPr lang="en-US" baseline="-25000" dirty="0">
                <a:latin typeface="Cambria Math" pitchFamily="18" charset="0"/>
                <a:ea typeface="Cambria Math" pitchFamily="18" charset="0"/>
              </a:rPr>
              <a:t>1</a:t>
            </a:r>
            <a:r>
              <a:rPr lang="en-US" dirty="0"/>
              <a:t>(</a:t>
            </a:r>
            <a:r>
              <a:rPr lang="en-US" i="1" dirty="0"/>
              <a:t>x</a:t>
            </a:r>
            <a:r>
              <a:rPr lang="en-US" dirty="0"/>
              <a:t>) + </a:t>
            </a:r>
            <a:r>
              <a:rPr lang="en-US" i="1" dirty="0"/>
              <a:t>f</a:t>
            </a:r>
            <a:r>
              <a:rPr lang="en-US" baseline="-25000" dirty="0">
                <a:latin typeface="Cambria Math" pitchFamily="18" charset="0"/>
                <a:ea typeface="Cambria Math" pitchFamily="18" charset="0"/>
              </a:rPr>
              <a:t>2</a:t>
            </a:r>
            <a:r>
              <a:rPr lang="en-US" dirty="0"/>
              <a:t>(</a:t>
            </a:r>
            <a:r>
              <a:rPr lang="en-US" i="1" dirty="0"/>
              <a:t>x</a:t>
            </a:r>
            <a:r>
              <a:rPr lang="en-US" dirty="0"/>
              <a:t>)| </a:t>
            </a:r>
          </a:p>
          <a:p>
            <a:pPr>
              <a:buNone/>
            </a:pPr>
            <a:r>
              <a:rPr lang="en-US" dirty="0"/>
              <a:t>                                   </a:t>
            </a:r>
            <a:r>
              <a:rPr lang="en-US" dirty="0">
                <a:latin typeface="Cambria Math"/>
                <a:ea typeface="Cambria Math"/>
              </a:rPr>
              <a:t>≤ </a:t>
            </a:r>
            <a:r>
              <a:rPr lang="en-US" dirty="0"/>
              <a:t>|</a:t>
            </a:r>
            <a:r>
              <a:rPr lang="en-US" i="1" dirty="0"/>
              <a:t>f</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 </a:t>
            </a:r>
            <a:r>
              <a:rPr lang="en-US" dirty="0"/>
              <a:t>|</a:t>
            </a:r>
            <a:r>
              <a:rPr lang="en-US" i="1" dirty="0"/>
              <a:t>f</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a:t>
            </a:r>
            <a:r>
              <a:rPr lang="en-US" sz="2000" dirty="0">
                <a:solidFill>
                  <a:srgbClr val="C00000"/>
                </a:solidFill>
                <a:latin typeface="Cambria Math" pitchFamily="18" charset="0"/>
                <a:ea typeface="Cambria Math" pitchFamily="18" charset="0"/>
              </a:rPr>
              <a:t>by the triangle inequality |a + b| </a:t>
            </a:r>
            <a:r>
              <a:rPr lang="en-US" sz="2000" dirty="0">
                <a:solidFill>
                  <a:srgbClr val="C00000"/>
                </a:solidFill>
                <a:latin typeface="Cambria Math"/>
                <a:ea typeface="Cambria Math"/>
              </a:rPr>
              <a:t>≤ |a| + |b|</a:t>
            </a:r>
          </a:p>
          <a:p>
            <a:pPr>
              <a:buNone/>
            </a:pPr>
            <a:endParaRPr lang="en-US" sz="2000" dirty="0">
              <a:solidFill>
                <a:srgbClr val="C00000"/>
              </a:solidFill>
            </a:endParaRPr>
          </a:p>
          <a:p>
            <a:pPr lvl="1"/>
            <a:r>
              <a:rPr lang="en-US" dirty="0"/>
              <a:t> |</a:t>
            </a:r>
            <a:r>
              <a:rPr lang="en-US" i="1" dirty="0"/>
              <a:t>f</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 </a:t>
            </a:r>
            <a:r>
              <a:rPr lang="en-US" dirty="0"/>
              <a:t>|</a:t>
            </a:r>
            <a:r>
              <a:rPr lang="en-US" i="1" dirty="0"/>
              <a:t>f</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a:t>
            </a:r>
            <a:r>
              <a:rPr lang="en-US" dirty="0">
                <a:latin typeface="Cambria Math"/>
                <a:ea typeface="Cambria Math"/>
              </a:rPr>
              <a:t>≤ </a:t>
            </a:r>
            <a:r>
              <a:rPr lang="en-US" dirty="0"/>
              <a:t>C</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g</a:t>
            </a:r>
            <a:r>
              <a:rPr lang="en-US" baseline="-25000" dirty="0">
                <a:latin typeface="Cambria Math" pitchFamily="18" charset="0"/>
                <a:ea typeface="Cambria Math" pitchFamily="18" charset="0"/>
              </a:rPr>
              <a:t>1</a:t>
            </a:r>
            <a:r>
              <a:rPr lang="en-US" dirty="0"/>
              <a:t>(x)</a:t>
            </a:r>
            <a:r>
              <a:rPr lang="en-US" dirty="0">
                <a:latin typeface="Cambria Math" pitchFamily="18" charset="0"/>
                <a:ea typeface="Cambria Math" pitchFamily="18" charset="0"/>
              </a:rPr>
              <a:t> | +</a:t>
            </a:r>
            <a:r>
              <a:rPr lang="en-US" dirty="0"/>
              <a:t> C</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a:t>
            </a:r>
            <a:r>
              <a:rPr lang="en-US" i="1" dirty="0"/>
              <a:t>g</a:t>
            </a:r>
            <a:r>
              <a:rPr lang="en-US" baseline="-25000" dirty="0">
                <a:latin typeface="Cambria Math" pitchFamily="18" charset="0"/>
                <a:ea typeface="Cambria Math" pitchFamily="18" charset="0"/>
              </a:rPr>
              <a:t>2</a:t>
            </a:r>
            <a:r>
              <a:rPr lang="en-US" dirty="0"/>
              <a:t>(x)</a:t>
            </a:r>
            <a:r>
              <a:rPr lang="en-US" dirty="0">
                <a:latin typeface="Cambria Math" pitchFamily="18" charset="0"/>
                <a:ea typeface="Cambria Math" pitchFamily="18" charset="0"/>
              </a:rPr>
              <a:t> | </a:t>
            </a:r>
          </a:p>
          <a:p>
            <a:pPr>
              <a:buNone/>
            </a:pPr>
            <a:r>
              <a:rPr lang="en-US" dirty="0">
                <a:latin typeface="Cambria Math"/>
                <a:ea typeface="Cambria Math"/>
              </a:rPr>
              <a:t>                                             ≤ </a:t>
            </a:r>
            <a:r>
              <a:rPr lang="en-US" dirty="0"/>
              <a:t>C</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g</a:t>
            </a:r>
            <a:r>
              <a:rPr lang="en-US" dirty="0"/>
              <a:t>(x)</a:t>
            </a:r>
            <a:r>
              <a:rPr lang="en-US" dirty="0">
                <a:latin typeface="Cambria Math" pitchFamily="18" charset="0"/>
                <a:ea typeface="Cambria Math" pitchFamily="18" charset="0"/>
              </a:rPr>
              <a:t> | +</a:t>
            </a:r>
            <a:r>
              <a:rPr lang="en-US" dirty="0"/>
              <a:t> C</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a:t>
            </a:r>
            <a:r>
              <a:rPr lang="en-US" i="1" dirty="0"/>
              <a:t>g</a:t>
            </a:r>
            <a:r>
              <a:rPr lang="en-US" dirty="0"/>
              <a:t>(x)</a:t>
            </a:r>
            <a:r>
              <a:rPr lang="en-US" dirty="0">
                <a:latin typeface="Cambria Math" pitchFamily="18" charset="0"/>
                <a:ea typeface="Cambria Math" pitchFamily="18" charset="0"/>
              </a:rPr>
              <a:t> |</a:t>
            </a:r>
            <a:r>
              <a:rPr lang="en-US" dirty="0">
                <a:solidFill>
                  <a:srgbClr val="C00000"/>
                </a:solidFill>
                <a:latin typeface="Cambria Math" pitchFamily="18" charset="0"/>
                <a:ea typeface="Cambria Math" pitchFamily="18" charset="0"/>
              </a:rPr>
              <a:t>     </a:t>
            </a:r>
            <a:r>
              <a:rPr lang="en-US" sz="2000" dirty="0">
                <a:solidFill>
                  <a:srgbClr val="C00000"/>
                </a:solidFill>
                <a:latin typeface="Cambria Math" pitchFamily="18" charset="0"/>
                <a:ea typeface="Cambria Math" pitchFamily="18" charset="0"/>
              </a:rPr>
              <a:t>where  </a:t>
            </a:r>
            <a:r>
              <a:rPr lang="en-US" sz="2000" i="1" dirty="0">
                <a:solidFill>
                  <a:srgbClr val="C00000"/>
                </a:solidFill>
              </a:rPr>
              <a:t>g</a:t>
            </a:r>
            <a:r>
              <a:rPr lang="en-US" sz="2000" dirty="0">
                <a:solidFill>
                  <a:srgbClr val="C00000"/>
                </a:solidFill>
              </a:rPr>
              <a:t>(</a:t>
            </a:r>
            <a:r>
              <a:rPr lang="en-US" sz="2000" i="1" dirty="0">
                <a:solidFill>
                  <a:srgbClr val="C00000"/>
                </a:solidFill>
              </a:rPr>
              <a:t>x</a:t>
            </a:r>
            <a:r>
              <a:rPr lang="en-US" sz="2000" dirty="0">
                <a:solidFill>
                  <a:srgbClr val="C00000"/>
                </a:solidFill>
              </a:rPr>
              <a:t>) = max(</a:t>
            </a:r>
            <a:r>
              <a:rPr lang="en-US" sz="2000" dirty="0">
                <a:solidFill>
                  <a:srgbClr val="C00000"/>
                </a:solidFill>
                <a:latin typeface="Cambria Math" pitchFamily="18" charset="0"/>
                <a:ea typeface="Cambria Math" pitchFamily="18" charset="0"/>
              </a:rPr>
              <a:t>|</a:t>
            </a:r>
            <a:r>
              <a:rPr lang="en-US" sz="2000" dirty="0">
                <a:solidFill>
                  <a:srgbClr val="C00000"/>
                </a:solidFill>
              </a:rPr>
              <a:t>g</a:t>
            </a:r>
            <a:r>
              <a:rPr lang="en-US" sz="2000" baseline="-25000" dirty="0">
                <a:solidFill>
                  <a:srgbClr val="C00000"/>
                </a:solidFill>
                <a:latin typeface="Cambria Math" pitchFamily="18" charset="0"/>
                <a:ea typeface="Cambria Math" pitchFamily="18" charset="0"/>
              </a:rPr>
              <a:t>1</a:t>
            </a:r>
            <a:r>
              <a:rPr lang="en-US" sz="2000" dirty="0">
                <a:solidFill>
                  <a:srgbClr val="C00000"/>
                </a:solidFill>
              </a:rPr>
              <a:t>(x)</a:t>
            </a:r>
            <a:r>
              <a:rPr lang="en-US" sz="2000" dirty="0">
                <a:solidFill>
                  <a:srgbClr val="C00000"/>
                </a:solidFill>
                <a:latin typeface="Cambria Math" pitchFamily="18" charset="0"/>
                <a:ea typeface="Cambria Math" pitchFamily="18" charset="0"/>
              </a:rPr>
              <a:t>|,|</a:t>
            </a:r>
            <a:r>
              <a:rPr lang="en-US" sz="2000" dirty="0">
                <a:solidFill>
                  <a:srgbClr val="C00000"/>
                </a:solidFill>
              </a:rPr>
              <a:t>g</a:t>
            </a:r>
            <a:r>
              <a:rPr lang="en-US" sz="2000" baseline="-25000" dirty="0">
                <a:solidFill>
                  <a:srgbClr val="C00000"/>
                </a:solidFill>
                <a:latin typeface="Cambria Math" pitchFamily="18" charset="0"/>
                <a:ea typeface="Cambria Math" pitchFamily="18" charset="0"/>
              </a:rPr>
              <a:t>2</a:t>
            </a:r>
            <a:r>
              <a:rPr lang="en-US" sz="2000" dirty="0">
                <a:solidFill>
                  <a:srgbClr val="C00000"/>
                </a:solidFill>
              </a:rPr>
              <a:t>(x)</a:t>
            </a:r>
            <a:r>
              <a:rPr lang="en-US" sz="2000" dirty="0">
                <a:solidFill>
                  <a:srgbClr val="C00000"/>
                </a:solidFill>
                <a:latin typeface="Cambria Math" pitchFamily="18" charset="0"/>
                <a:ea typeface="Cambria Math" pitchFamily="18" charset="0"/>
              </a:rPr>
              <a:t>|)</a:t>
            </a:r>
            <a:endParaRPr lang="en-US" sz="2000" dirty="0">
              <a:latin typeface="Cambria Math" pitchFamily="18" charset="0"/>
              <a:ea typeface="Cambria Math" pitchFamily="18" charset="0"/>
            </a:endParaRPr>
          </a:p>
          <a:p>
            <a:pPr>
              <a:buNone/>
            </a:pPr>
            <a:r>
              <a:rPr lang="en-US" dirty="0">
                <a:latin typeface="Cambria Math"/>
                <a:ea typeface="Cambria Math"/>
              </a:rPr>
              <a:t>                                             = (</a:t>
            </a:r>
            <a:r>
              <a:rPr lang="en-US" dirty="0"/>
              <a:t>C</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a:t>
            </a:r>
            <a:r>
              <a:rPr lang="en-US" dirty="0"/>
              <a:t> C</a:t>
            </a:r>
            <a:r>
              <a:rPr lang="en-US" baseline="-25000" dirty="0">
                <a:latin typeface="Cambria Math" pitchFamily="18" charset="0"/>
                <a:ea typeface="Cambria Math" pitchFamily="18" charset="0"/>
              </a:rPr>
              <a:t>2</a:t>
            </a:r>
            <a:r>
              <a:rPr lang="en-US" dirty="0"/>
              <a:t>) </a:t>
            </a:r>
            <a:r>
              <a:rPr lang="en-US" dirty="0">
                <a:latin typeface="Cambria Math" pitchFamily="18" charset="0"/>
                <a:ea typeface="Cambria Math" pitchFamily="18" charset="0"/>
              </a:rPr>
              <a:t>|</a:t>
            </a:r>
            <a:r>
              <a:rPr lang="en-US" i="1" dirty="0"/>
              <a:t>g</a:t>
            </a:r>
            <a:r>
              <a:rPr lang="en-US" dirty="0"/>
              <a:t>(</a:t>
            </a:r>
            <a:r>
              <a:rPr lang="en-US" i="1" dirty="0"/>
              <a:t>x</a:t>
            </a:r>
            <a:r>
              <a:rPr lang="en-US" dirty="0"/>
              <a:t>)</a:t>
            </a:r>
            <a:r>
              <a:rPr lang="en-US" dirty="0">
                <a:latin typeface="Cambria Math" pitchFamily="18" charset="0"/>
                <a:ea typeface="Cambria Math" pitchFamily="18" charset="0"/>
              </a:rPr>
              <a:t>|</a:t>
            </a:r>
            <a:endParaRPr lang="en-US" dirty="0">
              <a:solidFill>
                <a:srgbClr val="C00000"/>
              </a:solidFill>
              <a:latin typeface="Cambria Math" pitchFamily="18" charset="0"/>
              <a:ea typeface="Cambria Math" pitchFamily="18" charset="0"/>
            </a:endParaRPr>
          </a:p>
          <a:p>
            <a:pPr>
              <a:buNone/>
            </a:pPr>
            <a:r>
              <a:rPr lang="en-US" dirty="0">
                <a:latin typeface="Cambria Math" pitchFamily="18" charset="0"/>
                <a:ea typeface="Cambria Math" pitchFamily="18" charset="0"/>
              </a:rPr>
              <a:t>                                             = </a:t>
            </a:r>
            <a:r>
              <a:rPr lang="en-US" i="1" dirty="0" err="1">
                <a:ea typeface="Cambria Math" pitchFamily="18" charset="0"/>
              </a:rPr>
              <a:t>C|</a:t>
            </a:r>
            <a:r>
              <a:rPr lang="en-US" i="1" dirty="0" err="1"/>
              <a:t>g</a:t>
            </a:r>
            <a:r>
              <a:rPr lang="en-US" dirty="0"/>
              <a:t>(</a:t>
            </a:r>
            <a:r>
              <a:rPr lang="en-US" i="1" dirty="0"/>
              <a:t>x</a:t>
            </a:r>
            <a:r>
              <a:rPr lang="en-US" dirty="0"/>
              <a:t>)|           </a:t>
            </a:r>
            <a:r>
              <a:rPr lang="en-US" sz="2000" dirty="0">
                <a:solidFill>
                  <a:srgbClr val="C00000"/>
                </a:solidFill>
              </a:rPr>
              <a:t>where C = C</a:t>
            </a:r>
            <a:r>
              <a:rPr lang="en-US" sz="2000" baseline="-25000" dirty="0">
                <a:solidFill>
                  <a:srgbClr val="C00000"/>
                </a:solidFill>
                <a:latin typeface="Cambria Math" pitchFamily="18" charset="0"/>
                <a:ea typeface="Cambria Math" pitchFamily="18" charset="0"/>
              </a:rPr>
              <a:t>1</a:t>
            </a:r>
            <a:r>
              <a:rPr lang="en-US" sz="2000" dirty="0">
                <a:solidFill>
                  <a:srgbClr val="C00000"/>
                </a:solidFill>
                <a:latin typeface="Cambria Math" pitchFamily="18" charset="0"/>
                <a:ea typeface="Cambria Math" pitchFamily="18" charset="0"/>
              </a:rPr>
              <a:t> +</a:t>
            </a:r>
            <a:r>
              <a:rPr lang="en-US" sz="2000" dirty="0">
                <a:solidFill>
                  <a:srgbClr val="C00000"/>
                </a:solidFill>
              </a:rPr>
              <a:t> C</a:t>
            </a:r>
            <a:r>
              <a:rPr lang="en-US" sz="2000" baseline="-25000" dirty="0">
                <a:solidFill>
                  <a:srgbClr val="C00000"/>
                </a:solidFill>
                <a:latin typeface="Cambria Math" pitchFamily="18" charset="0"/>
                <a:ea typeface="Cambria Math" pitchFamily="18" charset="0"/>
              </a:rPr>
              <a:t>2 </a:t>
            </a:r>
            <a:r>
              <a:rPr lang="en-US" sz="2000" dirty="0"/>
              <a:t> </a:t>
            </a:r>
          </a:p>
          <a:p>
            <a:pPr>
              <a:buNone/>
            </a:pPr>
            <a:endParaRPr lang="en-US" sz="2000" dirty="0"/>
          </a:p>
          <a:p>
            <a:pPr lvl="1"/>
            <a:r>
              <a:rPr lang="en-US" dirty="0"/>
              <a:t>Therefore |( </a:t>
            </a:r>
            <a:r>
              <a:rPr lang="en-US" i="1" dirty="0"/>
              <a:t>f</a:t>
            </a:r>
            <a:r>
              <a:rPr lang="en-US" baseline="-25000" dirty="0">
                <a:latin typeface="Cambria Math" pitchFamily="18" charset="0"/>
                <a:ea typeface="Cambria Math" pitchFamily="18" charset="0"/>
              </a:rPr>
              <a:t>1</a:t>
            </a:r>
            <a:r>
              <a:rPr lang="en-US" dirty="0"/>
              <a:t> + </a:t>
            </a:r>
            <a:r>
              <a:rPr lang="en-US" i="1" dirty="0"/>
              <a:t>f</a:t>
            </a:r>
            <a:r>
              <a:rPr lang="en-US" baseline="-25000" dirty="0">
                <a:latin typeface="Cambria Math" pitchFamily="18" charset="0"/>
                <a:ea typeface="Cambria Math" pitchFamily="18" charset="0"/>
              </a:rPr>
              <a:t>2</a:t>
            </a:r>
            <a:r>
              <a:rPr lang="en-US" dirty="0"/>
              <a:t> )(</a:t>
            </a:r>
            <a:r>
              <a:rPr lang="en-US" i="1" dirty="0"/>
              <a:t>x</a:t>
            </a:r>
            <a:r>
              <a:rPr lang="en-US" dirty="0"/>
              <a:t>)| </a:t>
            </a:r>
            <a:r>
              <a:rPr lang="en-US" dirty="0">
                <a:latin typeface="Cambria Math"/>
                <a:ea typeface="Cambria Math"/>
              </a:rPr>
              <a:t>≤ </a:t>
            </a:r>
            <a:r>
              <a:rPr lang="en-US" i="1" dirty="0" err="1">
                <a:ea typeface="Cambria Math" pitchFamily="18" charset="0"/>
              </a:rPr>
              <a:t>C|</a:t>
            </a:r>
            <a:r>
              <a:rPr lang="en-US" i="1" dirty="0" err="1"/>
              <a:t>g</a:t>
            </a:r>
            <a:r>
              <a:rPr lang="en-US" dirty="0"/>
              <a:t>(</a:t>
            </a:r>
            <a:r>
              <a:rPr lang="en-US" i="1" dirty="0"/>
              <a:t>x</a:t>
            </a:r>
            <a:r>
              <a:rPr lang="en-US" dirty="0"/>
              <a:t>)| whenever </a:t>
            </a:r>
            <a:r>
              <a:rPr lang="en-US" i="1" dirty="0"/>
              <a:t>x</a:t>
            </a:r>
            <a:r>
              <a:rPr lang="en-US" dirty="0"/>
              <a:t> &gt; </a:t>
            </a:r>
            <a:r>
              <a:rPr lang="en-US" i="1" dirty="0"/>
              <a:t>k</a:t>
            </a:r>
            <a:r>
              <a:rPr lang="en-US" dirty="0"/>
              <a:t>, where </a:t>
            </a:r>
            <a:r>
              <a:rPr lang="en-US" i="1" dirty="0"/>
              <a:t>k</a:t>
            </a:r>
            <a:r>
              <a:rPr lang="en-US" dirty="0"/>
              <a:t> = max(</a:t>
            </a:r>
            <a:r>
              <a:rPr lang="en-US" i="1" dirty="0"/>
              <a:t>k</a:t>
            </a:r>
            <a:r>
              <a:rPr lang="en-US" baseline="-25000" dirty="0">
                <a:latin typeface="Cambria Math" pitchFamily="18" charset="0"/>
                <a:ea typeface="Cambria Math" pitchFamily="18" charset="0"/>
              </a:rPr>
              <a:t>1</a:t>
            </a:r>
            <a:r>
              <a:rPr lang="en-US" dirty="0"/>
              <a:t>,</a:t>
            </a:r>
            <a:r>
              <a:rPr lang="en-US" i="1" dirty="0"/>
              <a:t>k</a:t>
            </a:r>
            <a:r>
              <a:rPr lang="en-US" baseline="-25000" dirty="0">
                <a:latin typeface="Cambria Math" pitchFamily="18" charset="0"/>
                <a:ea typeface="Cambria Math" pitchFamily="18" charset="0"/>
              </a:rPr>
              <a:t>2</a:t>
            </a:r>
            <a:r>
              <a:rPr lang="en-US" dirty="0"/>
              <a:t>).</a:t>
            </a:r>
          </a:p>
          <a:p>
            <a:pPr lvl="1">
              <a:buNone/>
            </a:pPr>
            <a:endParaRPr lang="en-US" dirty="0"/>
          </a:p>
          <a:p>
            <a:pPr>
              <a:buNone/>
            </a:pPr>
            <a:r>
              <a:rPr lang="en-US" dirty="0"/>
              <a:t> </a:t>
            </a:r>
          </a:p>
          <a:p>
            <a:pPr>
              <a:buNone/>
            </a:pPr>
            <a:r>
              <a:rPr lang="en-US"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Ordering Functions by Order of Growth</a:t>
            </a:r>
          </a:p>
        </p:txBody>
      </p:sp>
      <p:sp>
        <p:nvSpPr>
          <p:cNvPr id="3" name="Content Placeholder 2"/>
          <p:cNvSpPr>
            <a:spLocks noGrp="1"/>
          </p:cNvSpPr>
          <p:nvPr>
            <p:ph idx="1"/>
          </p:nvPr>
        </p:nvSpPr>
        <p:spPr/>
        <p:txBody>
          <a:bodyPr>
            <a:normAutofit fontScale="92500" lnSpcReduction="20000"/>
          </a:bodyPr>
          <a:lstStyle/>
          <a:p>
            <a:r>
              <a:rPr lang="en-US" dirty="0"/>
              <a:t>Put the functions below in order so that each function is big-O of the next function on the list.</a:t>
            </a:r>
          </a:p>
          <a:p>
            <a:r>
              <a:rPr lang="en-US" i="1" dirty="0"/>
              <a:t>f</a:t>
            </a:r>
            <a:r>
              <a:rPr lang="en-US" baseline="-25000" dirty="0"/>
              <a:t>1</a:t>
            </a:r>
            <a:r>
              <a:rPr lang="en-US" dirty="0"/>
              <a:t>(</a:t>
            </a:r>
            <a:r>
              <a:rPr lang="en-US" i="1" dirty="0"/>
              <a:t>n</a:t>
            </a:r>
            <a:r>
              <a:rPr lang="en-US" dirty="0"/>
              <a:t>) = (</a:t>
            </a:r>
            <a:r>
              <a:rPr lang="en-US" dirty="0">
                <a:latin typeface="Cambria Math" pitchFamily="18" charset="0"/>
                <a:ea typeface="Cambria Math" pitchFamily="18" charset="0"/>
              </a:rPr>
              <a:t>1.5</a:t>
            </a:r>
            <a:r>
              <a:rPr lang="en-US" dirty="0"/>
              <a:t>)</a:t>
            </a:r>
            <a:r>
              <a:rPr lang="en-US" i="1" baseline="30000" dirty="0"/>
              <a:t>n</a:t>
            </a:r>
          </a:p>
          <a:p>
            <a:r>
              <a:rPr lang="en-US" i="1" dirty="0"/>
              <a:t>f</a:t>
            </a:r>
            <a:r>
              <a:rPr lang="en-US" baseline="-25000" dirty="0"/>
              <a:t>2</a:t>
            </a:r>
            <a:r>
              <a:rPr lang="en-US" dirty="0"/>
              <a:t>(</a:t>
            </a:r>
            <a:r>
              <a:rPr lang="en-US" i="1" dirty="0"/>
              <a:t>n</a:t>
            </a:r>
            <a:r>
              <a:rPr lang="en-US" dirty="0"/>
              <a:t>) = 8</a:t>
            </a:r>
            <a:r>
              <a:rPr lang="en-US" i="1" dirty="0">
                <a:latin typeface="Cambria Math" pitchFamily="18" charset="0"/>
                <a:ea typeface="Cambria Math" pitchFamily="18" charset="0"/>
              </a:rPr>
              <a:t>n</a:t>
            </a:r>
            <a:r>
              <a:rPr lang="en-US" baseline="30000" dirty="0">
                <a:latin typeface="Cambria Math" pitchFamily="18" charset="0"/>
                <a:ea typeface="Cambria Math" pitchFamily="18" charset="0"/>
              </a:rPr>
              <a:t>3</a:t>
            </a:r>
            <a:r>
              <a:rPr lang="en-US" dirty="0">
                <a:latin typeface="Cambria Math" pitchFamily="18" charset="0"/>
                <a:ea typeface="Cambria Math" pitchFamily="18" charset="0"/>
              </a:rPr>
              <a:t>+17</a:t>
            </a:r>
            <a:r>
              <a:rPr lang="en-US" i="1" dirty="0">
                <a:latin typeface="Cambria Math" pitchFamily="18" charset="0"/>
                <a:ea typeface="Cambria Math" pitchFamily="18" charset="0"/>
              </a:rPr>
              <a:t>n</a:t>
            </a:r>
            <a:r>
              <a:rPr lang="en-US" baseline="30000" dirty="0">
                <a:latin typeface="Cambria Math" pitchFamily="18" charset="0"/>
                <a:ea typeface="Cambria Math" pitchFamily="18" charset="0"/>
              </a:rPr>
              <a:t>2  </a:t>
            </a:r>
            <a:r>
              <a:rPr lang="en-US" dirty="0">
                <a:latin typeface="Cambria Math" pitchFamily="18" charset="0"/>
                <a:ea typeface="Cambria Math" pitchFamily="18" charset="0"/>
              </a:rPr>
              <a:t>+111</a:t>
            </a:r>
            <a:endParaRPr lang="en-US" i="1" baseline="30000" dirty="0"/>
          </a:p>
          <a:p>
            <a:r>
              <a:rPr lang="en-US" i="1" dirty="0"/>
              <a:t>f</a:t>
            </a:r>
            <a:r>
              <a:rPr lang="en-US" baseline="-25000" dirty="0"/>
              <a:t>3</a:t>
            </a:r>
            <a:r>
              <a:rPr lang="en-US" dirty="0"/>
              <a:t>(</a:t>
            </a:r>
            <a:r>
              <a:rPr lang="en-US" i="1" dirty="0"/>
              <a:t>n</a:t>
            </a:r>
            <a:r>
              <a:rPr lang="en-US" dirty="0"/>
              <a:t>) = (</a:t>
            </a:r>
            <a:r>
              <a:rPr lang="en-US" dirty="0">
                <a:latin typeface="Cambria Math" pitchFamily="18" charset="0"/>
                <a:ea typeface="Cambria Math" pitchFamily="18" charset="0"/>
              </a:rPr>
              <a:t>log n </a:t>
            </a:r>
            <a:r>
              <a:rPr lang="en-US" dirty="0"/>
              <a:t>)</a:t>
            </a:r>
            <a:r>
              <a:rPr lang="en-US" i="1" baseline="30000" dirty="0">
                <a:latin typeface="Cambria Math" pitchFamily="18" charset="0"/>
                <a:ea typeface="Cambria Math" pitchFamily="18" charset="0"/>
              </a:rPr>
              <a:t>2</a:t>
            </a:r>
            <a:endParaRPr lang="en-US" i="1" dirty="0">
              <a:latin typeface="Cambria Math" pitchFamily="18" charset="0"/>
              <a:ea typeface="Cambria Math" pitchFamily="18" charset="0"/>
            </a:endParaRPr>
          </a:p>
          <a:p>
            <a:r>
              <a:rPr lang="en-US" i="1" dirty="0"/>
              <a:t>f</a:t>
            </a:r>
            <a:r>
              <a:rPr lang="en-US" baseline="-25000" dirty="0"/>
              <a:t>4</a:t>
            </a:r>
            <a:r>
              <a:rPr lang="en-US" dirty="0"/>
              <a:t>(</a:t>
            </a:r>
            <a:r>
              <a:rPr lang="en-US" i="1" dirty="0"/>
              <a:t>n</a:t>
            </a:r>
            <a:r>
              <a:rPr lang="en-US" dirty="0"/>
              <a:t>) = </a:t>
            </a:r>
            <a:r>
              <a:rPr lang="en-US" dirty="0">
                <a:latin typeface="Cambria Math" pitchFamily="18" charset="0"/>
                <a:ea typeface="Cambria Math" pitchFamily="18" charset="0"/>
              </a:rPr>
              <a:t>2</a:t>
            </a:r>
            <a:r>
              <a:rPr lang="en-US" i="1" baseline="30000" dirty="0">
                <a:latin typeface="Cambria Math" pitchFamily="18" charset="0"/>
                <a:ea typeface="Cambria Math" pitchFamily="18" charset="0"/>
              </a:rPr>
              <a:t>n</a:t>
            </a:r>
            <a:endParaRPr lang="en-US" i="1" dirty="0"/>
          </a:p>
          <a:p>
            <a:r>
              <a:rPr lang="en-US" i="1" dirty="0"/>
              <a:t>f</a:t>
            </a:r>
            <a:r>
              <a:rPr lang="en-US" baseline="-25000" dirty="0"/>
              <a:t>5</a:t>
            </a:r>
            <a:r>
              <a:rPr lang="en-US" dirty="0"/>
              <a:t>(</a:t>
            </a:r>
            <a:r>
              <a:rPr lang="en-US" i="1" dirty="0"/>
              <a:t>n</a:t>
            </a:r>
            <a:r>
              <a:rPr lang="en-US" dirty="0"/>
              <a:t>) =</a:t>
            </a:r>
            <a:r>
              <a:rPr lang="en-US" dirty="0">
                <a:latin typeface="Cambria Math" pitchFamily="18" charset="0"/>
                <a:ea typeface="Cambria Math" pitchFamily="18" charset="0"/>
              </a:rPr>
              <a:t> log (log </a:t>
            </a:r>
            <a:r>
              <a:rPr lang="en-US" i="1" dirty="0">
                <a:latin typeface="Cambria Math" pitchFamily="18" charset="0"/>
                <a:ea typeface="Cambria Math" pitchFamily="18" charset="0"/>
              </a:rPr>
              <a:t>n</a:t>
            </a:r>
            <a:r>
              <a:rPr lang="en-US" dirty="0">
                <a:latin typeface="Cambria Math" pitchFamily="18" charset="0"/>
                <a:ea typeface="Cambria Math" pitchFamily="18" charset="0"/>
              </a:rPr>
              <a:t>)</a:t>
            </a:r>
            <a:endParaRPr lang="en-US" i="1" dirty="0"/>
          </a:p>
          <a:p>
            <a:r>
              <a:rPr lang="en-US" i="1" dirty="0"/>
              <a:t>f</a:t>
            </a:r>
            <a:r>
              <a:rPr lang="en-US" baseline="-25000" dirty="0"/>
              <a:t>6</a:t>
            </a:r>
            <a:r>
              <a:rPr lang="en-US" dirty="0"/>
              <a:t>(</a:t>
            </a:r>
            <a:r>
              <a:rPr lang="en-US" i="1" dirty="0"/>
              <a:t>n</a:t>
            </a:r>
            <a:r>
              <a:rPr lang="en-US" dirty="0"/>
              <a:t>) = </a:t>
            </a:r>
            <a:r>
              <a:rPr lang="en-US" i="1" dirty="0">
                <a:latin typeface="Cambria Math" pitchFamily="18" charset="0"/>
                <a:ea typeface="Cambria Math" pitchFamily="18" charset="0"/>
              </a:rPr>
              <a:t>n</a:t>
            </a:r>
            <a:r>
              <a:rPr lang="en-US" baseline="30000" dirty="0">
                <a:latin typeface="Cambria Math" pitchFamily="18" charset="0"/>
                <a:ea typeface="Cambria Math" pitchFamily="18" charset="0"/>
              </a:rPr>
              <a:t>2 </a:t>
            </a:r>
            <a:r>
              <a:rPr lang="en-US" dirty="0"/>
              <a:t>(</a:t>
            </a:r>
            <a:r>
              <a:rPr lang="en-US" dirty="0">
                <a:latin typeface="Cambria Math" pitchFamily="18" charset="0"/>
                <a:ea typeface="Cambria Math" pitchFamily="18" charset="0"/>
              </a:rPr>
              <a:t>log </a:t>
            </a:r>
            <a:r>
              <a:rPr lang="en-US" i="1" dirty="0">
                <a:latin typeface="Cambria Math" pitchFamily="18" charset="0"/>
                <a:ea typeface="Cambria Math" pitchFamily="18" charset="0"/>
              </a:rPr>
              <a:t>n</a:t>
            </a:r>
            <a:r>
              <a:rPr lang="en-US" dirty="0"/>
              <a:t>)</a:t>
            </a:r>
            <a:r>
              <a:rPr lang="en-US" baseline="30000" dirty="0"/>
              <a:t>3</a:t>
            </a:r>
          </a:p>
          <a:p>
            <a:r>
              <a:rPr lang="en-US" i="1" dirty="0"/>
              <a:t>f</a:t>
            </a:r>
            <a:r>
              <a:rPr lang="en-US" baseline="-25000" dirty="0"/>
              <a:t>7</a:t>
            </a:r>
            <a:r>
              <a:rPr lang="en-US" dirty="0"/>
              <a:t>(</a:t>
            </a:r>
            <a:r>
              <a:rPr lang="en-US" i="1" dirty="0"/>
              <a:t>n</a:t>
            </a:r>
            <a:r>
              <a:rPr lang="en-US" dirty="0"/>
              <a:t>) = </a:t>
            </a:r>
            <a:r>
              <a:rPr lang="en-US" dirty="0">
                <a:latin typeface="Cambria Math" pitchFamily="18" charset="0"/>
                <a:ea typeface="Cambria Math" pitchFamily="18" charset="0"/>
              </a:rPr>
              <a:t>2</a:t>
            </a:r>
            <a:r>
              <a:rPr lang="en-US" i="1" baseline="30000" dirty="0">
                <a:latin typeface="Cambria Math" pitchFamily="18" charset="0"/>
                <a:ea typeface="Cambria Math" pitchFamily="18" charset="0"/>
              </a:rPr>
              <a:t>n</a:t>
            </a:r>
            <a:r>
              <a:rPr lang="en-US" i="1" dirty="0">
                <a:latin typeface="Cambria Math" pitchFamily="18" charset="0"/>
                <a:ea typeface="Cambria Math" pitchFamily="18" charset="0"/>
              </a:rPr>
              <a:t> </a:t>
            </a:r>
            <a:r>
              <a:rPr lang="en-US" dirty="0">
                <a:latin typeface="Cambria Math" pitchFamily="18" charset="0"/>
                <a:ea typeface="Cambria Math" pitchFamily="18" charset="0"/>
              </a:rPr>
              <a:t>(</a:t>
            </a:r>
            <a:r>
              <a:rPr lang="en-US" i="1" dirty="0">
                <a:latin typeface="Cambria Math" pitchFamily="18" charset="0"/>
                <a:ea typeface="Cambria Math" pitchFamily="18" charset="0"/>
              </a:rPr>
              <a:t>n</a:t>
            </a:r>
            <a:r>
              <a:rPr lang="en-US" baseline="30000" dirty="0">
                <a:latin typeface="Cambria Math" pitchFamily="18" charset="0"/>
                <a:ea typeface="Cambria Math" pitchFamily="18" charset="0"/>
              </a:rPr>
              <a:t>2  </a:t>
            </a:r>
            <a:r>
              <a:rPr lang="en-US" dirty="0">
                <a:latin typeface="Cambria Math" pitchFamily="18" charset="0"/>
                <a:ea typeface="Cambria Math" pitchFamily="18" charset="0"/>
              </a:rPr>
              <a:t>+1)</a:t>
            </a:r>
            <a:endParaRPr lang="en-US" baseline="30000" dirty="0">
              <a:latin typeface="Cambria Math" pitchFamily="18" charset="0"/>
              <a:ea typeface="Cambria Math" pitchFamily="18" charset="0"/>
            </a:endParaRPr>
          </a:p>
          <a:p>
            <a:r>
              <a:rPr lang="en-US" i="1" dirty="0"/>
              <a:t>f</a:t>
            </a:r>
            <a:r>
              <a:rPr lang="en-US" baseline="-25000" dirty="0"/>
              <a:t>8</a:t>
            </a:r>
            <a:r>
              <a:rPr lang="en-US" dirty="0"/>
              <a:t>(</a:t>
            </a:r>
            <a:r>
              <a:rPr lang="en-US" i="1" dirty="0"/>
              <a:t>n</a:t>
            </a:r>
            <a:r>
              <a:rPr lang="en-US" dirty="0"/>
              <a:t>) = </a:t>
            </a:r>
            <a:r>
              <a:rPr lang="en-US" i="1" dirty="0">
                <a:latin typeface="Cambria Math" pitchFamily="18" charset="0"/>
                <a:ea typeface="Cambria Math" pitchFamily="18" charset="0"/>
              </a:rPr>
              <a:t>n</a:t>
            </a:r>
            <a:r>
              <a:rPr lang="en-US" baseline="30000" dirty="0">
                <a:latin typeface="Cambria Math" pitchFamily="18" charset="0"/>
                <a:ea typeface="Cambria Math" pitchFamily="18" charset="0"/>
              </a:rPr>
              <a:t>3</a:t>
            </a:r>
            <a:r>
              <a:rPr lang="en-US" dirty="0">
                <a:latin typeface="Cambria Math" pitchFamily="18" charset="0"/>
                <a:ea typeface="Cambria Math" pitchFamily="18" charset="0"/>
              </a:rPr>
              <a:t>+ </a:t>
            </a:r>
            <a:r>
              <a:rPr lang="en-US" i="1" dirty="0">
                <a:latin typeface="Cambria Math" pitchFamily="18" charset="0"/>
                <a:ea typeface="Cambria Math" pitchFamily="18" charset="0"/>
              </a:rPr>
              <a:t>n</a:t>
            </a:r>
            <a:r>
              <a:rPr lang="en-US" dirty="0">
                <a:latin typeface="Cambria Math" pitchFamily="18" charset="0"/>
                <a:ea typeface="Cambria Math" pitchFamily="18" charset="0"/>
              </a:rPr>
              <a:t>(log </a:t>
            </a:r>
            <a:r>
              <a:rPr lang="en-US" i="1" dirty="0">
                <a:latin typeface="Cambria Math" pitchFamily="18" charset="0"/>
                <a:ea typeface="Cambria Math" pitchFamily="18" charset="0"/>
              </a:rPr>
              <a:t>n</a:t>
            </a:r>
            <a:r>
              <a:rPr lang="en-US" dirty="0">
                <a:latin typeface="Cambria Math" pitchFamily="18" charset="0"/>
                <a:ea typeface="Cambria Math" pitchFamily="18" charset="0"/>
              </a:rPr>
              <a:t>)</a:t>
            </a:r>
            <a:r>
              <a:rPr lang="en-US" baseline="30000" dirty="0">
                <a:latin typeface="Cambria Math" pitchFamily="18" charset="0"/>
                <a:ea typeface="Cambria Math" pitchFamily="18" charset="0"/>
              </a:rPr>
              <a:t>2 </a:t>
            </a:r>
            <a:endParaRPr lang="en-US" dirty="0">
              <a:latin typeface="Cambria Math" pitchFamily="18" charset="0"/>
              <a:ea typeface="Cambria Math" pitchFamily="18" charset="0"/>
            </a:endParaRPr>
          </a:p>
          <a:p>
            <a:r>
              <a:rPr lang="en-US" i="1" dirty="0"/>
              <a:t>f</a:t>
            </a:r>
            <a:r>
              <a:rPr lang="en-US" baseline="-25000" dirty="0"/>
              <a:t>9</a:t>
            </a:r>
            <a:r>
              <a:rPr lang="en-US" dirty="0"/>
              <a:t>(</a:t>
            </a:r>
            <a:r>
              <a:rPr lang="en-US" i="1" dirty="0"/>
              <a:t>n</a:t>
            </a:r>
            <a:r>
              <a:rPr lang="en-US" dirty="0"/>
              <a:t>) = </a:t>
            </a:r>
            <a:r>
              <a:rPr lang="en-US" dirty="0">
                <a:latin typeface="Cambria Math" pitchFamily="18" charset="0"/>
                <a:ea typeface="Cambria Math" pitchFamily="18" charset="0"/>
              </a:rPr>
              <a:t>10000</a:t>
            </a:r>
          </a:p>
          <a:p>
            <a:r>
              <a:rPr lang="en-US" i="1" dirty="0"/>
              <a:t>f</a:t>
            </a:r>
            <a:r>
              <a:rPr lang="en-US" baseline="-25000" dirty="0"/>
              <a:t>10</a:t>
            </a:r>
            <a:r>
              <a:rPr lang="en-US" dirty="0"/>
              <a:t>(</a:t>
            </a:r>
            <a:r>
              <a:rPr lang="en-US" i="1" dirty="0"/>
              <a:t>n</a:t>
            </a:r>
            <a:r>
              <a:rPr lang="en-US" dirty="0"/>
              <a:t>) = </a:t>
            </a:r>
            <a:r>
              <a:rPr lang="en-US" i="1" dirty="0">
                <a:ea typeface="Cambria Math" pitchFamily="18" charset="0"/>
              </a:rPr>
              <a:t>n</a:t>
            </a:r>
            <a:r>
              <a:rPr lang="en-US" dirty="0">
                <a:latin typeface="Cambria Math" pitchFamily="18" charset="0"/>
                <a:ea typeface="Cambria Math" pitchFamily="18" charset="0"/>
              </a:rPr>
              <a:t>!</a:t>
            </a:r>
          </a:p>
          <a:p>
            <a:endParaRPr lang="en-US" i="1" baseline="30000" dirty="0"/>
          </a:p>
          <a:p>
            <a:endParaRPr lang="en-US" i="1" baseline="30000" dirty="0"/>
          </a:p>
          <a:p>
            <a:endParaRPr lang="en-US" i="1" dirty="0"/>
          </a:p>
          <a:p>
            <a:endParaRPr lang="en-US" baseline="30000" dirty="0"/>
          </a:p>
          <a:p>
            <a:endParaRPr lang="en-US" i="1" dirty="0"/>
          </a:p>
        </p:txBody>
      </p:sp>
      <p:sp>
        <p:nvSpPr>
          <p:cNvPr id="4" name="TextBox 3"/>
          <p:cNvSpPr txBox="1"/>
          <p:nvPr/>
        </p:nvSpPr>
        <p:spPr>
          <a:xfrm>
            <a:off x="4038600" y="2641461"/>
            <a:ext cx="5105400" cy="4585870"/>
          </a:xfrm>
          <a:prstGeom prst="rect">
            <a:avLst/>
          </a:prstGeom>
          <a:noFill/>
        </p:spPr>
        <p:txBody>
          <a:bodyPr wrap="square" rtlCol="0">
            <a:spAutoFit/>
          </a:bodyPr>
          <a:lstStyle/>
          <a:p>
            <a:r>
              <a:rPr lang="en-US" sz="1200" b="1" dirty="0"/>
              <a:t>We  solve this exercise by successively finding the function that grows slowest among all those left on the list.</a:t>
            </a:r>
          </a:p>
          <a:p>
            <a:endParaRPr lang="en-US" sz="1200" b="1" dirty="0"/>
          </a:p>
          <a:p>
            <a:pPr>
              <a:buFont typeface="Arial" pitchFamily="34" charset="0"/>
              <a:buChar char="•"/>
            </a:pPr>
            <a:r>
              <a:rPr lang="en-US" sz="1200" b="1" dirty="0"/>
              <a:t> </a:t>
            </a:r>
            <a:r>
              <a:rPr lang="en-US" sz="1200" i="1" dirty="0"/>
              <a:t>f</a:t>
            </a:r>
            <a:r>
              <a:rPr lang="en-US" sz="1200" baseline="-25000" dirty="0"/>
              <a:t>9</a:t>
            </a:r>
            <a:r>
              <a:rPr lang="en-US" sz="1200" dirty="0"/>
              <a:t>(</a:t>
            </a:r>
            <a:r>
              <a:rPr lang="en-US" sz="1200" i="1" dirty="0"/>
              <a:t>n</a:t>
            </a:r>
            <a:r>
              <a:rPr lang="en-US" sz="1200" dirty="0"/>
              <a:t>) = </a:t>
            </a:r>
            <a:r>
              <a:rPr lang="en-US" sz="1200" dirty="0">
                <a:latin typeface="Cambria Math" pitchFamily="18" charset="0"/>
                <a:ea typeface="Cambria Math" pitchFamily="18" charset="0"/>
              </a:rPr>
              <a:t>10000       (constant, does not increase with </a:t>
            </a:r>
            <a:r>
              <a:rPr lang="en-US" sz="1200" i="1" dirty="0">
                <a:latin typeface="Cambria Math" pitchFamily="18" charset="0"/>
                <a:ea typeface="Cambria Math" pitchFamily="18" charset="0"/>
              </a:rPr>
              <a:t>n</a:t>
            </a:r>
            <a:r>
              <a:rPr lang="en-US" sz="1200" dirty="0">
                <a:latin typeface="Cambria Math" pitchFamily="18" charset="0"/>
                <a:ea typeface="Cambria Math" pitchFamily="18" charset="0"/>
              </a:rPr>
              <a:t>)</a:t>
            </a:r>
          </a:p>
          <a:p>
            <a:pPr>
              <a:buFont typeface="Arial" pitchFamily="34" charset="0"/>
              <a:buChar char="•"/>
            </a:pPr>
            <a:endParaRPr lang="en-US" sz="1200" dirty="0">
              <a:latin typeface="Cambria Math" pitchFamily="18" charset="0"/>
              <a:ea typeface="Cambria Math" pitchFamily="18" charset="0"/>
            </a:endParaRPr>
          </a:p>
          <a:p>
            <a:pPr>
              <a:buFont typeface="Arial" pitchFamily="34" charset="0"/>
              <a:buChar char="•"/>
            </a:pPr>
            <a:r>
              <a:rPr lang="en-US" sz="1200" i="1" dirty="0"/>
              <a:t>f</a:t>
            </a:r>
            <a:r>
              <a:rPr lang="en-US" sz="1200" baseline="-25000" dirty="0"/>
              <a:t>5</a:t>
            </a:r>
            <a:r>
              <a:rPr lang="en-US" sz="1200" dirty="0"/>
              <a:t>(</a:t>
            </a:r>
            <a:r>
              <a:rPr lang="en-US" sz="1200" i="1" dirty="0"/>
              <a:t>n</a:t>
            </a:r>
            <a:r>
              <a:rPr lang="en-US" sz="1200" dirty="0"/>
              <a:t>) =</a:t>
            </a:r>
            <a:r>
              <a:rPr lang="en-US" sz="1200" dirty="0">
                <a:latin typeface="Cambria Math" pitchFamily="18" charset="0"/>
                <a:ea typeface="Cambria Math" pitchFamily="18" charset="0"/>
              </a:rPr>
              <a:t> log (log </a:t>
            </a:r>
            <a:r>
              <a:rPr lang="en-US" sz="1200" i="1" dirty="0">
                <a:latin typeface="Cambria Math" pitchFamily="18" charset="0"/>
                <a:ea typeface="Cambria Math" pitchFamily="18" charset="0"/>
              </a:rPr>
              <a:t>n</a:t>
            </a:r>
            <a:r>
              <a:rPr lang="en-US" sz="1200" dirty="0">
                <a:latin typeface="Cambria Math" pitchFamily="18" charset="0"/>
                <a:ea typeface="Cambria Math" pitchFamily="18" charset="0"/>
              </a:rPr>
              <a:t>)     (grows slowest of all the others)</a:t>
            </a:r>
          </a:p>
          <a:p>
            <a:pPr>
              <a:buFont typeface="Arial" pitchFamily="34" charset="0"/>
              <a:buChar char="•"/>
            </a:pPr>
            <a:endParaRPr lang="en-US" sz="1200" i="1" dirty="0"/>
          </a:p>
          <a:p>
            <a:pPr>
              <a:buFont typeface="Arial" pitchFamily="34" charset="0"/>
              <a:buChar char="•"/>
            </a:pPr>
            <a:r>
              <a:rPr lang="en-US" sz="1200" i="1" dirty="0"/>
              <a:t>f</a:t>
            </a:r>
            <a:r>
              <a:rPr lang="en-US" sz="1200" baseline="-25000" dirty="0"/>
              <a:t>3</a:t>
            </a:r>
            <a:r>
              <a:rPr lang="en-US" sz="1200" dirty="0"/>
              <a:t>(</a:t>
            </a:r>
            <a:r>
              <a:rPr lang="en-US" sz="1200" i="1" dirty="0"/>
              <a:t>n</a:t>
            </a:r>
            <a:r>
              <a:rPr lang="en-US" sz="1200" dirty="0"/>
              <a:t>) = (</a:t>
            </a:r>
            <a:r>
              <a:rPr lang="en-US" sz="1200" dirty="0">
                <a:latin typeface="Cambria Math" pitchFamily="18" charset="0"/>
                <a:ea typeface="Cambria Math" pitchFamily="18" charset="0"/>
              </a:rPr>
              <a:t>log n </a:t>
            </a:r>
            <a:r>
              <a:rPr lang="en-US" sz="1200" dirty="0"/>
              <a:t>)</a:t>
            </a:r>
            <a:r>
              <a:rPr lang="en-US" sz="1200" i="1" baseline="30000" dirty="0">
                <a:latin typeface="Cambria Math" pitchFamily="18" charset="0"/>
                <a:ea typeface="Cambria Math" pitchFamily="18" charset="0"/>
              </a:rPr>
              <a:t>2 </a:t>
            </a:r>
            <a:r>
              <a:rPr lang="en-US" sz="1200" i="1" dirty="0">
                <a:latin typeface="Cambria Math" pitchFamily="18" charset="0"/>
                <a:ea typeface="Cambria Math" pitchFamily="18" charset="0"/>
              </a:rPr>
              <a:t>      </a:t>
            </a:r>
            <a:r>
              <a:rPr lang="en-US" sz="1200" dirty="0">
                <a:latin typeface="Cambria Math" pitchFamily="18" charset="0"/>
                <a:ea typeface="Cambria Math" pitchFamily="18" charset="0"/>
              </a:rPr>
              <a:t>(grows next slowest)</a:t>
            </a:r>
          </a:p>
          <a:p>
            <a:pPr>
              <a:buFont typeface="Arial" pitchFamily="34" charset="0"/>
              <a:buChar char="•"/>
            </a:pPr>
            <a:endParaRPr lang="en-US" sz="1200" dirty="0">
              <a:latin typeface="Cambria Math" pitchFamily="18" charset="0"/>
              <a:ea typeface="Cambria Math" pitchFamily="18" charset="0"/>
            </a:endParaRPr>
          </a:p>
          <a:p>
            <a:pPr>
              <a:buFont typeface="Arial" pitchFamily="34" charset="0"/>
              <a:buChar char="•"/>
            </a:pPr>
            <a:r>
              <a:rPr lang="en-US" sz="1200" i="1" dirty="0"/>
              <a:t>f</a:t>
            </a:r>
            <a:r>
              <a:rPr lang="en-US" sz="1200" baseline="-25000" dirty="0"/>
              <a:t>6</a:t>
            </a:r>
            <a:r>
              <a:rPr lang="en-US" sz="1200" dirty="0"/>
              <a:t>(</a:t>
            </a:r>
            <a:r>
              <a:rPr lang="en-US" sz="1200" i="1" dirty="0"/>
              <a:t>n</a:t>
            </a:r>
            <a:r>
              <a:rPr lang="en-US" sz="1200" dirty="0"/>
              <a:t>) = </a:t>
            </a:r>
            <a:r>
              <a:rPr lang="en-US" sz="1200" i="1" dirty="0">
                <a:latin typeface="Cambria Math" pitchFamily="18" charset="0"/>
                <a:ea typeface="Cambria Math" pitchFamily="18" charset="0"/>
              </a:rPr>
              <a:t>n</a:t>
            </a:r>
            <a:r>
              <a:rPr lang="en-US" sz="1200" baseline="30000" dirty="0">
                <a:latin typeface="Cambria Math" pitchFamily="18" charset="0"/>
                <a:ea typeface="Cambria Math" pitchFamily="18" charset="0"/>
              </a:rPr>
              <a:t>2 </a:t>
            </a:r>
            <a:r>
              <a:rPr lang="en-US" sz="1200" dirty="0"/>
              <a:t>(</a:t>
            </a:r>
            <a:r>
              <a:rPr lang="en-US" sz="1200" dirty="0">
                <a:latin typeface="Cambria Math" pitchFamily="18" charset="0"/>
                <a:ea typeface="Cambria Math" pitchFamily="18" charset="0"/>
              </a:rPr>
              <a:t>log </a:t>
            </a:r>
            <a:r>
              <a:rPr lang="en-US" sz="1200" i="1" dirty="0">
                <a:latin typeface="Cambria Math" pitchFamily="18" charset="0"/>
                <a:ea typeface="Cambria Math" pitchFamily="18" charset="0"/>
              </a:rPr>
              <a:t>n</a:t>
            </a:r>
            <a:r>
              <a:rPr lang="en-US" sz="1200" dirty="0"/>
              <a:t>)</a:t>
            </a:r>
            <a:r>
              <a:rPr lang="en-US" sz="1200" baseline="30000" dirty="0"/>
              <a:t>3   </a:t>
            </a:r>
            <a:r>
              <a:rPr lang="en-US" sz="1200" dirty="0">
                <a:latin typeface="Cambria Math" pitchFamily="18" charset="0"/>
                <a:ea typeface="Cambria Math" pitchFamily="18" charset="0"/>
              </a:rPr>
              <a:t>(next largest, </a:t>
            </a:r>
            <a:r>
              <a:rPr lang="en-US" sz="1200" dirty="0"/>
              <a:t>(</a:t>
            </a:r>
            <a:r>
              <a:rPr lang="en-US" sz="1200" dirty="0">
                <a:latin typeface="Cambria Math" pitchFamily="18" charset="0"/>
                <a:ea typeface="Cambria Math" pitchFamily="18" charset="0"/>
              </a:rPr>
              <a:t>log </a:t>
            </a:r>
            <a:r>
              <a:rPr lang="en-US" sz="1200" i="1" dirty="0">
                <a:latin typeface="Cambria Math" pitchFamily="18" charset="0"/>
                <a:ea typeface="Cambria Math" pitchFamily="18" charset="0"/>
              </a:rPr>
              <a:t>n</a:t>
            </a:r>
            <a:r>
              <a:rPr lang="en-US" sz="1200" dirty="0"/>
              <a:t>)</a:t>
            </a:r>
            <a:r>
              <a:rPr lang="en-US" sz="1200" baseline="30000" dirty="0"/>
              <a:t>3 </a:t>
            </a:r>
            <a:r>
              <a:rPr lang="en-US" sz="1200" dirty="0">
                <a:latin typeface="Cambria Math" pitchFamily="18" charset="0"/>
                <a:ea typeface="Cambria Math" pitchFamily="18" charset="0"/>
              </a:rPr>
              <a:t>factor smaller than any power of </a:t>
            </a:r>
            <a:r>
              <a:rPr lang="en-US" sz="1200" i="1" dirty="0">
                <a:latin typeface="Cambria Math" pitchFamily="18" charset="0"/>
                <a:ea typeface="Cambria Math" pitchFamily="18" charset="0"/>
              </a:rPr>
              <a:t>n</a:t>
            </a:r>
            <a:r>
              <a:rPr lang="en-US" sz="1200" dirty="0">
                <a:latin typeface="Cambria Math" pitchFamily="18" charset="0"/>
                <a:ea typeface="Cambria Math" pitchFamily="18" charset="0"/>
              </a:rPr>
              <a:t>)</a:t>
            </a:r>
          </a:p>
          <a:p>
            <a:pPr>
              <a:buFont typeface="Arial" pitchFamily="34" charset="0"/>
              <a:buChar char="•"/>
            </a:pPr>
            <a:endParaRPr lang="en-US" sz="1200" baseline="30000" dirty="0">
              <a:latin typeface="Cambria Math" pitchFamily="18" charset="0"/>
              <a:ea typeface="Cambria Math" pitchFamily="18" charset="0"/>
            </a:endParaRPr>
          </a:p>
          <a:p>
            <a:pPr>
              <a:buFont typeface="Arial" pitchFamily="34" charset="0"/>
              <a:buChar char="•"/>
            </a:pPr>
            <a:r>
              <a:rPr lang="en-US" sz="1200" i="1" dirty="0"/>
              <a:t>f</a:t>
            </a:r>
            <a:r>
              <a:rPr lang="en-US" sz="1200" baseline="-25000" dirty="0"/>
              <a:t>2</a:t>
            </a:r>
            <a:r>
              <a:rPr lang="en-US" sz="1200" dirty="0"/>
              <a:t>(</a:t>
            </a:r>
            <a:r>
              <a:rPr lang="en-US" sz="1200" i="1" dirty="0"/>
              <a:t>n</a:t>
            </a:r>
            <a:r>
              <a:rPr lang="en-US" sz="1200" dirty="0"/>
              <a:t>) = 8</a:t>
            </a:r>
            <a:r>
              <a:rPr lang="en-US" sz="1200" i="1" dirty="0">
                <a:latin typeface="Cambria Math" pitchFamily="18" charset="0"/>
                <a:ea typeface="Cambria Math" pitchFamily="18" charset="0"/>
              </a:rPr>
              <a:t>n</a:t>
            </a:r>
            <a:r>
              <a:rPr lang="en-US" sz="1200" baseline="30000" dirty="0">
                <a:latin typeface="Cambria Math" pitchFamily="18" charset="0"/>
                <a:ea typeface="Cambria Math" pitchFamily="18" charset="0"/>
              </a:rPr>
              <a:t>3</a:t>
            </a:r>
            <a:r>
              <a:rPr lang="en-US" sz="1200" dirty="0">
                <a:latin typeface="Cambria Math" pitchFamily="18" charset="0"/>
                <a:ea typeface="Cambria Math" pitchFamily="18" charset="0"/>
              </a:rPr>
              <a:t>+17</a:t>
            </a:r>
            <a:r>
              <a:rPr lang="en-US" sz="1200" i="1" dirty="0">
                <a:latin typeface="Cambria Math" pitchFamily="18" charset="0"/>
                <a:ea typeface="Cambria Math" pitchFamily="18" charset="0"/>
              </a:rPr>
              <a:t>n</a:t>
            </a:r>
            <a:r>
              <a:rPr lang="en-US" sz="1200" baseline="30000" dirty="0">
                <a:latin typeface="Cambria Math" pitchFamily="18" charset="0"/>
                <a:ea typeface="Cambria Math" pitchFamily="18" charset="0"/>
              </a:rPr>
              <a:t>2  </a:t>
            </a:r>
            <a:r>
              <a:rPr lang="en-US" sz="1200" dirty="0">
                <a:latin typeface="Cambria Math" pitchFamily="18" charset="0"/>
                <a:ea typeface="Cambria Math" pitchFamily="18" charset="0"/>
              </a:rPr>
              <a:t>+111    (tied with the one below)</a:t>
            </a:r>
            <a:endParaRPr lang="en-US" sz="1200" i="1" baseline="30000" dirty="0"/>
          </a:p>
          <a:p>
            <a:pPr>
              <a:buFont typeface="Arial" pitchFamily="34" charset="0"/>
              <a:buChar char="•"/>
            </a:pPr>
            <a:endParaRPr lang="en-US" sz="1200" baseline="30000" dirty="0"/>
          </a:p>
          <a:p>
            <a:pPr>
              <a:buFont typeface="Arial" pitchFamily="34" charset="0"/>
              <a:buChar char="•"/>
            </a:pPr>
            <a:r>
              <a:rPr lang="en-US" sz="1200" i="1" dirty="0"/>
              <a:t>f</a:t>
            </a:r>
            <a:r>
              <a:rPr lang="en-US" sz="1200" baseline="-25000" dirty="0"/>
              <a:t>8</a:t>
            </a:r>
            <a:r>
              <a:rPr lang="en-US" sz="1200" dirty="0"/>
              <a:t>(</a:t>
            </a:r>
            <a:r>
              <a:rPr lang="en-US" sz="1200" i="1" dirty="0"/>
              <a:t>n</a:t>
            </a:r>
            <a:r>
              <a:rPr lang="en-US" sz="1200" dirty="0"/>
              <a:t>) = </a:t>
            </a:r>
            <a:r>
              <a:rPr lang="en-US" sz="1200" i="1" dirty="0">
                <a:latin typeface="Cambria Math" pitchFamily="18" charset="0"/>
                <a:ea typeface="Cambria Math" pitchFamily="18" charset="0"/>
              </a:rPr>
              <a:t>n</a:t>
            </a:r>
            <a:r>
              <a:rPr lang="en-US" sz="1200" baseline="30000" dirty="0">
                <a:latin typeface="Cambria Math" pitchFamily="18" charset="0"/>
                <a:ea typeface="Cambria Math" pitchFamily="18" charset="0"/>
              </a:rPr>
              <a:t>3</a:t>
            </a:r>
            <a:r>
              <a:rPr lang="en-US" sz="1200" dirty="0">
                <a:latin typeface="Cambria Math" pitchFamily="18" charset="0"/>
                <a:ea typeface="Cambria Math" pitchFamily="18" charset="0"/>
              </a:rPr>
              <a:t>+ </a:t>
            </a:r>
            <a:r>
              <a:rPr lang="en-US" sz="1200" i="1" dirty="0">
                <a:latin typeface="Cambria Math" pitchFamily="18" charset="0"/>
                <a:ea typeface="Cambria Math" pitchFamily="18" charset="0"/>
              </a:rPr>
              <a:t>n</a:t>
            </a:r>
            <a:r>
              <a:rPr lang="en-US" sz="1200" dirty="0">
                <a:latin typeface="Cambria Math" pitchFamily="18" charset="0"/>
                <a:ea typeface="Cambria Math" pitchFamily="18" charset="0"/>
              </a:rPr>
              <a:t>(log </a:t>
            </a:r>
            <a:r>
              <a:rPr lang="en-US" sz="1200" i="1" dirty="0">
                <a:latin typeface="Cambria Math" pitchFamily="18" charset="0"/>
                <a:ea typeface="Cambria Math" pitchFamily="18" charset="0"/>
              </a:rPr>
              <a:t>n</a:t>
            </a:r>
            <a:r>
              <a:rPr lang="en-US" sz="1200" dirty="0">
                <a:latin typeface="Cambria Math" pitchFamily="18" charset="0"/>
                <a:ea typeface="Cambria Math" pitchFamily="18" charset="0"/>
              </a:rPr>
              <a:t>)</a:t>
            </a:r>
            <a:r>
              <a:rPr lang="en-US" sz="1200" baseline="30000" dirty="0">
                <a:latin typeface="Cambria Math" pitchFamily="18" charset="0"/>
                <a:ea typeface="Cambria Math" pitchFamily="18" charset="0"/>
              </a:rPr>
              <a:t>2  </a:t>
            </a:r>
            <a:r>
              <a:rPr lang="en-US" sz="1200" dirty="0">
                <a:latin typeface="Cambria Math" pitchFamily="18" charset="0"/>
                <a:ea typeface="Cambria Math" pitchFamily="18" charset="0"/>
              </a:rPr>
              <a:t>        (tied with the one above)</a:t>
            </a:r>
          </a:p>
          <a:p>
            <a:pPr>
              <a:buFont typeface="Arial" pitchFamily="34" charset="0"/>
              <a:buChar char="•"/>
            </a:pPr>
            <a:endParaRPr lang="en-US" sz="1200" i="1" baseline="30000" dirty="0"/>
          </a:p>
          <a:p>
            <a:pPr>
              <a:buFont typeface="Arial" pitchFamily="34" charset="0"/>
              <a:buChar char="•"/>
            </a:pPr>
            <a:r>
              <a:rPr lang="en-US" sz="1200" i="1" dirty="0"/>
              <a:t>f</a:t>
            </a:r>
            <a:r>
              <a:rPr lang="en-US" sz="1200" baseline="-25000" dirty="0"/>
              <a:t>1</a:t>
            </a:r>
            <a:r>
              <a:rPr lang="en-US" sz="1200" dirty="0"/>
              <a:t>(</a:t>
            </a:r>
            <a:r>
              <a:rPr lang="en-US" sz="1200" i="1" dirty="0"/>
              <a:t>n</a:t>
            </a:r>
            <a:r>
              <a:rPr lang="en-US" sz="1200" dirty="0"/>
              <a:t>) = (</a:t>
            </a:r>
            <a:r>
              <a:rPr lang="en-US" sz="1200" dirty="0">
                <a:latin typeface="Cambria Math" pitchFamily="18" charset="0"/>
                <a:ea typeface="Cambria Math" pitchFamily="18" charset="0"/>
              </a:rPr>
              <a:t>1.5</a:t>
            </a:r>
            <a:r>
              <a:rPr lang="en-US" sz="1200" dirty="0"/>
              <a:t>)</a:t>
            </a:r>
            <a:r>
              <a:rPr lang="en-US" sz="1200" i="1" baseline="30000" dirty="0"/>
              <a:t>n   </a:t>
            </a:r>
            <a:r>
              <a:rPr lang="en-US" sz="1200" i="1" dirty="0"/>
              <a:t>      </a:t>
            </a:r>
            <a:r>
              <a:rPr lang="en-US" sz="1200" dirty="0"/>
              <a:t>(next largest, an exponential function)</a:t>
            </a:r>
          </a:p>
          <a:p>
            <a:pPr>
              <a:buFont typeface="Arial" pitchFamily="34" charset="0"/>
              <a:buChar char="•"/>
            </a:pPr>
            <a:endParaRPr lang="en-US" sz="1200" i="1" baseline="30000" dirty="0"/>
          </a:p>
          <a:p>
            <a:pPr>
              <a:buFont typeface="Arial" pitchFamily="34" charset="0"/>
              <a:buChar char="•"/>
            </a:pPr>
            <a:r>
              <a:rPr lang="en-US" sz="1200" i="1" dirty="0"/>
              <a:t>f</a:t>
            </a:r>
            <a:r>
              <a:rPr lang="en-US" sz="1200" baseline="-25000" dirty="0"/>
              <a:t>4</a:t>
            </a:r>
            <a:r>
              <a:rPr lang="en-US" sz="1200" dirty="0"/>
              <a:t>(</a:t>
            </a:r>
            <a:r>
              <a:rPr lang="en-US" sz="1200" i="1" dirty="0"/>
              <a:t>n</a:t>
            </a:r>
            <a:r>
              <a:rPr lang="en-US" sz="1200" dirty="0"/>
              <a:t>) = </a:t>
            </a:r>
            <a:r>
              <a:rPr lang="en-US" sz="1200" dirty="0">
                <a:latin typeface="Cambria Math" pitchFamily="18" charset="0"/>
                <a:ea typeface="Cambria Math" pitchFamily="18" charset="0"/>
              </a:rPr>
              <a:t>2</a:t>
            </a:r>
            <a:r>
              <a:rPr lang="en-US" sz="1200" i="1" baseline="30000" dirty="0">
                <a:latin typeface="Cambria Math" pitchFamily="18" charset="0"/>
                <a:ea typeface="Cambria Math" pitchFamily="18" charset="0"/>
              </a:rPr>
              <a:t>n</a:t>
            </a:r>
            <a:r>
              <a:rPr lang="en-US" sz="1200" dirty="0">
                <a:latin typeface="Cambria Math" pitchFamily="18" charset="0"/>
                <a:ea typeface="Cambria Math" pitchFamily="18" charset="0"/>
              </a:rPr>
              <a:t>        (grows faster than one above since 2 &gt; 1.5)</a:t>
            </a:r>
          </a:p>
          <a:p>
            <a:pPr>
              <a:buFont typeface="Arial" pitchFamily="34" charset="0"/>
              <a:buChar char="•"/>
            </a:pPr>
            <a:endParaRPr lang="en-US" sz="1200" i="1" dirty="0">
              <a:latin typeface="Cambria Math" pitchFamily="18" charset="0"/>
              <a:ea typeface="Cambria Math" pitchFamily="18" charset="0"/>
            </a:endParaRPr>
          </a:p>
          <a:p>
            <a:pPr>
              <a:buFont typeface="Arial" pitchFamily="34" charset="0"/>
              <a:buChar char="•"/>
            </a:pPr>
            <a:r>
              <a:rPr lang="en-US" sz="1200" i="1" dirty="0"/>
              <a:t>f</a:t>
            </a:r>
            <a:r>
              <a:rPr lang="en-US" sz="1200" baseline="-25000" dirty="0"/>
              <a:t>7</a:t>
            </a:r>
            <a:r>
              <a:rPr lang="en-US" sz="1200" dirty="0"/>
              <a:t>(</a:t>
            </a:r>
            <a:r>
              <a:rPr lang="en-US" sz="1200" i="1" dirty="0"/>
              <a:t>n</a:t>
            </a:r>
            <a:r>
              <a:rPr lang="en-US" sz="1200" dirty="0"/>
              <a:t>) = </a:t>
            </a:r>
            <a:r>
              <a:rPr lang="en-US" sz="1200" dirty="0">
                <a:latin typeface="Cambria Math" pitchFamily="18" charset="0"/>
                <a:ea typeface="Cambria Math" pitchFamily="18" charset="0"/>
              </a:rPr>
              <a:t>2</a:t>
            </a:r>
            <a:r>
              <a:rPr lang="en-US" sz="1200" i="1" baseline="30000" dirty="0">
                <a:latin typeface="Cambria Math" pitchFamily="18" charset="0"/>
                <a:ea typeface="Cambria Math" pitchFamily="18" charset="0"/>
              </a:rPr>
              <a:t>n</a:t>
            </a:r>
            <a:r>
              <a:rPr lang="en-US" sz="1200" i="1" dirty="0">
                <a:latin typeface="Cambria Math" pitchFamily="18" charset="0"/>
                <a:ea typeface="Cambria Math" pitchFamily="18" charset="0"/>
              </a:rPr>
              <a:t> </a:t>
            </a:r>
            <a:r>
              <a:rPr lang="en-US" sz="1200" dirty="0">
                <a:latin typeface="Cambria Math" pitchFamily="18" charset="0"/>
                <a:ea typeface="Cambria Math" pitchFamily="18" charset="0"/>
              </a:rPr>
              <a:t>(</a:t>
            </a:r>
            <a:r>
              <a:rPr lang="en-US" sz="1200" i="1" dirty="0">
                <a:latin typeface="Cambria Math" pitchFamily="18" charset="0"/>
                <a:ea typeface="Cambria Math" pitchFamily="18" charset="0"/>
              </a:rPr>
              <a:t>n</a:t>
            </a:r>
            <a:r>
              <a:rPr lang="en-US" sz="1200" baseline="30000" dirty="0">
                <a:latin typeface="Cambria Math" pitchFamily="18" charset="0"/>
                <a:ea typeface="Cambria Math" pitchFamily="18" charset="0"/>
              </a:rPr>
              <a:t>2  </a:t>
            </a:r>
            <a:r>
              <a:rPr lang="en-US" sz="1200" dirty="0">
                <a:latin typeface="Cambria Math" pitchFamily="18" charset="0"/>
                <a:ea typeface="Cambria Math" pitchFamily="18" charset="0"/>
              </a:rPr>
              <a:t>+1)     (grows faster than above because of the </a:t>
            </a:r>
            <a:r>
              <a:rPr lang="en-US" sz="1200" i="1" dirty="0">
                <a:latin typeface="Cambria Math" pitchFamily="18" charset="0"/>
                <a:ea typeface="Cambria Math" pitchFamily="18" charset="0"/>
              </a:rPr>
              <a:t>n</a:t>
            </a:r>
            <a:r>
              <a:rPr lang="en-US" sz="1200" baseline="30000" dirty="0">
                <a:latin typeface="Cambria Math" pitchFamily="18" charset="0"/>
                <a:ea typeface="Cambria Math" pitchFamily="18" charset="0"/>
              </a:rPr>
              <a:t>2  </a:t>
            </a:r>
            <a:r>
              <a:rPr lang="en-US" sz="1200" dirty="0">
                <a:latin typeface="Cambria Math" pitchFamily="18" charset="0"/>
                <a:ea typeface="Cambria Math" pitchFamily="18" charset="0"/>
              </a:rPr>
              <a:t>+1 factor)</a:t>
            </a:r>
            <a:endParaRPr lang="en-US" sz="1200" baseline="30000" dirty="0">
              <a:latin typeface="Cambria Math" pitchFamily="18" charset="0"/>
              <a:ea typeface="Cambria Math" pitchFamily="18" charset="0"/>
            </a:endParaRPr>
          </a:p>
          <a:p>
            <a:pPr>
              <a:buFont typeface="Arial" pitchFamily="34" charset="0"/>
              <a:buChar char="•"/>
            </a:pPr>
            <a:endParaRPr lang="en-US" sz="1200" i="1" dirty="0"/>
          </a:p>
          <a:p>
            <a:pPr>
              <a:buFont typeface="Arial" pitchFamily="34" charset="0"/>
              <a:buChar char="•"/>
            </a:pPr>
            <a:r>
              <a:rPr lang="en-US" sz="1200" i="1" dirty="0"/>
              <a:t>f</a:t>
            </a:r>
            <a:r>
              <a:rPr lang="en-US" sz="1200" baseline="-25000" dirty="0"/>
              <a:t>10</a:t>
            </a:r>
            <a:r>
              <a:rPr lang="en-US" sz="1200" dirty="0"/>
              <a:t>(</a:t>
            </a:r>
            <a:r>
              <a:rPr lang="en-US" sz="1200" i="1" dirty="0"/>
              <a:t>n</a:t>
            </a:r>
            <a:r>
              <a:rPr lang="en-US" sz="1200" dirty="0"/>
              <a:t>) = </a:t>
            </a:r>
            <a:r>
              <a:rPr lang="en-US" sz="1200" i="1" dirty="0" err="1">
                <a:ea typeface="Cambria Math" pitchFamily="18" charset="0"/>
              </a:rPr>
              <a:t>n</a:t>
            </a:r>
            <a:r>
              <a:rPr lang="en-US" sz="1200" dirty="0">
                <a:latin typeface="Cambria Math" pitchFamily="18" charset="0"/>
                <a:ea typeface="Cambria Math" pitchFamily="18" charset="0"/>
              </a:rPr>
              <a:t>!</a:t>
            </a:r>
            <a:r>
              <a:rPr lang="en-US" sz="1200" i="1" baseline="30000" dirty="0">
                <a:latin typeface="Cambria Math" pitchFamily="18" charset="0"/>
                <a:ea typeface="Cambria Math" pitchFamily="18" charset="0"/>
              </a:rPr>
              <a:t>             </a:t>
            </a:r>
            <a:r>
              <a:rPr lang="en-US" sz="1200" dirty="0">
                <a:latin typeface="Cambria Math" pitchFamily="18" charset="0"/>
                <a:ea typeface="Cambria Math" pitchFamily="18" charset="0"/>
              </a:rPr>
              <a:t>( </a:t>
            </a:r>
            <a:r>
              <a:rPr lang="en-US" sz="1200" i="1" dirty="0">
                <a:latin typeface="Cambria Math" pitchFamily="18" charset="0"/>
                <a:ea typeface="Cambria Math" pitchFamily="18" charset="0"/>
              </a:rPr>
              <a:t>n</a:t>
            </a:r>
            <a:r>
              <a:rPr lang="en-US" sz="1200" dirty="0">
                <a:latin typeface="Cambria Math" pitchFamily="18" charset="0"/>
                <a:ea typeface="Cambria Math" pitchFamily="18" charset="0"/>
              </a:rPr>
              <a:t>!  grows faster than </a:t>
            </a:r>
            <a:r>
              <a:rPr lang="en-US" sz="1200" dirty="0" err="1">
                <a:latin typeface="Cambria Math" pitchFamily="18" charset="0"/>
                <a:ea typeface="Cambria Math" pitchFamily="18" charset="0"/>
              </a:rPr>
              <a:t>c</a:t>
            </a:r>
            <a:r>
              <a:rPr lang="en-US" sz="1200" i="1" baseline="30000" dirty="0" err="1">
                <a:latin typeface="Cambria Math" pitchFamily="18" charset="0"/>
                <a:ea typeface="Cambria Math" pitchFamily="18" charset="0"/>
              </a:rPr>
              <a:t>n</a:t>
            </a:r>
            <a:r>
              <a:rPr lang="en-US" sz="1200" i="1" baseline="30000" dirty="0">
                <a:latin typeface="Cambria Math" pitchFamily="18" charset="0"/>
                <a:ea typeface="Cambria Math" pitchFamily="18" charset="0"/>
              </a:rPr>
              <a:t>   </a:t>
            </a:r>
            <a:r>
              <a:rPr lang="en-US" sz="1200" dirty="0">
                <a:latin typeface="Cambria Math" pitchFamily="18" charset="0"/>
                <a:ea typeface="Cambria Math" pitchFamily="18" charset="0"/>
              </a:rPr>
              <a:t>for  every </a:t>
            </a:r>
            <a:r>
              <a:rPr lang="en-US" sz="1200" i="1" dirty="0">
                <a:latin typeface="Cambria Math" pitchFamily="18" charset="0"/>
                <a:ea typeface="Cambria Math" pitchFamily="18" charset="0"/>
              </a:rPr>
              <a:t>c</a:t>
            </a:r>
            <a:r>
              <a:rPr lang="en-US" sz="1200" dirty="0">
                <a:latin typeface="Cambria Math" pitchFamily="18" charset="0"/>
                <a:ea typeface="Cambria Math" pitchFamily="18" charset="0"/>
              </a:rPr>
              <a:t>)</a:t>
            </a:r>
          </a:p>
          <a:p>
            <a:pPr>
              <a:buFont typeface="Arial" pitchFamily="34" charset="0"/>
              <a:buChar char="•"/>
            </a:pPr>
            <a:endParaRPr lang="en-US" sz="1200" i="1" baseline="30000" dirty="0"/>
          </a:p>
          <a:p>
            <a:pPr>
              <a:buFont typeface="Arial" pitchFamily="34" charset="0"/>
              <a:buChar char="•"/>
            </a:pPr>
            <a:endParaRPr lang="en-US" sz="1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Big-Omega Notation</a:t>
            </a:r>
          </a:p>
        </p:txBody>
      </p:sp>
      <p:sp>
        <p:nvSpPr>
          <p:cNvPr id="3" name="Content Placeholder 2"/>
          <p:cNvSpPr>
            <a:spLocks noGrp="1"/>
          </p:cNvSpPr>
          <p:nvPr>
            <p:ph idx="1"/>
          </p:nvPr>
        </p:nvSpPr>
        <p:spPr/>
        <p:txBody>
          <a:bodyPr>
            <a:normAutofit fontScale="92500"/>
          </a:bodyPr>
          <a:lstStyle/>
          <a:p>
            <a:pPr algn="just">
              <a:buNone/>
            </a:pPr>
            <a:r>
              <a:rPr lang="en-US" b="1" dirty="0"/>
              <a:t>   Definition</a:t>
            </a:r>
            <a:r>
              <a:rPr lang="en-US" dirty="0"/>
              <a:t>: Let </a:t>
            </a:r>
            <a:r>
              <a:rPr lang="en-US" i="1" dirty="0"/>
              <a:t>f</a:t>
            </a:r>
            <a:r>
              <a:rPr lang="en-US" dirty="0"/>
              <a:t> and </a:t>
            </a:r>
            <a:r>
              <a:rPr lang="en-US" i="1" dirty="0"/>
              <a:t>g</a:t>
            </a:r>
            <a:r>
              <a:rPr lang="en-US" dirty="0"/>
              <a:t> be functions from the set of integers or the set of real numbers to the set of real numbers. We say that</a:t>
            </a:r>
          </a:p>
          <a:p>
            <a:pPr algn="just">
              <a:buNone/>
            </a:pPr>
            <a:r>
              <a:rPr lang="en-US" dirty="0"/>
              <a:t>    if there are constants </a:t>
            </a:r>
            <a:r>
              <a:rPr lang="en-US" i="1" dirty="0"/>
              <a:t>C</a:t>
            </a:r>
            <a:r>
              <a:rPr lang="en-US" dirty="0"/>
              <a:t> and </a:t>
            </a:r>
            <a:r>
              <a:rPr lang="en-US" i="1" dirty="0"/>
              <a:t>k</a:t>
            </a:r>
            <a:r>
              <a:rPr lang="en-US" dirty="0"/>
              <a:t> such that</a:t>
            </a:r>
          </a:p>
          <a:p>
            <a:pPr algn="just">
              <a:buNone/>
            </a:pPr>
            <a:r>
              <a:rPr lang="en-US" dirty="0"/>
              <a:t>                                            when </a:t>
            </a:r>
            <a:r>
              <a:rPr lang="en-US" i="1" dirty="0"/>
              <a:t>x &gt; k</a:t>
            </a:r>
            <a:r>
              <a:rPr lang="en-US" dirty="0"/>
              <a:t>.</a:t>
            </a:r>
          </a:p>
          <a:p>
            <a:pPr algn="just"/>
            <a:r>
              <a:rPr lang="en-US" dirty="0"/>
              <a:t> We say that “</a:t>
            </a:r>
            <a:r>
              <a:rPr lang="en-US" i="1" dirty="0"/>
              <a:t>f</a:t>
            </a:r>
            <a:r>
              <a:rPr lang="en-US" dirty="0"/>
              <a:t>(</a:t>
            </a:r>
            <a:r>
              <a:rPr lang="en-US" i="1" dirty="0"/>
              <a:t>x</a:t>
            </a:r>
            <a:r>
              <a:rPr lang="en-US" dirty="0"/>
              <a:t>) is big-Omega of </a:t>
            </a:r>
            <a:r>
              <a:rPr lang="en-US" i="1" dirty="0"/>
              <a:t>g</a:t>
            </a:r>
            <a:r>
              <a:rPr lang="en-US" dirty="0"/>
              <a:t>(</a:t>
            </a:r>
            <a:r>
              <a:rPr lang="en-US" i="1" dirty="0"/>
              <a:t>x</a:t>
            </a:r>
            <a:r>
              <a:rPr lang="en-US" dirty="0"/>
              <a:t>).”</a:t>
            </a:r>
          </a:p>
          <a:p>
            <a:pPr algn="just"/>
            <a:r>
              <a:rPr lang="en-US" dirty="0"/>
              <a:t>Big-</a:t>
            </a:r>
            <a:r>
              <a:rPr lang="en-US" i="1" dirty="0"/>
              <a:t>O</a:t>
            </a:r>
            <a:r>
              <a:rPr lang="en-US" dirty="0"/>
              <a:t> gives an upper bound on the growth of a function, while Big-Omega gives a lower bound. Big-Omega tells us that a function grows at least as fast as another.</a:t>
            </a:r>
          </a:p>
          <a:p>
            <a:pPr algn="just"/>
            <a:r>
              <a:rPr lang="en-US" i="1" dirty="0"/>
              <a:t>f</a:t>
            </a:r>
            <a:r>
              <a:rPr lang="en-US" dirty="0"/>
              <a:t>(</a:t>
            </a:r>
            <a:r>
              <a:rPr lang="en-US" i="1" dirty="0"/>
              <a:t>x</a:t>
            </a:r>
            <a:r>
              <a:rPr lang="en-US" dirty="0"/>
              <a:t>) is  </a:t>
            </a:r>
            <a:r>
              <a:rPr lang="el-GR" dirty="0">
                <a:latin typeface="Cambria Math"/>
                <a:ea typeface="Cambria Math"/>
              </a:rPr>
              <a:t>Ω</a:t>
            </a:r>
            <a:r>
              <a:rPr lang="en-US" dirty="0">
                <a:ea typeface="Cambria Math"/>
              </a:rPr>
              <a:t>(</a:t>
            </a:r>
            <a:r>
              <a:rPr lang="en-US" i="1" dirty="0">
                <a:ea typeface="Cambria Math"/>
              </a:rPr>
              <a:t>g</a:t>
            </a:r>
            <a:r>
              <a:rPr lang="en-US" dirty="0">
                <a:ea typeface="Cambria Math"/>
              </a:rPr>
              <a:t>(</a:t>
            </a:r>
            <a:r>
              <a:rPr lang="en-US" i="1" dirty="0">
                <a:ea typeface="Cambria Math"/>
              </a:rPr>
              <a:t>x</a:t>
            </a:r>
            <a:r>
              <a:rPr lang="en-US" dirty="0">
                <a:ea typeface="Cambria Math"/>
              </a:rPr>
              <a:t>))</a:t>
            </a:r>
            <a:r>
              <a:rPr lang="en-US" dirty="0">
                <a:latin typeface="Cambria Math"/>
                <a:ea typeface="Cambria Math"/>
              </a:rPr>
              <a:t> </a:t>
            </a:r>
            <a:r>
              <a:rPr lang="en-US" dirty="0"/>
              <a:t>if and only if </a:t>
            </a:r>
            <a:r>
              <a:rPr lang="en-US" i="1" dirty="0"/>
              <a:t>g</a:t>
            </a:r>
            <a:r>
              <a:rPr lang="en-US" dirty="0"/>
              <a:t>(</a:t>
            </a:r>
            <a:r>
              <a:rPr lang="en-US" i="1" dirty="0"/>
              <a:t>x</a:t>
            </a:r>
            <a:r>
              <a:rPr lang="en-US" dirty="0"/>
              <a:t>) is </a:t>
            </a:r>
            <a:r>
              <a:rPr lang="en-US" i="1" dirty="0"/>
              <a:t>O</a:t>
            </a:r>
            <a:r>
              <a:rPr lang="en-US" dirty="0"/>
              <a:t>(</a:t>
            </a:r>
            <a:r>
              <a:rPr lang="en-US" i="1" dirty="0"/>
              <a:t>f</a:t>
            </a:r>
            <a:r>
              <a:rPr lang="en-US" dirty="0"/>
              <a:t>(</a:t>
            </a:r>
            <a:r>
              <a:rPr lang="en-US" i="1" dirty="0"/>
              <a:t>x</a:t>
            </a:r>
            <a:r>
              <a:rPr lang="en-US" dirty="0"/>
              <a:t>)). </a:t>
            </a:r>
          </a:p>
        </p:txBody>
      </p:sp>
      <p:pic>
        <p:nvPicPr>
          <p:cNvPr id="6" name="Picture 5" descr="addin_tmp.png"/>
          <p:cNvPicPr>
            <a:picLocks noChangeAspect="1"/>
          </p:cNvPicPr>
          <p:nvPr>
            <p:custDataLst>
              <p:tags r:id="rId1"/>
            </p:custDataLst>
          </p:nvPr>
        </p:nvPicPr>
        <p:blipFill>
          <a:blip r:embed="rId4" cstate="print"/>
          <a:stretch>
            <a:fillRect/>
          </a:stretch>
        </p:blipFill>
        <p:spPr>
          <a:xfrm>
            <a:off x="3733800" y="2667000"/>
            <a:ext cx="2128838" cy="319088"/>
          </a:xfrm>
          <a:prstGeom prst="rect">
            <a:avLst/>
          </a:prstGeom>
        </p:spPr>
      </p:pic>
      <p:pic>
        <p:nvPicPr>
          <p:cNvPr id="8" name="Picture 7" descr="addin_tmp.png"/>
          <p:cNvPicPr>
            <a:picLocks noChangeAspect="1"/>
          </p:cNvPicPr>
          <p:nvPr>
            <p:custDataLst>
              <p:tags r:id="rId2"/>
            </p:custDataLst>
          </p:nvPr>
        </p:nvPicPr>
        <p:blipFill>
          <a:blip r:embed="rId5" cstate="print"/>
          <a:stretch>
            <a:fillRect/>
          </a:stretch>
        </p:blipFill>
        <p:spPr>
          <a:xfrm>
            <a:off x="1371600" y="3567112"/>
            <a:ext cx="2157413" cy="319088"/>
          </a:xfrm>
          <a:prstGeom prst="rect">
            <a:avLst/>
          </a:prstGeom>
        </p:spPr>
      </p:pic>
      <p:sp>
        <p:nvSpPr>
          <p:cNvPr id="7" name="TextBox 6"/>
          <p:cNvSpPr txBox="1"/>
          <p:nvPr/>
        </p:nvSpPr>
        <p:spPr>
          <a:xfrm>
            <a:off x="6248400" y="3124200"/>
            <a:ext cx="2590800" cy="923330"/>
          </a:xfrm>
          <a:prstGeom prst="rect">
            <a:avLst/>
          </a:prstGeom>
          <a:noFill/>
          <a:ln>
            <a:solidFill>
              <a:schemeClr val="accent1"/>
            </a:solidFill>
          </a:ln>
        </p:spPr>
        <p:txBody>
          <a:bodyPr wrap="square" rtlCol="0">
            <a:spAutoFit/>
          </a:bodyPr>
          <a:lstStyle/>
          <a:p>
            <a:r>
              <a:rPr lang="el-GR" dirty="0">
                <a:latin typeface="Cambria Math"/>
                <a:ea typeface="Cambria Math"/>
              </a:rPr>
              <a:t>Ω</a:t>
            </a:r>
            <a:r>
              <a:rPr lang="en-US" dirty="0">
                <a:latin typeface="Cambria Math"/>
                <a:ea typeface="Cambria Math"/>
              </a:rPr>
              <a:t> is the upper case version of the lower case Greek letter </a:t>
            </a:r>
            <a:r>
              <a:rPr lang="el-GR" dirty="0">
                <a:latin typeface="Cambria Math"/>
                <a:ea typeface="Cambria Math"/>
              </a:rPr>
              <a:t>ω</a:t>
            </a:r>
            <a:r>
              <a:rPr lang="en-US" dirty="0">
                <a:latin typeface="Cambria Math"/>
                <a:ea typeface="Cambria Math"/>
              </a:rPr>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Big-Omega Notation</a:t>
            </a:r>
          </a:p>
        </p:txBody>
      </p:sp>
      <p:sp>
        <p:nvSpPr>
          <p:cNvPr id="3" name="Content Placeholder 2"/>
          <p:cNvSpPr>
            <a:spLocks noGrp="1"/>
          </p:cNvSpPr>
          <p:nvPr>
            <p:ph idx="1"/>
          </p:nvPr>
        </p:nvSpPr>
        <p:spPr>
          <a:xfrm>
            <a:off x="381000" y="1828800"/>
            <a:ext cx="8229600" cy="4389120"/>
          </a:xfrm>
        </p:spPr>
        <p:txBody>
          <a:bodyPr/>
          <a:lstStyle/>
          <a:p>
            <a:pPr>
              <a:buNone/>
            </a:pPr>
            <a:r>
              <a:rPr lang="en-US" b="1" dirty="0"/>
              <a:t>   Example</a:t>
            </a:r>
            <a:r>
              <a:rPr lang="en-US" dirty="0"/>
              <a:t>:  Show that                                        is</a:t>
            </a:r>
          </a:p>
          <a:p>
            <a:pPr>
              <a:buNone/>
            </a:pPr>
            <a:r>
              <a:rPr lang="en-US" dirty="0"/>
              <a:t>                       where                  .</a:t>
            </a:r>
          </a:p>
          <a:p>
            <a:pPr>
              <a:buNone/>
            </a:pPr>
            <a:r>
              <a:rPr lang="en-US" dirty="0"/>
              <a:t>    </a:t>
            </a:r>
            <a:r>
              <a:rPr lang="en-US" b="1" dirty="0"/>
              <a:t>Solution</a:t>
            </a:r>
            <a:r>
              <a:rPr lang="en-US" dirty="0"/>
              <a:t>:                                                     for all positive real numbers </a:t>
            </a:r>
            <a:r>
              <a:rPr lang="en-US" i="1" dirty="0"/>
              <a:t>x</a:t>
            </a:r>
            <a:r>
              <a:rPr lang="en-US" dirty="0"/>
              <a:t>.</a:t>
            </a:r>
          </a:p>
          <a:p>
            <a:pPr lvl="1"/>
            <a:r>
              <a:rPr lang="en-US" dirty="0"/>
              <a:t>Is it also the case that                     is                                  ?  </a:t>
            </a:r>
          </a:p>
        </p:txBody>
      </p:sp>
      <p:pic>
        <p:nvPicPr>
          <p:cNvPr id="11" name="Picture 10" descr="addin_tmp.png"/>
          <p:cNvPicPr>
            <a:picLocks noChangeAspect="1"/>
          </p:cNvPicPr>
          <p:nvPr>
            <p:custDataLst>
              <p:tags r:id="rId1"/>
            </p:custDataLst>
          </p:nvPr>
        </p:nvPicPr>
        <p:blipFill>
          <a:blip r:embed="rId8" cstate="print"/>
          <a:stretch>
            <a:fillRect/>
          </a:stretch>
        </p:blipFill>
        <p:spPr>
          <a:xfrm>
            <a:off x="3962400" y="1905000"/>
            <a:ext cx="2912269" cy="342900"/>
          </a:xfrm>
          <a:prstGeom prst="rect">
            <a:avLst/>
          </a:prstGeom>
        </p:spPr>
      </p:pic>
      <p:pic>
        <p:nvPicPr>
          <p:cNvPr id="15" name="Picture 14" descr="addin_tmp.png"/>
          <p:cNvPicPr>
            <a:picLocks noChangeAspect="1"/>
          </p:cNvPicPr>
          <p:nvPr>
            <p:custDataLst>
              <p:tags r:id="rId2"/>
            </p:custDataLst>
          </p:nvPr>
        </p:nvPicPr>
        <p:blipFill>
          <a:blip r:embed="rId9" cstate="print"/>
          <a:stretch>
            <a:fillRect/>
          </a:stretch>
        </p:blipFill>
        <p:spPr>
          <a:xfrm>
            <a:off x="914400" y="2362200"/>
            <a:ext cx="1023938" cy="319088"/>
          </a:xfrm>
          <a:prstGeom prst="rect">
            <a:avLst/>
          </a:prstGeom>
        </p:spPr>
      </p:pic>
      <p:pic>
        <p:nvPicPr>
          <p:cNvPr id="16" name="Picture 15" descr="addin_tmp.png"/>
          <p:cNvPicPr>
            <a:picLocks noChangeAspect="1"/>
          </p:cNvPicPr>
          <p:nvPr>
            <p:custDataLst>
              <p:tags r:id="rId3"/>
            </p:custDataLst>
          </p:nvPr>
        </p:nvPicPr>
        <p:blipFill>
          <a:blip r:embed="rId10" cstate="print"/>
          <a:stretch>
            <a:fillRect/>
          </a:stretch>
        </p:blipFill>
        <p:spPr>
          <a:xfrm>
            <a:off x="3352800" y="2362200"/>
            <a:ext cx="1304925" cy="342900"/>
          </a:xfrm>
          <a:prstGeom prst="rect">
            <a:avLst/>
          </a:prstGeom>
        </p:spPr>
      </p:pic>
      <p:pic>
        <p:nvPicPr>
          <p:cNvPr id="19" name="Picture 18" descr="addin_tmp.png"/>
          <p:cNvPicPr>
            <a:picLocks noChangeAspect="1"/>
          </p:cNvPicPr>
          <p:nvPr>
            <p:custDataLst>
              <p:tags r:id="rId4"/>
            </p:custDataLst>
          </p:nvPr>
        </p:nvPicPr>
        <p:blipFill>
          <a:blip r:embed="rId11" cstate="print"/>
          <a:stretch>
            <a:fillRect/>
          </a:stretch>
        </p:blipFill>
        <p:spPr>
          <a:xfrm>
            <a:off x="5867400" y="3733800"/>
            <a:ext cx="2345531" cy="342900"/>
          </a:xfrm>
          <a:prstGeom prst="rect">
            <a:avLst/>
          </a:prstGeom>
        </p:spPr>
      </p:pic>
      <p:pic>
        <p:nvPicPr>
          <p:cNvPr id="17" name="Picture 16" descr="addin_tmp.png"/>
          <p:cNvPicPr>
            <a:picLocks noChangeAspect="1"/>
          </p:cNvPicPr>
          <p:nvPr>
            <p:custDataLst>
              <p:tags r:id="rId5"/>
            </p:custDataLst>
          </p:nvPr>
        </p:nvPicPr>
        <p:blipFill>
          <a:blip r:embed="rId12" cstate="print"/>
          <a:stretch>
            <a:fillRect/>
          </a:stretch>
        </p:blipFill>
        <p:spPr>
          <a:xfrm>
            <a:off x="2514601" y="2895600"/>
            <a:ext cx="3876675" cy="342900"/>
          </a:xfrm>
          <a:prstGeom prst="rect">
            <a:avLst/>
          </a:prstGeom>
        </p:spPr>
      </p:pic>
      <p:pic>
        <p:nvPicPr>
          <p:cNvPr id="18" name="Picture 17" descr="addin_tmp.png"/>
          <p:cNvPicPr>
            <a:picLocks noChangeAspect="1"/>
          </p:cNvPicPr>
          <p:nvPr>
            <p:custDataLst>
              <p:tags r:id="rId6"/>
            </p:custDataLst>
          </p:nvPr>
        </p:nvPicPr>
        <p:blipFill>
          <a:blip r:embed="rId10" cstate="print"/>
          <a:stretch>
            <a:fillRect/>
          </a:stretch>
        </p:blipFill>
        <p:spPr>
          <a:xfrm>
            <a:off x="4038600" y="3733800"/>
            <a:ext cx="1304925" cy="3429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Big-Theta Notation</a:t>
            </a:r>
          </a:p>
        </p:txBody>
      </p:sp>
      <p:sp>
        <p:nvSpPr>
          <p:cNvPr id="3" name="Content Placeholder 2"/>
          <p:cNvSpPr>
            <a:spLocks noGrp="1"/>
          </p:cNvSpPr>
          <p:nvPr>
            <p:ph idx="1"/>
          </p:nvPr>
        </p:nvSpPr>
        <p:spPr/>
        <p:txBody>
          <a:bodyPr>
            <a:normAutofit fontScale="92500" lnSpcReduction="10000"/>
          </a:bodyPr>
          <a:lstStyle/>
          <a:p>
            <a:r>
              <a:rPr lang="en-US" b="1" dirty="0"/>
              <a:t>Definition</a:t>
            </a:r>
            <a:r>
              <a:rPr lang="en-US" dirty="0"/>
              <a:t>: Let </a:t>
            </a:r>
            <a:r>
              <a:rPr lang="en-US" i="1" dirty="0"/>
              <a:t>f</a:t>
            </a:r>
            <a:r>
              <a:rPr lang="en-US" dirty="0"/>
              <a:t> and </a:t>
            </a:r>
            <a:r>
              <a:rPr lang="en-US" i="1" dirty="0"/>
              <a:t>g</a:t>
            </a:r>
            <a:r>
              <a:rPr lang="en-US" dirty="0"/>
              <a:t> be functions from the set of integers or the set of real numbers to the set of real numbers. The function                                 if </a:t>
            </a:r>
          </a:p>
          <a:p>
            <a:pPr>
              <a:buNone/>
            </a:pPr>
            <a:r>
              <a:rPr lang="en-US" dirty="0"/>
              <a:t>                                    and                              . </a:t>
            </a:r>
          </a:p>
          <a:p>
            <a:endParaRPr lang="en-US" dirty="0"/>
          </a:p>
          <a:p>
            <a:r>
              <a:rPr lang="en-US" dirty="0"/>
              <a:t> We say that “f is big-Theta of </a:t>
            </a:r>
            <a:r>
              <a:rPr lang="en-US" i="1" dirty="0"/>
              <a:t>g</a:t>
            </a:r>
            <a:r>
              <a:rPr lang="en-US" dirty="0"/>
              <a:t>(</a:t>
            </a:r>
            <a:r>
              <a:rPr lang="en-US" i="1" dirty="0"/>
              <a:t>x</a:t>
            </a:r>
            <a:r>
              <a:rPr lang="en-US" dirty="0"/>
              <a:t>)” and also that “</a:t>
            </a:r>
            <a:r>
              <a:rPr lang="en-US" i="1" dirty="0"/>
              <a:t>f</a:t>
            </a:r>
            <a:r>
              <a:rPr lang="en-US" dirty="0"/>
              <a:t>(</a:t>
            </a:r>
            <a:r>
              <a:rPr lang="en-US" i="1" dirty="0"/>
              <a:t>x</a:t>
            </a:r>
            <a:r>
              <a:rPr lang="en-US" dirty="0"/>
              <a:t>) is of </a:t>
            </a:r>
            <a:r>
              <a:rPr lang="en-US" i="1" dirty="0"/>
              <a:t>order</a:t>
            </a:r>
            <a:r>
              <a:rPr lang="en-US" dirty="0"/>
              <a:t> </a:t>
            </a:r>
            <a:r>
              <a:rPr lang="en-US" i="1" dirty="0"/>
              <a:t>g</a:t>
            </a:r>
            <a:r>
              <a:rPr lang="en-US" dirty="0"/>
              <a:t>(</a:t>
            </a:r>
            <a:r>
              <a:rPr lang="en-US" i="1" dirty="0"/>
              <a:t>x</a:t>
            </a:r>
            <a:r>
              <a:rPr lang="en-US" dirty="0"/>
              <a:t>)”   and also that “</a:t>
            </a:r>
            <a:r>
              <a:rPr lang="en-US" i="1" dirty="0"/>
              <a:t>f</a:t>
            </a:r>
            <a:r>
              <a:rPr lang="en-US" dirty="0"/>
              <a:t>(</a:t>
            </a:r>
            <a:r>
              <a:rPr lang="en-US" i="1" dirty="0"/>
              <a:t>x</a:t>
            </a:r>
            <a:r>
              <a:rPr lang="en-US" dirty="0"/>
              <a:t>) and </a:t>
            </a:r>
            <a:r>
              <a:rPr lang="en-US" i="1" dirty="0"/>
              <a:t>g</a:t>
            </a:r>
            <a:r>
              <a:rPr lang="en-US" dirty="0"/>
              <a:t>(</a:t>
            </a:r>
            <a:r>
              <a:rPr lang="en-US" i="1" dirty="0"/>
              <a:t>x</a:t>
            </a:r>
            <a:r>
              <a:rPr lang="en-US" dirty="0"/>
              <a:t>) are of the </a:t>
            </a:r>
            <a:r>
              <a:rPr lang="en-US" i="1" dirty="0"/>
              <a:t>same order</a:t>
            </a:r>
            <a:r>
              <a:rPr lang="en-US" dirty="0"/>
              <a:t>.”   </a:t>
            </a:r>
          </a:p>
          <a:p>
            <a:r>
              <a:rPr lang="en-US" dirty="0"/>
              <a:t>                               if and only if there exists constants </a:t>
            </a:r>
            <a:r>
              <a:rPr lang="en-US" i="1" dirty="0"/>
              <a:t>C</a:t>
            </a:r>
            <a:r>
              <a:rPr lang="en-US" baseline="-25000" dirty="0">
                <a:latin typeface="Cambria Math" pitchFamily="18" charset="0"/>
                <a:ea typeface="Cambria Math" pitchFamily="18" charset="0"/>
              </a:rPr>
              <a:t>1</a:t>
            </a:r>
            <a:r>
              <a:rPr lang="en-US" baseline="-25000" dirty="0"/>
              <a:t> </a:t>
            </a:r>
            <a:r>
              <a:rPr lang="en-US" dirty="0"/>
              <a:t>,</a:t>
            </a:r>
            <a:r>
              <a:rPr lang="en-US" baseline="-25000" dirty="0"/>
              <a:t> </a:t>
            </a:r>
            <a:r>
              <a:rPr lang="en-US" i="1" dirty="0"/>
              <a:t>C</a:t>
            </a:r>
            <a:r>
              <a:rPr lang="en-US" baseline="-25000" dirty="0">
                <a:latin typeface="Cambria Math" pitchFamily="18" charset="0"/>
                <a:ea typeface="Cambria Math" pitchFamily="18" charset="0"/>
              </a:rPr>
              <a:t>2</a:t>
            </a:r>
            <a:r>
              <a:rPr lang="en-US" dirty="0"/>
              <a:t> and </a:t>
            </a:r>
            <a:r>
              <a:rPr lang="en-US" i="1" dirty="0"/>
              <a:t>k </a:t>
            </a:r>
            <a:r>
              <a:rPr lang="en-US" dirty="0"/>
              <a:t>such that </a:t>
            </a:r>
            <a:r>
              <a:rPr lang="en-US" i="1" dirty="0"/>
              <a:t>C</a:t>
            </a:r>
            <a:r>
              <a:rPr lang="en-US" baseline="-25000" dirty="0">
                <a:latin typeface="Cambria Math" pitchFamily="18" charset="0"/>
                <a:ea typeface="Cambria Math" pitchFamily="18" charset="0"/>
              </a:rPr>
              <a:t>1</a:t>
            </a:r>
            <a:r>
              <a:rPr lang="en-US" i="1" dirty="0"/>
              <a:t>g</a:t>
            </a:r>
            <a:r>
              <a:rPr lang="en-US" dirty="0"/>
              <a:t>(</a:t>
            </a:r>
            <a:r>
              <a:rPr lang="en-US" i="1" dirty="0"/>
              <a:t>x</a:t>
            </a:r>
            <a:r>
              <a:rPr lang="en-US" dirty="0"/>
              <a:t>)</a:t>
            </a:r>
            <a:r>
              <a:rPr lang="en-US" baseline="-25000" dirty="0"/>
              <a:t> </a:t>
            </a:r>
            <a:r>
              <a:rPr lang="en-US" dirty="0"/>
              <a:t>&lt;</a:t>
            </a:r>
            <a:r>
              <a:rPr lang="en-US" baseline="-25000" dirty="0"/>
              <a:t> </a:t>
            </a:r>
            <a:r>
              <a:rPr lang="en-US" baseline="-25000" dirty="0">
                <a:latin typeface="Cambria Math" pitchFamily="18" charset="0"/>
                <a:ea typeface="Cambria Math" pitchFamily="18" charset="0"/>
              </a:rPr>
              <a:t> </a:t>
            </a:r>
            <a:r>
              <a:rPr lang="en-US" i="1" dirty="0"/>
              <a:t>f</a:t>
            </a:r>
            <a:r>
              <a:rPr lang="en-US" dirty="0"/>
              <a:t>(</a:t>
            </a:r>
            <a:r>
              <a:rPr lang="en-US" i="1" dirty="0"/>
              <a:t>x</a:t>
            </a:r>
            <a:r>
              <a:rPr lang="en-US" dirty="0"/>
              <a:t>) &lt;</a:t>
            </a:r>
            <a:r>
              <a:rPr lang="en-US" baseline="-25000" dirty="0"/>
              <a:t> </a:t>
            </a:r>
            <a:r>
              <a:rPr lang="en-US" i="1" dirty="0"/>
              <a:t>C</a:t>
            </a:r>
            <a:r>
              <a:rPr lang="en-US" baseline="-25000" dirty="0">
                <a:latin typeface="Cambria Math" pitchFamily="18" charset="0"/>
                <a:ea typeface="Cambria Math" pitchFamily="18" charset="0"/>
              </a:rPr>
              <a:t>2 </a:t>
            </a:r>
            <a:r>
              <a:rPr lang="en-US" i="1" dirty="0"/>
              <a:t>g</a:t>
            </a:r>
            <a:r>
              <a:rPr lang="en-US" dirty="0"/>
              <a:t>(</a:t>
            </a:r>
            <a:r>
              <a:rPr lang="en-US" i="1" dirty="0"/>
              <a:t>x</a:t>
            </a:r>
            <a:r>
              <a:rPr lang="en-US" dirty="0"/>
              <a:t>)  if </a:t>
            </a:r>
            <a:r>
              <a:rPr lang="en-US" i="1" dirty="0"/>
              <a:t>x</a:t>
            </a:r>
            <a:r>
              <a:rPr lang="en-US" dirty="0"/>
              <a:t> &gt; </a:t>
            </a:r>
            <a:r>
              <a:rPr lang="en-US" i="1" dirty="0"/>
              <a:t>k</a:t>
            </a:r>
            <a:r>
              <a:rPr lang="en-US" dirty="0"/>
              <a:t>. This follows from the definitions of big-</a:t>
            </a:r>
            <a:r>
              <a:rPr lang="en-US" i="1" dirty="0"/>
              <a:t>O</a:t>
            </a:r>
            <a:r>
              <a:rPr lang="en-US" dirty="0"/>
              <a:t> and big-Omega.</a:t>
            </a:r>
            <a:endParaRPr lang="en-US" i="1" dirty="0"/>
          </a:p>
          <a:p>
            <a:endParaRPr lang="en-US" dirty="0"/>
          </a:p>
        </p:txBody>
      </p:sp>
      <p:pic>
        <p:nvPicPr>
          <p:cNvPr id="7" name="Picture 6" descr="addin_tmp.png"/>
          <p:cNvPicPr>
            <a:picLocks noChangeAspect="1"/>
          </p:cNvPicPr>
          <p:nvPr>
            <p:custDataLst>
              <p:tags r:id="rId1"/>
            </p:custDataLst>
          </p:nvPr>
        </p:nvPicPr>
        <p:blipFill>
          <a:blip r:embed="rId6" cstate="print"/>
          <a:stretch>
            <a:fillRect/>
          </a:stretch>
        </p:blipFill>
        <p:spPr>
          <a:xfrm>
            <a:off x="3886200" y="2667000"/>
            <a:ext cx="2145506" cy="319088"/>
          </a:xfrm>
          <a:prstGeom prst="rect">
            <a:avLst/>
          </a:prstGeom>
        </p:spPr>
      </p:pic>
      <p:pic>
        <p:nvPicPr>
          <p:cNvPr id="10" name="Picture 9" descr="addin_tmp.png"/>
          <p:cNvPicPr>
            <a:picLocks noChangeAspect="1"/>
          </p:cNvPicPr>
          <p:nvPr>
            <p:custDataLst>
              <p:tags r:id="rId2"/>
            </p:custDataLst>
          </p:nvPr>
        </p:nvPicPr>
        <p:blipFill>
          <a:blip r:embed="rId7" cstate="print"/>
          <a:stretch>
            <a:fillRect/>
          </a:stretch>
        </p:blipFill>
        <p:spPr>
          <a:xfrm>
            <a:off x="3886200" y="3048000"/>
            <a:ext cx="2128838" cy="319088"/>
          </a:xfrm>
          <a:prstGeom prst="rect">
            <a:avLst/>
          </a:prstGeom>
        </p:spPr>
      </p:pic>
      <p:pic>
        <p:nvPicPr>
          <p:cNvPr id="9" name="Picture 8" descr="addin_tmp.png"/>
          <p:cNvPicPr>
            <a:picLocks noChangeAspect="1"/>
          </p:cNvPicPr>
          <p:nvPr>
            <p:custDataLst>
              <p:tags r:id="rId3"/>
            </p:custDataLst>
          </p:nvPr>
        </p:nvPicPr>
        <p:blipFill>
          <a:blip r:embed="rId8" cstate="print"/>
          <a:stretch>
            <a:fillRect/>
          </a:stretch>
        </p:blipFill>
        <p:spPr>
          <a:xfrm>
            <a:off x="990600" y="3048000"/>
            <a:ext cx="2150269" cy="319088"/>
          </a:xfrm>
          <a:prstGeom prst="rect">
            <a:avLst/>
          </a:prstGeom>
        </p:spPr>
      </p:pic>
      <p:pic>
        <p:nvPicPr>
          <p:cNvPr id="11" name="Picture 10" descr="addin_tmp.png"/>
          <p:cNvPicPr>
            <a:picLocks noChangeAspect="1"/>
          </p:cNvPicPr>
          <p:nvPr>
            <p:custDataLst>
              <p:tags r:id="rId4"/>
            </p:custDataLst>
          </p:nvPr>
        </p:nvPicPr>
        <p:blipFill>
          <a:blip r:embed="rId6" cstate="print"/>
          <a:stretch>
            <a:fillRect/>
          </a:stretch>
        </p:blipFill>
        <p:spPr>
          <a:xfrm>
            <a:off x="838200" y="4876800"/>
            <a:ext cx="2145506" cy="319088"/>
          </a:xfrm>
          <a:prstGeom prst="rect">
            <a:avLst/>
          </a:prstGeom>
        </p:spPr>
      </p:pic>
      <p:sp>
        <p:nvSpPr>
          <p:cNvPr id="8" name="TextBox 7"/>
          <p:cNvSpPr txBox="1"/>
          <p:nvPr/>
        </p:nvSpPr>
        <p:spPr>
          <a:xfrm>
            <a:off x="6172200" y="990600"/>
            <a:ext cx="2590800" cy="923330"/>
          </a:xfrm>
          <a:prstGeom prst="rect">
            <a:avLst/>
          </a:prstGeom>
          <a:noFill/>
          <a:ln>
            <a:solidFill>
              <a:schemeClr val="accent1"/>
            </a:solidFill>
          </a:ln>
        </p:spPr>
        <p:txBody>
          <a:bodyPr wrap="square" rtlCol="0">
            <a:spAutoFit/>
          </a:bodyPr>
          <a:lstStyle/>
          <a:p>
            <a:r>
              <a:rPr lang="en-US" dirty="0">
                <a:latin typeface="Cambria Math"/>
                <a:ea typeface="Cambria Math"/>
              </a:rPr>
              <a:t> </a:t>
            </a:r>
            <a:r>
              <a:rPr lang="el-GR" dirty="0">
                <a:latin typeface="Cambria Math"/>
                <a:ea typeface="Cambria Math"/>
              </a:rPr>
              <a:t>Θ</a:t>
            </a:r>
            <a:r>
              <a:rPr lang="en-US" dirty="0">
                <a:latin typeface="Cambria Math"/>
                <a:ea typeface="Cambria Math"/>
              </a:rPr>
              <a:t> is the upper case version of the lower case Greek letter </a:t>
            </a:r>
            <a:r>
              <a:rPr lang="el-GR" dirty="0">
                <a:latin typeface="Cambria Math"/>
                <a:ea typeface="Cambria Math"/>
              </a:rPr>
              <a:t>θ</a:t>
            </a:r>
            <a:r>
              <a:rPr lang="en-US" dirty="0">
                <a:latin typeface="Cambria Math"/>
                <a:ea typeface="Cambria Math"/>
              </a:rPr>
              <a:t>.</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Theta Notation</a:t>
            </a:r>
          </a:p>
        </p:txBody>
      </p:sp>
      <p:sp>
        <p:nvSpPr>
          <p:cNvPr id="3" name="Content Placeholder 2"/>
          <p:cNvSpPr>
            <a:spLocks noGrp="1"/>
          </p:cNvSpPr>
          <p:nvPr>
            <p:ph idx="1"/>
          </p:nvPr>
        </p:nvSpPr>
        <p:spPr/>
        <p:txBody>
          <a:bodyPr>
            <a:normAutofit fontScale="92500" lnSpcReduction="20000"/>
          </a:bodyPr>
          <a:lstStyle/>
          <a:p>
            <a:pPr>
              <a:buNone/>
            </a:pPr>
            <a:r>
              <a:rPr lang="en-US" b="1" dirty="0"/>
              <a:t>   Example</a:t>
            </a:r>
            <a:r>
              <a:rPr lang="en-US" dirty="0"/>
              <a:t>: Show that the sum of the first </a:t>
            </a:r>
            <a:r>
              <a:rPr lang="en-US" i="1" dirty="0"/>
              <a:t>n</a:t>
            </a:r>
            <a:r>
              <a:rPr lang="en-US" dirty="0"/>
              <a:t> positive integers is </a:t>
            </a:r>
            <a:r>
              <a:rPr lang="el-GR" dirty="0">
                <a:latin typeface="Cambria Math"/>
                <a:ea typeface="Cambria Math"/>
              </a:rPr>
              <a:t>Θ</a:t>
            </a:r>
            <a:r>
              <a:rPr lang="en-US" dirty="0"/>
              <a:t>(</a:t>
            </a:r>
            <a:r>
              <a:rPr lang="en-US" i="1" dirty="0"/>
              <a:t>n</a:t>
            </a:r>
            <a:r>
              <a:rPr lang="en-US" baseline="30000" dirty="0">
                <a:latin typeface="Cambria Math" pitchFamily="18" charset="0"/>
                <a:ea typeface="Cambria Math" pitchFamily="18" charset="0"/>
              </a:rPr>
              <a:t>2</a:t>
            </a:r>
            <a:r>
              <a:rPr lang="en-US" dirty="0"/>
              <a:t>).</a:t>
            </a:r>
          </a:p>
          <a:p>
            <a:pPr>
              <a:buNone/>
            </a:pPr>
            <a:r>
              <a:rPr lang="en-US" dirty="0"/>
              <a:t>    </a:t>
            </a:r>
            <a:r>
              <a:rPr lang="en-US" b="1" dirty="0"/>
              <a:t>Solution</a:t>
            </a:r>
            <a:r>
              <a:rPr lang="en-US" dirty="0"/>
              <a:t>: Let </a:t>
            </a:r>
            <a:r>
              <a:rPr lang="en-US" i="1" dirty="0"/>
              <a:t>f</a:t>
            </a:r>
            <a:r>
              <a:rPr lang="en-US" dirty="0"/>
              <a:t>(</a:t>
            </a:r>
            <a:r>
              <a:rPr lang="en-US" i="1" dirty="0"/>
              <a:t>n</a:t>
            </a:r>
            <a:r>
              <a:rPr lang="en-US" dirty="0"/>
              <a:t>) = </a:t>
            </a:r>
            <a:r>
              <a:rPr lang="en-US" dirty="0">
                <a:latin typeface="Cambria Math" pitchFamily="18" charset="0"/>
                <a:ea typeface="Cambria Math" pitchFamily="18" charset="0"/>
              </a:rPr>
              <a:t>1</a:t>
            </a:r>
            <a:r>
              <a:rPr lang="en-US" dirty="0"/>
              <a:t> + </a:t>
            </a:r>
            <a:r>
              <a:rPr lang="en-US" dirty="0">
                <a:latin typeface="Cambria Math" pitchFamily="18" charset="0"/>
                <a:ea typeface="Cambria Math" pitchFamily="18" charset="0"/>
              </a:rPr>
              <a:t>2</a:t>
            </a:r>
            <a:r>
              <a:rPr lang="en-US" dirty="0"/>
              <a:t> + </a:t>
            </a:r>
            <a:r>
              <a:rPr lang="en-US" dirty="0">
                <a:latin typeface="Cambria Math"/>
                <a:ea typeface="Cambria Math"/>
              </a:rPr>
              <a:t>∙∙∙  </a:t>
            </a:r>
            <a:r>
              <a:rPr lang="en-US" dirty="0">
                <a:ea typeface="Cambria Math"/>
              </a:rPr>
              <a:t>+ </a:t>
            </a:r>
            <a:r>
              <a:rPr lang="en-US" i="1" dirty="0">
                <a:ea typeface="Cambria Math"/>
              </a:rPr>
              <a:t>n</a:t>
            </a:r>
            <a:r>
              <a:rPr lang="en-US" dirty="0">
                <a:ea typeface="Cambria Math"/>
              </a:rPr>
              <a:t>.</a:t>
            </a:r>
            <a:endParaRPr lang="en-US" dirty="0"/>
          </a:p>
          <a:p>
            <a:pPr marL="880110" lvl="1" indent="-514350"/>
            <a:r>
              <a:rPr lang="en-US" dirty="0"/>
              <a:t>We have already shown that </a:t>
            </a:r>
            <a:r>
              <a:rPr lang="en-US" i="1" dirty="0"/>
              <a:t>f</a:t>
            </a:r>
            <a:r>
              <a:rPr lang="en-US" dirty="0"/>
              <a:t>(</a:t>
            </a:r>
            <a:r>
              <a:rPr lang="en-US" i="1" dirty="0"/>
              <a:t>n</a:t>
            </a:r>
            <a:r>
              <a:rPr lang="en-US" dirty="0"/>
              <a:t>) is </a:t>
            </a:r>
            <a:r>
              <a:rPr lang="en-US" i="1" dirty="0"/>
              <a:t>O</a:t>
            </a:r>
            <a:r>
              <a:rPr lang="en-US" dirty="0"/>
              <a:t>(</a:t>
            </a:r>
            <a:r>
              <a:rPr lang="en-US" i="1" dirty="0"/>
              <a:t>n</a:t>
            </a:r>
            <a:r>
              <a:rPr lang="en-US" baseline="30000" dirty="0">
                <a:latin typeface="Cambria Math" pitchFamily="18" charset="0"/>
                <a:ea typeface="Cambria Math" pitchFamily="18" charset="0"/>
              </a:rPr>
              <a:t>2</a:t>
            </a:r>
            <a:r>
              <a:rPr lang="en-US" dirty="0"/>
              <a:t>).</a:t>
            </a:r>
          </a:p>
          <a:p>
            <a:pPr marL="880110" lvl="1" indent="-514350"/>
            <a:r>
              <a:rPr lang="en-US" dirty="0"/>
              <a:t>To show that </a:t>
            </a:r>
            <a:r>
              <a:rPr lang="en-US" i="1" dirty="0"/>
              <a:t>f</a:t>
            </a:r>
            <a:r>
              <a:rPr lang="en-US" dirty="0"/>
              <a:t>(</a:t>
            </a:r>
            <a:r>
              <a:rPr lang="en-US" i="1" dirty="0"/>
              <a:t>n</a:t>
            </a:r>
            <a:r>
              <a:rPr lang="en-US" dirty="0"/>
              <a:t>) is </a:t>
            </a:r>
            <a:r>
              <a:rPr lang="en-US" dirty="0">
                <a:latin typeface="Cambria Math"/>
                <a:ea typeface="Cambria Math"/>
              </a:rPr>
              <a:t>Ω</a:t>
            </a:r>
            <a:r>
              <a:rPr lang="en-US" dirty="0"/>
              <a:t>(</a:t>
            </a:r>
            <a:r>
              <a:rPr lang="en-US" i="1" dirty="0"/>
              <a:t>n</a:t>
            </a:r>
            <a:r>
              <a:rPr lang="en-US" baseline="30000" dirty="0">
                <a:latin typeface="Cambria Math" pitchFamily="18" charset="0"/>
                <a:ea typeface="Cambria Math" pitchFamily="18" charset="0"/>
              </a:rPr>
              <a:t>2</a:t>
            </a:r>
            <a:r>
              <a:rPr lang="en-US" dirty="0"/>
              <a:t>), we need a positive constant </a:t>
            </a:r>
            <a:r>
              <a:rPr lang="en-US" i="1" dirty="0"/>
              <a:t>C</a:t>
            </a:r>
            <a:r>
              <a:rPr lang="en-US" dirty="0"/>
              <a:t> such that </a:t>
            </a:r>
            <a:r>
              <a:rPr lang="en-US" i="1" dirty="0"/>
              <a:t>f</a:t>
            </a:r>
            <a:r>
              <a:rPr lang="en-US" dirty="0"/>
              <a:t>(</a:t>
            </a:r>
            <a:r>
              <a:rPr lang="en-US" i="1" dirty="0"/>
              <a:t>n</a:t>
            </a:r>
            <a:r>
              <a:rPr lang="en-US" dirty="0"/>
              <a:t>) &gt; </a:t>
            </a:r>
            <a:r>
              <a:rPr lang="en-US" i="1" dirty="0"/>
              <a:t>Cn</a:t>
            </a:r>
            <a:r>
              <a:rPr lang="en-US" baseline="30000" dirty="0">
                <a:latin typeface="Cambria Math" pitchFamily="18" charset="0"/>
                <a:ea typeface="Cambria Math" pitchFamily="18" charset="0"/>
              </a:rPr>
              <a:t>2   </a:t>
            </a:r>
            <a:r>
              <a:rPr lang="en-US" dirty="0">
                <a:latin typeface="Cambria Math" pitchFamily="18" charset="0"/>
                <a:ea typeface="Cambria Math" pitchFamily="18" charset="0"/>
              </a:rPr>
              <a:t>for sufficiently large </a:t>
            </a:r>
            <a:r>
              <a:rPr lang="en-US" i="1" dirty="0">
                <a:latin typeface="Cambria Math" pitchFamily="18" charset="0"/>
                <a:ea typeface="Cambria Math" pitchFamily="18" charset="0"/>
              </a:rPr>
              <a:t>n</a:t>
            </a:r>
            <a:r>
              <a:rPr lang="en-US" dirty="0">
                <a:latin typeface="Cambria Math" pitchFamily="18" charset="0"/>
                <a:ea typeface="Cambria Math" pitchFamily="18" charset="0"/>
              </a:rPr>
              <a:t>.  Summing only the terms greater than</a:t>
            </a:r>
            <a:r>
              <a:rPr lang="en-US" dirty="0">
                <a:latin typeface="Cambria Math"/>
                <a:ea typeface="Cambria Math"/>
              </a:rPr>
              <a:t>  </a:t>
            </a:r>
            <a:r>
              <a:rPr lang="en-US" i="1" dirty="0">
                <a:ea typeface="Cambria Math"/>
              </a:rPr>
              <a:t>n</a:t>
            </a:r>
            <a:r>
              <a:rPr lang="en-US" dirty="0">
                <a:latin typeface="Cambria Math"/>
                <a:ea typeface="Cambria Math"/>
              </a:rPr>
              <a:t>/2 we obtain the inequality</a:t>
            </a:r>
            <a:endParaRPr lang="en-US" dirty="0">
              <a:latin typeface="Cambria Math" pitchFamily="18" charset="0"/>
              <a:ea typeface="Cambria Math" pitchFamily="18" charset="0"/>
            </a:endParaRPr>
          </a:p>
          <a:p>
            <a:pPr marL="880110" lvl="1" indent="-514350">
              <a:buNone/>
            </a:pPr>
            <a:r>
              <a:rPr lang="en-US" dirty="0">
                <a:latin typeface="Cambria Math" pitchFamily="18" charset="0"/>
                <a:ea typeface="Cambria Math" pitchFamily="18" charset="0"/>
              </a:rPr>
              <a:t>                1</a:t>
            </a:r>
            <a:r>
              <a:rPr lang="en-US" dirty="0"/>
              <a:t> + </a:t>
            </a:r>
            <a:r>
              <a:rPr lang="en-US" dirty="0">
                <a:latin typeface="Cambria Math" pitchFamily="18" charset="0"/>
                <a:ea typeface="Cambria Math" pitchFamily="18" charset="0"/>
              </a:rPr>
              <a:t>2</a:t>
            </a:r>
            <a:r>
              <a:rPr lang="en-US" dirty="0"/>
              <a:t> + </a:t>
            </a:r>
            <a:r>
              <a:rPr lang="en-US" dirty="0">
                <a:latin typeface="Cambria Math"/>
                <a:ea typeface="Cambria Math"/>
              </a:rPr>
              <a:t>∙∙∙  </a:t>
            </a:r>
            <a:r>
              <a:rPr lang="en-US" dirty="0">
                <a:ea typeface="Cambria Math"/>
              </a:rPr>
              <a:t>+ </a:t>
            </a:r>
            <a:r>
              <a:rPr lang="en-US" i="1" dirty="0">
                <a:ea typeface="Cambria Math"/>
              </a:rPr>
              <a:t>n</a:t>
            </a:r>
            <a:r>
              <a:rPr lang="en-US" dirty="0">
                <a:ea typeface="Cambria Math"/>
              </a:rPr>
              <a:t> </a:t>
            </a:r>
            <a:r>
              <a:rPr lang="en-US" dirty="0">
                <a:latin typeface="Cambria Math"/>
                <a:ea typeface="Cambria Math"/>
              </a:rPr>
              <a:t>≥  ⌈ </a:t>
            </a:r>
            <a:r>
              <a:rPr lang="en-US" i="1" dirty="0">
                <a:ea typeface="Cambria Math"/>
              </a:rPr>
              <a:t>n</a:t>
            </a:r>
            <a:r>
              <a:rPr lang="en-US" dirty="0">
                <a:latin typeface="Cambria Math"/>
                <a:ea typeface="Cambria Math"/>
              </a:rPr>
              <a:t>/2⌉ </a:t>
            </a:r>
            <a:r>
              <a:rPr lang="en-US" dirty="0">
                <a:ea typeface="Cambria Math"/>
              </a:rPr>
              <a:t>+ (</a:t>
            </a:r>
            <a:r>
              <a:rPr lang="en-US" dirty="0">
                <a:latin typeface="Cambria Math"/>
                <a:ea typeface="Cambria Math"/>
              </a:rPr>
              <a:t>⌈ </a:t>
            </a:r>
            <a:r>
              <a:rPr lang="en-US" i="1" dirty="0">
                <a:ea typeface="Cambria Math"/>
              </a:rPr>
              <a:t>n</a:t>
            </a:r>
            <a:r>
              <a:rPr lang="en-US" dirty="0">
                <a:latin typeface="Cambria Math"/>
                <a:ea typeface="Cambria Math"/>
              </a:rPr>
              <a:t>/2⌉ </a:t>
            </a:r>
            <a:r>
              <a:rPr lang="en-US" dirty="0">
                <a:ea typeface="Cambria Math"/>
              </a:rPr>
              <a:t>+</a:t>
            </a:r>
            <a:r>
              <a:rPr lang="en-US" dirty="0">
                <a:latin typeface="Cambria Math"/>
                <a:ea typeface="Cambria Math"/>
              </a:rPr>
              <a:t>  1) </a:t>
            </a:r>
            <a:r>
              <a:rPr lang="en-US" dirty="0">
                <a:ea typeface="Cambria Math"/>
              </a:rPr>
              <a:t>+</a:t>
            </a:r>
            <a:r>
              <a:rPr lang="en-US" dirty="0">
                <a:latin typeface="Cambria Math"/>
                <a:ea typeface="Cambria Math"/>
              </a:rPr>
              <a:t> ∙∙∙  </a:t>
            </a:r>
            <a:r>
              <a:rPr lang="en-US" dirty="0">
                <a:ea typeface="Cambria Math"/>
              </a:rPr>
              <a:t>+ </a:t>
            </a:r>
            <a:r>
              <a:rPr lang="en-US" i="1" dirty="0">
                <a:ea typeface="Cambria Math"/>
              </a:rPr>
              <a:t>n</a:t>
            </a:r>
            <a:r>
              <a:rPr lang="en-US" dirty="0">
                <a:ea typeface="Cambria Math"/>
              </a:rPr>
              <a:t> </a:t>
            </a:r>
          </a:p>
          <a:p>
            <a:pPr marL="880110" lvl="1" indent="-514350">
              <a:buNone/>
            </a:pPr>
            <a:r>
              <a:rPr lang="en-US" dirty="0">
                <a:latin typeface="Cambria Math"/>
                <a:ea typeface="Cambria Math"/>
              </a:rPr>
              <a:t>                                            ≥   ⌈ </a:t>
            </a:r>
            <a:r>
              <a:rPr lang="en-US" i="1" dirty="0">
                <a:ea typeface="Cambria Math"/>
              </a:rPr>
              <a:t>n</a:t>
            </a:r>
            <a:r>
              <a:rPr lang="en-US" dirty="0">
                <a:latin typeface="Cambria Math"/>
                <a:ea typeface="Cambria Math"/>
              </a:rPr>
              <a:t>/2⌉ </a:t>
            </a:r>
            <a:r>
              <a:rPr lang="en-US" dirty="0">
                <a:ea typeface="Cambria Math"/>
              </a:rPr>
              <a:t>+ </a:t>
            </a:r>
            <a:r>
              <a:rPr lang="en-US" dirty="0">
                <a:latin typeface="Cambria Math"/>
                <a:ea typeface="Cambria Math"/>
              </a:rPr>
              <a:t>⌈ </a:t>
            </a:r>
            <a:r>
              <a:rPr lang="en-US" i="1" dirty="0">
                <a:ea typeface="Cambria Math"/>
              </a:rPr>
              <a:t>n</a:t>
            </a:r>
            <a:r>
              <a:rPr lang="en-US" dirty="0">
                <a:latin typeface="Cambria Math"/>
                <a:ea typeface="Cambria Math"/>
              </a:rPr>
              <a:t>/2⌉ </a:t>
            </a:r>
            <a:r>
              <a:rPr lang="en-US" dirty="0">
                <a:ea typeface="Cambria Math"/>
              </a:rPr>
              <a:t>+</a:t>
            </a:r>
            <a:r>
              <a:rPr lang="en-US" dirty="0">
                <a:latin typeface="Cambria Math"/>
                <a:ea typeface="Cambria Math"/>
              </a:rPr>
              <a:t> ∙∙∙  </a:t>
            </a:r>
            <a:r>
              <a:rPr lang="en-US" dirty="0">
                <a:ea typeface="Cambria Math"/>
              </a:rPr>
              <a:t>+ </a:t>
            </a:r>
            <a:r>
              <a:rPr lang="en-US" dirty="0">
                <a:latin typeface="Cambria Math"/>
                <a:ea typeface="Cambria Math"/>
              </a:rPr>
              <a:t>⌈ </a:t>
            </a:r>
            <a:r>
              <a:rPr lang="en-US" i="1" dirty="0">
                <a:ea typeface="Cambria Math"/>
              </a:rPr>
              <a:t>n</a:t>
            </a:r>
            <a:r>
              <a:rPr lang="en-US" dirty="0">
                <a:latin typeface="Cambria Math"/>
                <a:ea typeface="Cambria Math"/>
              </a:rPr>
              <a:t>/2⌉</a:t>
            </a:r>
          </a:p>
          <a:p>
            <a:pPr marL="880110" lvl="1" indent="-514350">
              <a:buNone/>
            </a:pPr>
            <a:r>
              <a:rPr lang="en-US" dirty="0">
                <a:latin typeface="Cambria Math"/>
                <a:ea typeface="Cambria Math"/>
              </a:rPr>
              <a:t>                                            =   (n  − ⌈ </a:t>
            </a:r>
            <a:r>
              <a:rPr lang="en-US" i="1" dirty="0">
                <a:ea typeface="Cambria Math"/>
              </a:rPr>
              <a:t>n</a:t>
            </a:r>
            <a:r>
              <a:rPr lang="en-US" dirty="0">
                <a:latin typeface="Cambria Math"/>
                <a:ea typeface="Cambria Math"/>
              </a:rPr>
              <a:t>/2⌉ </a:t>
            </a:r>
            <a:r>
              <a:rPr lang="en-US" dirty="0">
                <a:ea typeface="Cambria Math"/>
              </a:rPr>
              <a:t>+ </a:t>
            </a:r>
            <a:r>
              <a:rPr lang="en-US" dirty="0">
                <a:latin typeface="Cambria Math" pitchFamily="18" charset="0"/>
                <a:ea typeface="Cambria Math" pitchFamily="18" charset="0"/>
              </a:rPr>
              <a:t>1</a:t>
            </a:r>
            <a:r>
              <a:rPr lang="en-US" dirty="0"/>
              <a:t> ) </a:t>
            </a:r>
            <a:r>
              <a:rPr lang="en-US" dirty="0">
                <a:latin typeface="Cambria Math"/>
                <a:ea typeface="Cambria Math"/>
              </a:rPr>
              <a:t>⌈ </a:t>
            </a:r>
            <a:r>
              <a:rPr lang="en-US" i="1" dirty="0">
                <a:ea typeface="Cambria Math"/>
              </a:rPr>
              <a:t>n</a:t>
            </a:r>
            <a:r>
              <a:rPr lang="en-US" dirty="0">
                <a:latin typeface="Cambria Math"/>
                <a:ea typeface="Cambria Math"/>
              </a:rPr>
              <a:t>/2⌉</a:t>
            </a:r>
          </a:p>
          <a:p>
            <a:pPr marL="880110" lvl="1" indent="-514350">
              <a:buNone/>
            </a:pPr>
            <a:r>
              <a:rPr lang="en-US" dirty="0">
                <a:ea typeface="Cambria Math" pitchFamily="18" charset="0"/>
              </a:rPr>
              <a:t>                                        </a:t>
            </a:r>
            <a:r>
              <a:rPr lang="en-US" dirty="0">
                <a:latin typeface="Cambria Math"/>
                <a:ea typeface="Cambria Math"/>
              </a:rPr>
              <a:t>≥   (n/2)(n/2) = </a:t>
            </a:r>
            <a:r>
              <a:rPr lang="en-US" i="1" dirty="0"/>
              <a:t>n</a:t>
            </a:r>
            <a:r>
              <a:rPr lang="en-US" baseline="30000" dirty="0">
                <a:latin typeface="Cambria Math" pitchFamily="18" charset="0"/>
                <a:ea typeface="Cambria Math" pitchFamily="18" charset="0"/>
              </a:rPr>
              <a:t>2</a:t>
            </a:r>
            <a:r>
              <a:rPr lang="en-US" dirty="0">
                <a:latin typeface="Cambria Math" pitchFamily="18" charset="0"/>
                <a:ea typeface="Cambria Math" pitchFamily="18" charset="0"/>
              </a:rPr>
              <a:t>/4</a:t>
            </a:r>
          </a:p>
          <a:p>
            <a:pPr marL="880110" lvl="1" indent="-514350"/>
            <a:r>
              <a:rPr lang="en-US" dirty="0">
                <a:latin typeface="Cambria Math" pitchFamily="18" charset="0"/>
                <a:ea typeface="Cambria Math" pitchFamily="18" charset="0"/>
              </a:rPr>
              <a:t>Taking </a:t>
            </a:r>
            <a:r>
              <a:rPr lang="en-US" i="1" dirty="0">
                <a:latin typeface="Cambria Math" pitchFamily="18" charset="0"/>
                <a:ea typeface="Cambria Math" pitchFamily="18" charset="0"/>
              </a:rPr>
              <a:t>C</a:t>
            </a:r>
            <a:r>
              <a:rPr lang="en-US" dirty="0">
                <a:latin typeface="Cambria Math" pitchFamily="18" charset="0"/>
                <a:ea typeface="Cambria Math" pitchFamily="18" charset="0"/>
              </a:rPr>
              <a:t> = ¼,  </a:t>
            </a:r>
            <a:r>
              <a:rPr lang="en-US" i="1" dirty="0"/>
              <a:t>f</a:t>
            </a:r>
            <a:r>
              <a:rPr lang="en-US" dirty="0"/>
              <a:t>(</a:t>
            </a:r>
            <a:r>
              <a:rPr lang="en-US" i="1" dirty="0"/>
              <a:t>n</a:t>
            </a:r>
            <a:r>
              <a:rPr lang="en-US" dirty="0"/>
              <a:t>) &gt; </a:t>
            </a:r>
            <a:r>
              <a:rPr lang="en-US" i="1" dirty="0"/>
              <a:t>Cn</a:t>
            </a:r>
            <a:r>
              <a:rPr lang="en-US" baseline="30000" dirty="0">
                <a:latin typeface="Cambria Math" pitchFamily="18" charset="0"/>
                <a:ea typeface="Cambria Math" pitchFamily="18" charset="0"/>
              </a:rPr>
              <a:t>2     </a:t>
            </a:r>
            <a:r>
              <a:rPr lang="en-US" dirty="0">
                <a:latin typeface="Cambria Math" pitchFamily="18" charset="0"/>
                <a:ea typeface="Cambria Math" pitchFamily="18" charset="0"/>
              </a:rPr>
              <a:t> for all positive integers </a:t>
            </a:r>
            <a:r>
              <a:rPr lang="en-US" i="1" dirty="0">
                <a:latin typeface="Cambria Math" pitchFamily="18" charset="0"/>
                <a:ea typeface="Cambria Math" pitchFamily="18" charset="0"/>
              </a:rPr>
              <a:t>n</a:t>
            </a:r>
            <a:r>
              <a:rPr lang="en-US" dirty="0">
                <a:latin typeface="Cambria Math" pitchFamily="18" charset="0"/>
                <a:ea typeface="Cambria Math" pitchFamily="18" charset="0"/>
              </a:rPr>
              <a:t>. Hence, </a:t>
            </a:r>
            <a:r>
              <a:rPr lang="en-US" i="1" dirty="0"/>
              <a:t>f</a:t>
            </a:r>
            <a:r>
              <a:rPr lang="en-US" dirty="0"/>
              <a:t>(</a:t>
            </a:r>
            <a:r>
              <a:rPr lang="en-US" i="1" dirty="0"/>
              <a:t>n</a:t>
            </a:r>
            <a:r>
              <a:rPr lang="en-US" dirty="0"/>
              <a:t>) is </a:t>
            </a:r>
            <a:r>
              <a:rPr lang="en-US" dirty="0">
                <a:latin typeface="Cambria Math"/>
                <a:ea typeface="Cambria Math"/>
              </a:rPr>
              <a:t>Ω</a:t>
            </a:r>
            <a:r>
              <a:rPr lang="en-US" dirty="0"/>
              <a:t>(</a:t>
            </a:r>
            <a:r>
              <a:rPr lang="en-US" i="1" dirty="0"/>
              <a:t>n</a:t>
            </a:r>
            <a:r>
              <a:rPr lang="en-US" baseline="30000" dirty="0">
                <a:latin typeface="Cambria Math" pitchFamily="18" charset="0"/>
                <a:ea typeface="Cambria Math" pitchFamily="18" charset="0"/>
              </a:rPr>
              <a:t>2</a:t>
            </a:r>
            <a:r>
              <a:rPr lang="en-US" dirty="0"/>
              <a:t>), and we can conclude that  </a:t>
            </a:r>
            <a:r>
              <a:rPr lang="en-US" i="1" dirty="0"/>
              <a:t>f</a:t>
            </a:r>
            <a:r>
              <a:rPr lang="en-US" dirty="0"/>
              <a:t>(</a:t>
            </a:r>
            <a:r>
              <a:rPr lang="en-US" i="1" dirty="0"/>
              <a:t>n</a:t>
            </a:r>
            <a:r>
              <a:rPr lang="en-US" dirty="0"/>
              <a:t>) is </a:t>
            </a:r>
            <a:r>
              <a:rPr lang="el-GR" dirty="0">
                <a:latin typeface="Cambria Math"/>
                <a:ea typeface="Cambria Math"/>
              </a:rPr>
              <a:t>Θ</a:t>
            </a:r>
            <a:r>
              <a:rPr lang="en-US"/>
              <a:t>(</a:t>
            </a:r>
            <a:r>
              <a:rPr lang="en-US" i="1"/>
              <a:t>n</a:t>
            </a:r>
            <a:r>
              <a:rPr lang="en-US" baseline="30000">
                <a:latin typeface="Cambria Math" pitchFamily="18" charset="0"/>
                <a:ea typeface="Cambria Math" pitchFamily="18" charset="0"/>
              </a:rPr>
              <a:t>2</a:t>
            </a:r>
            <a:r>
              <a:rPr lang="en-US"/>
              <a:t>). </a:t>
            </a:r>
            <a:endParaRPr lang="en-US" dirty="0">
              <a:ea typeface="Cambria Math" pitchFamily="18" charset="0"/>
            </a:endParaRPr>
          </a:p>
          <a:p>
            <a:pPr marL="880110" lvl="1" indent="-514350">
              <a:buNone/>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Big-Theta Notation</a:t>
            </a:r>
          </a:p>
        </p:txBody>
      </p:sp>
      <p:sp>
        <p:nvSpPr>
          <p:cNvPr id="3" name="Content Placeholder 2"/>
          <p:cNvSpPr>
            <a:spLocks noGrp="1"/>
          </p:cNvSpPr>
          <p:nvPr>
            <p:ph idx="1"/>
          </p:nvPr>
        </p:nvSpPr>
        <p:spPr/>
        <p:txBody>
          <a:bodyPr/>
          <a:lstStyle/>
          <a:p>
            <a:pPr>
              <a:buNone/>
            </a:pPr>
            <a:r>
              <a:rPr lang="en-US" dirty="0"/>
              <a:t>  </a:t>
            </a:r>
            <a:r>
              <a:rPr lang="en-US" b="1" dirty="0"/>
              <a:t>Example</a:t>
            </a:r>
            <a:r>
              <a:rPr lang="en-US" dirty="0"/>
              <a:t>: Sh0w that </a:t>
            </a:r>
            <a:r>
              <a:rPr lang="en-US" i="1" dirty="0"/>
              <a:t>f</a:t>
            </a:r>
            <a:r>
              <a:rPr lang="en-US" dirty="0"/>
              <a:t>(</a:t>
            </a:r>
            <a:r>
              <a:rPr lang="en-US" i="1" dirty="0"/>
              <a:t>x</a:t>
            </a:r>
            <a:r>
              <a:rPr lang="en-US" dirty="0"/>
              <a:t>) = </a:t>
            </a:r>
            <a:r>
              <a:rPr lang="en-US" dirty="0">
                <a:latin typeface="Cambria Math" pitchFamily="18" charset="0"/>
                <a:ea typeface="Cambria Math" pitchFamily="18" charset="0"/>
              </a:rPr>
              <a:t>3</a:t>
            </a:r>
            <a:r>
              <a:rPr lang="en-US" i="1" dirty="0"/>
              <a:t>x</a:t>
            </a:r>
            <a:r>
              <a:rPr lang="en-US" baseline="30000" dirty="0">
                <a:latin typeface="Cambria Math" pitchFamily="18" charset="0"/>
                <a:ea typeface="Cambria Math" pitchFamily="18" charset="0"/>
              </a:rPr>
              <a:t>2</a:t>
            </a:r>
            <a:r>
              <a:rPr lang="en-US" i="1" dirty="0"/>
              <a:t> </a:t>
            </a:r>
            <a:r>
              <a:rPr lang="en-US" dirty="0"/>
              <a:t>+ </a:t>
            </a:r>
            <a:r>
              <a:rPr lang="en-US" i="1" dirty="0"/>
              <a:t>8x</a:t>
            </a:r>
            <a:r>
              <a:rPr lang="en-US" baseline="30000" dirty="0"/>
              <a:t> </a:t>
            </a:r>
            <a:r>
              <a:rPr lang="en-US" dirty="0"/>
              <a:t>log </a:t>
            </a:r>
            <a:r>
              <a:rPr lang="en-US" i="1" dirty="0"/>
              <a:t>x </a:t>
            </a:r>
            <a:r>
              <a:rPr lang="en-US" dirty="0"/>
              <a:t>is</a:t>
            </a:r>
            <a:r>
              <a:rPr lang="en-US" dirty="0">
                <a:latin typeface="Cambria Math" pitchFamily="18" charset="0"/>
                <a:ea typeface="Cambria Math" pitchFamily="18" charset="0"/>
              </a:rPr>
              <a:t> Θ(</a:t>
            </a:r>
            <a:r>
              <a:rPr lang="en-US" i="1" dirty="0"/>
              <a:t>x</a:t>
            </a:r>
            <a:r>
              <a:rPr lang="en-US" baseline="30000" dirty="0">
                <a:latin typeface="Cambria Math" pitchFamily="18" charset="0"/>
                <a:ea typeface="Cambria Math" pitchFamily="18" charset="0"/>
              </a:rPr>
              <a:t>2</a:t>
            </a:r>
            <a:r>
              <a:rPr lang="en-US" dirty="0"/>
              <a:t>).</a:t>
            </a:r>
          </a:p>
          <a:p>
            <a:pPr>
              <a:buNone/>
            </a:pPr>
            <a:r>
              <a:rPr lang="en-US" dirty="0"/>
              <a:t>  </a:t>
            </a:r>
            <a:r>
              <a:rPr lang="en-US" b="1" dirty="0"/>
              <a:t>Solution</a:t>
            </a:r>
            <a:r>
              <a:rPr lang="en-US" dirty="0"/>
              <a:t>: </a:t>
            </a:r>
          </a:p>
          <a:p>
            <a:pPr lvl="2"/>
            <a:r>
              <a:rPr lang="en-US" sz="2400" dirty="0">
                <a:latin typeface="Cambria Math" pitchFamily="18" charset="0"/>
                <a:ea typeface="Cambria Math" pitchFamily="18" charset="0"/>
              </a:rPr>
              <a:t>3</a:t>
            </a:r>
            <a:r>
              <a:rPr lang="en-US" sz="2400" i="1" dirty="0"/>
              <a:t>x</a:t>
            </a:r>
            <a:r>
              <a:rPr lang="en-US" sz="2400" baseline="30000" dirty="0">
                <a:latin typeface="Cambria Math" pitchFamily="18" charset="0"/>
                <a:ea typeface="Cambria Math" pitchFamily="18" charset="0"/>
              </a:rPr>
              <a:t>2</a:t>
            </a:r>
            <a:r>
              <a:rPr lang="en-US" sz="2400" i="1" dirty="0"/>
              <a:t> </a:t>
            </a:r>
            <a:r>
              <a:rPr lang="en-US" sz="2400" dirty="0"/>
              <a:t>+ </a:t>
            </a:r>
            <a:r>
              <a:rPr lang="en-US" sz="2400" i="1" dirty="0"/>
              <a:t>8x</a:t>
            </a:r>
            <a:r>
              <a:rPr lang="en-US" sz="2400" baseline="30000" dirty="0"/>
              <a:t> </a:t>
            </a:r>
            <a:r>
              <a:rPr lang="en-US" sz="2400" dirty="0"/>
              <a:t>log </a:t>
            </a:r>
            <a:r>
              <a:rPr lang="en-US" sz="2400" i="1" dirty="0"/>
              <a:t>x  </a:t>
            </a:r>
            <a:r>
              <a:rPr lang="en-US" sz="2400" dirty="0">
                <a:latin typeface="Cambria Math"/>
                <a:ea typeface="Cambria Math"/>
              </a:rPr>
              <a:t>≤  </a:t>
            </a:r>
            <a:r>
              <a:rPr lang="en-US" sz="2400" dirty="0">
                <a:latin typeface="Cambria Math" pitchFamily="18" charset="0"/>
                <a:ea typeface="Cambria Math" pitchFamily="18" charset="0"/>
              </a:rPr>
              <a:t>11</a:t>
            </a:r>
            <a:r>
              <a:rPr lang="en-US" sz="2400" i="1" dirty="0"/>
              <a:t>x</a:t>
            </a:r>
            <a:r>
              <a:rPr lang="en-US" sz="2400" baseline="30000" dirty="0">
                <a:latin typeface="Cambria Math" pitchFamily="18" charset="0"/>
                <a:ea typeface="Cambria Math" pitchFamily="18" charset="0"/>
              </a:rPr>
              <a:t>2  </a:t>
            </a:r>
            <a:r>
              <a:rPr lang="en-US" sz="2400" dirty="0">
                <a:latin typeface="Cambria Math" pitchFamily="18" charset="0"/>
                <a:ea typeface="Cambria Math" pitchFamily="18" charset="0"/>
              </a:rPr>
              <a:t> for </a:t>
            </a:r>
            <a:r>
              <a:rPr lang="en-US" sz="2400" i="1" dirty="0">
                <a:latin typeface="Cambria Math" pitchFamily="18" charset="0"/>
                <a:ea typeface="Cambria Math" pitchFamily="18" charset="0"/>
              </a:rPr>
              <a:t>x</a:t>
            </a:r>
            <a:r>
              <a:rPr lang="en-US" sz="2400" dirty="0">
                <a:latin typeface="Cambria Math" pitchFamily="18" charset="0"/>
                <a:ea typeface="Cambria Math" pitchFamily="18" charset="0"/>
              </a:rPr>
              <a:t> &gt; 1,                                            since 0</a:t>
            </a:r>
            <a:r>
              <a:rPr lang="en-US" sz="2400" dirty="0">
                <a:latin typeface="Cambria Math"/>
                <a:ea typeface="Cambria Math"/>
              </a:rPr>
              <a:t> ≤</a:t>
            </a:r>
            <a:r>
              <a:rPr lang="en-US" sz="2400" dirty="0">
                <a:latin typeface="Cambria Math" pitchFamily="18" charset="0"/>
                <a:ea typeface="Cambria Math" pitchFamily="18" charset="0"/>
              </a:rPr>
              <a:t> </a:t>
            </a:r>
            <a:r>
              <a:rPr lang="en-US" sz="2400" i="1" dirty="0"/>
              <a:t>8x</a:t>
            </a:r>
            <a:r>
              <a:rPr lang="en-US" sz="2400" baseline="30000" dirty="0"/>
              <a:t> </a:t>
            </a:r>
            <a:r>
              <a:rPr lang="en-US" sz="2400" dirty="0"/>
              <a:t>log </a:t>
            </a:r>
            <a:r>
              <a:rPr lang="en-US" sz="2400" i="1" dirty="0"/>
              <a:t>x </a:t>
            </a:r>
            <a:r>
              <a:rPr lang="en-US" sz="2400" dirty="0">
                <a:latin typeface="Cambria Math"/>
                <a:ea typeface="Cambria Math"/>
              </a:rPr>
              <a:t>≤ </a:t>
            </a:r>
            <a:r>
              <a:rPr lang="en-US" sz="2400" dirty="0">
                <a:latin typeface="Cambria Math" pitchFamily="18" charset="0"/>
                <a:ea typeface="Cambria Math" pitchFamily="18" charset="0"/>
              </a:rPr>
              <a:t>8</a:t>
            </a:r>
            <a:r>
              <a:rPr lang="en-US" sz="2400" i="1" dirty="0"/>
              <a:t>x</a:t>
            </a:r>
            <a:r>
              <a:rPr lang="en-US" sz="2400" baseline="30000" dirty="0">
                <a:latin typeface="Cambria Math" pitchFamily="18" charset="0"/>
                <a:ea typeface="Cambria Math" pitchFamily="18" charset="0"/>
              </a:rPr>
              <a:t>2</a:t>
            </a:r>
            <a:r>
              <a:rPr lang="en-US" sz="2400" dirty="0">
                <a:latin typeface="Cambria Math" pitchFamily="18" charset="0"/>
                <a:ea typeface="Cambria Math" pitchFamily="18" charset="0"/>
              </a:rPr>
              <a:t> .</a:t>
            </a:r>
          </a:p>
          <a:p>
            <a:pPr lvl="3"/>
            <a:r>
              <a:rPr lang="en-US" sz="2400" dirty="0">
                <a:latin typeface="Cambria Math" pitchFamily="18" charset="0"/>
                <a:ea typeface="Cambria Math" pitchFamily="18" charset="0"/>
              </a:rPr>
              <a:t>Hence, 3</a:t>
            </a:r>
            <a:r>
              <a:rPr lang="en-US" sz="2400" i="1" dirty="0"/>
              <a:t>x</a:t>
            </a:r>
            <a:r>
              <a:rPr lang="en-US" sz="2400" baseline="30000" dirty="0">
                <a:latin typeface="Cambria Math" pitchFamily="18" charset="0"/>
                <a:ea typeface="Cambria Math" pitchFamily="18" charset="0"/>
              </a:rPr>
              <a:t>2</a:t>
            </a:r>
            <a:r>
              <a:rPr lang="en-US" sz="2400" i="1" dirty="0"/>
              <a:t> </a:t>
            </a:r>
            <a:r>
              <a:rPr lang="en-US" sz="2400" dirty="0"/>
              <a:t>+ </a:t>
            </a:r>
            <a:r>
              <a:rPr lang="en-US" sz="2400" i="1" dirty="0"/>
              <a:t>8x</a:t>
            </a:r>
            <a:r>
              <a:rPr lang="en-US" sz="2400" baseline="30000" dirty="0"/>
              <a:t> </a:t>
            </a:r>
            <a:r>
              <a:rPr lang="en-US" sz="2400" dirty="0"/>
              <a:t>log </a:t>
            </a:r>
            <a:r>
              <a:rPr lang="en-US" sz="2400" i="1" dirty="0"/>
              <a:t>x </a:t>
            </a:r>
            <a:r>
              <a:rPr lang="en-US" sz="2400" dirty="0"/>
              <a:t>is</a:t>
            </a:r>
            <a:r>
              <a:rPr lang="en-US" sz="2400" dirty="0">
                <a:latin typeface="Cambria Math" pitchFamily="18" charset="0"/>
                <a:ea typeface="Cambria Math" pitchFamily="18" charset="0"/>
              </a:rPr>
              <a:t> O(</a:t>
            </a:r>
            <a:r>
              <a:rPr lang="en-US" sz="2400" i="1" dirty="0"/>
              <a:t>x</a:t>
            </a:r>
            <a:r>
              <a:rPr lang="en-US" sz="2400" baseline="30000" dirty="0">
                <a:latin typeface="Cambria Math" pitchFamily="18" charset="0"/>
                <a:ea typeface="Cambria Math" pitchFamily="18" charset="0"/>
              </a:rPr>
              <a:t>2</a:t>
            </a:r>
            <a:r>
              <a:rPr lang="en-US" sz="2400" dirty="0"/>
              <a:t>).</a:t>
            </a:r>
          </a:p>
          <a:p>
            <a:pPr lvl="2"/>
            <a:r>
              <a:rPr lang="en-US" sz="2400" i="1" dirty="0"/>
              <a:t>x</a:t>
            </a:r>
            <a:r>
              <a:rPr lang="en-US" sz="2400" baseline="30000" dirty="0">
                <a:latin typeface="Cambria Math" pitchFamily="18" charset="0"/>
                <a:ea typeface="Cambria Math" pitchFamily="18" charset="0"/>
              </a:rPr>
              <a:t>2  </a:t>
            </a:r>
            <a:r>
              <a:rPr lang="en-US" sz="2400" dirty="0"/>
              <a:t>is clearly</a:t>
            </a:r>
            <a:r>
              <a:rPr lang="en-US" sz="2400" baseline="30000" dirty="0">
                <a:latin typeface="Cambria Math" pitchFamily="18" charset="0"/>
                <a:ea typeface="Cambria Math" pitchFamily="18" charset="0"/>
              </a:rPr>
              <a:t>     </a:t>
            </a:r>
            <a:r>
              <a:rPr lang="en-US" sz="2400" dirty="0">
                <a:latin typeface="Cambria Math" pitchFamily="18" charset="0"/>
                <a:ea typeface="Cambria Math" pitchFamily="18" charset="0"/>
              </a:rPr>
              <a:t>O(3</a:t>
            </a:r>
            <a:r>
              <a:rPr lang="en-US" sz="2400" i="1" dirty="0"/>
              <a:t>x</a:t>
            </a:r>
            <a:r>
              <a:rPr lang="en-US" sz="2400" baseline="30000" dirty="0">
                <a:latin typeface="Cambria Math" pitchFamily="18" charset="0"/>
                <a:ea typeface="Cambria Math" pitchFamily="18" charset="0"/>
              </a:rPr>
              <a:t>2  </a:t>
            </a:r>
            <a:r>
              <a:rPr lang="en-US" sz="2400" dirty="0"/>
              <a:t>+ </a:t>
            </a:r>
            <a:r>
              <a:rPr lang="en-US" sz="2400" i="1" dirty="0"/>
              <a:t>8x</a:t>
            </a:r>
            <a:r>
              <a:rPr lang="en-US" sz="2400" baseline="30000" dirty="0"/>
              <a:t> </a:t>
            </a:r>
            <a:r>
              <a:rPr lang="en-US" sz="2400" dirty="0"/>
              <a:t>log </a:t>
            </a:r>
            <a:r>
              <a:rPr lang="en-US" sz="2400" i="1" dirty="0"/>
              <a:t>x</a:t>
            </a:r>
            <a:r>
              <a:rPr lang="en-US" sz="2400" dirty="0"/>
              <a:t>)</a:t>
            </a:r>
          </a:p>
          <a:p>
            <a:pPr lvl="2"/>
            <a:r>
              <a:rPr lang="en-US" sz="2400" dirty="0">
                <a:latin typeface="Cambria Math" pitchFamily="18" charset="0"/>
                <a:ea typeface="Cambria Math" pitchFamily="18" charset="0"/>
              </a:rPr>
              <a:t>Hence, 3</a:t>
            </a:r>
            <a:r>
              <a:rPr lang="en-US" sz="2400" i="1" dirty="0"/>
              <a:t>x</a:t>
            </a:r>
            <a:r>
              <a:rPr lang="en-US" sz="2400" baseline="30000" dirty="0">
                <a:latin typeface="Cambria Math" pitchFamily="18" charset="0"/>
                <a:ea typeface="Cambria Math" pitchFamily="18" charset="0"/>
              </a:rPr>
              <a:t>2</a:t>
            </a:r>
            <a:r>
              <a:rPr lang="en-US" sz="2400" i="1" dirty="0"/>
              <a:t> </a:t>
            </a:r>
            <a:r>
              <a:rPr lang="en-US" sz="2400" dirty="0"/>
              <a:t>+ </a:t>
            </a:r>
            <a:r>
              <a:rPr lang="en-US" sz="2400" i="1" dirty="0"/>
              <a:t>8x</a:t>
            </a:r>
            <a:r>
              <a:rPr lang="en-US" sz="2400" baseline="30000" dirty="0"/>
              <a:t> </a:t>
            </a:r>
            <a:r>
              <a:rPr lang="en-US" sz="2400" dirty="0"/>
              <a:t>log </a:t>
            </a:r>
            <a:r>
              <a:rPr lang="en-US" sz="2400" i="1" dirty="0"/>
              <a:t>x </a:t>
            </a:r>
            <a:r>
              <a:rPr lang="en-US" sz="2400" dirty="0"/>
              <a:t>is</a:t>
            </a:r>
            <a:r>
              <a:rPr lang="en-US" sz="2400" dirty="0">
                <a:latin typeface="Cambria Math" pitchFamily="18" charset="0"/>
                <a:ea typeface="Cambria Math" pitchFamily="18" charset="0"/>
              </a:rPr>
              <a:t> Θ(</a:t>
            </a:r>
            <a:r>
              <a:rPr lang="en-US" sz="2400" i="1" dirty="0"/>
              <a:t>x</a:t>
            </a:r>
            <a:r>
              <a:rPr lang="en-US" sz="2400" baseline="30000" dirty="0">
                <a:latin typeface="Cambria Math" pitchFamily="18" charset="0"/>
                <a:ea typeface="Cambria Math" pitchFamily="18" charset="0"/>
              </a:rPr>
              <a:t>2</a:t>
            </a:r>
            <a:r>
              <a:rPr lang="en-US" sz="2400" dirty="0"/>
              <a:t>).</a:t>
            </a:r>
          </a:p>
          <a:p>
            <a:pPr lvl="2"/>
            <a:endParaRPr lang="en-US" dirty="0"/>
          </a:p>
          <a:p>
            <a:pPr lvl="1"/>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Big-Theta Notation</a:t>
            </a:r>
          </a:p>
        </p:txBody>
      </p:sp>
      <p:sp>
        <p:nvSpPr>
          <p:cNvPr id="3" name="Content Placeholder 2"/>
          <p:cNvSpPr>
            <a:spLocks noGrp="1"/>
          </p:cNvSpPr>
          <p:nvPr>
            <p:ph idx="1"/>
          </p:nvPr>
        </p:nvSpPr>
        <p:spPr/>
        <p:txBody>
          <a:bodyPr/>
          <a:lstStyle/>
          <a:p>
            <a:r>
              <a:rPr lang="en-US" dirty="0"/>
              <a:t>When                             it must  also be the case that</a:t>
            </a:r>
          </a:p>
          <a:p>
            <a:endParaRPr lang="en-US" dirty="0"/>
          </a:p>
          <a:p>
            <a:r>
              <a:rPr lang="en-US" dirty="0"/>
              <a:t>Note that                               if and only if it is the case that                              and                             .</a:t>
            </a:r>
          </a:p>
          <a:p>
            <a:r>
              <a:rPr lang="en-US" dirty="0"/>
              <a:t>                                                       </a:t>
            </a:r>
          </a:p>
        </p:txBody>
      </p:sp>
      <p:pic>
        <p:nvPicPr>
          <p:cNvPr id="6" name="Picture 5" descr="addin_tmp.png"/>
          <p:cNvPicPr>
            <a:picLocks noChangeAspect="1"/>
          </p:cNvPicPr>
          <p:nvPr>
            <p:custDataLst>
              <p:tags r:id="rId1"/>
            </p:custDataLst>
          </p:nvPr>
        </p:nvPicPr>
        <p:blipFill>
          <a:blip r:embed="rId7" cstate="print"/>
          <a:stretch>
            <a:fillRect/>
          </a:stretch>
        </p:blipFill>
        <p:spPr>
          <a:xfrm>
            <a:off x="1828800" y="2057400"/>
            <a:ext cx="2145506" cy="319088"/>
          </a:xfrm>
          <a:prstGeom prst="rect">
            <a:avLst/>
          </a:prstGeom>
        </p:spPr>
      </p:pic>
      <p:pic>
        <p:nvPicPr>
          <p:cNvPr id="4" name="Picture 3"/>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981201" y="2438400"/>
            <a:ext cx="2252663" cy="319088"/>
          </a:xfrm>
          <a:prstGeom prst="rect">
            <a:avLst/>
          </a:prstGeom>
        </p:spPr>
      </p:pic>
      <p:pic>
        <p:nvPicPr>
          <p:cNvPr id="10" name="Picture 9" descr="addin_tmp.png"/>
          <p:cNvPicPr>
            <a:picLocks noChangeAspect="1"/>
          </p:cNvPicPr>
          <p:nvPr>
            <p:custDataLst>
              <p:tags r:id="rId3"/>
            </p:custDataLst>
          </p:nvPr>
        </p:nvPicPr>
        <p:blipFill>
          <a:blip r:embed="rId7" cstate="print"/>
          <a:stretch>
            <a:fillRect/>
          </a:stretch>
        </p:blipFill>
        <p:spPr>
          <a:xfrm>
            <a:off x="2438400" y="2971800"/>
            <a:ext cx="2145506" cy="319088"/>
          </a:xfrm>
          <a:prstGeom prst="rect">
            <a:avLst/>
          </a:prstGeom>
        </p:spPr>
      </p:pic>
      <p:pic>
        <p:nvPicPr>
          <p:cNvPr id="12" name="Picture 11" descr="addin_tmp.png"/>
          <p:cNvPicPr>
            <a:picLocks noChangeAspect="1"/>
          </p:cNvPicPr>
          <p:nvPr>
            <p:custDataLst>
              <p:tags r:id="rId4"/>
            </p:custDataLst>
          </p:nvPr>
        </p:nvPicPr>
        <p:blipFill>
          <a:blip r:embed="rId9" cstate="print"/>
          <a:stretch>
            <a:fillRect/>
          </a:stretch>
        </p:blipFill>
        <p:spPr>
          <a:xfrm>
            <a:off x="1600200" y="3352800"/>
            <a:ext cx="2150269" cy="319088"/>
          </a:xfrm>
          <a:prstGeom prst="rect">
            <a:avLst/>
          </a:prstGeom>
        </p:spPr>
      </p:pic>
      <p:pic>
        <p:nvPicPr>
          <p:cNvPr id="14" name="Picture 13" descr="addin_tmp.png"/>
          <p:cNvPicPr>
            <a:picLocks noChangeAspect="1"/>
          </p:cNvPicPr>
          <p:nvPr>
            <p:custDataLst>
              <p:tags r:id="rId5"/>
            </p:custDataLst>
          </p:nvPr>
        </p:nvPicPr>
        <p:blipFill>
          <a:blip r:embed="rId10" cstate="print"/>
          <a:stretch>
            <a:fillRect/>
          </a:stretch>
        </p:blipFill>
        <p:spPr>
          <a:xfrm>
            <a:off x="4572000" y="3352800"/>
            <a:ext cx="2164556" cy="31908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Big-Theta Estimates for Polynomials</a:t>
            </a:r>
          </a:p>
        </p:txBody>
      </p:sp>
      <p:sp>
        <p:nvSpPr>
          <p:cNvPr id="3" name="Content Placeholder 2"/>
          <p:cNvSpPr>
            <a:spLocks noGrp="1"/>
          </p:cNvSpPr>
          <p:nvPr>
            <p:ph idx="1"/>
          </p:nvPr>
        </p:nvSpPr>
        <p:spPr/>
        <p:txBody>
          <a:bodyPr>
            <a:normAutofit lnSpcReduction="10000"/>
          </a:bodyPr>
          <a:lstStyle/>
          <a:p>
            <a:pPr>
              <a:buNone/>
            </a:pPr>
            <a:r>
              <a:rPr lang="en-US" b="1" dirty="0"/>
              <a:t>Theorem</a:t>
            </a:r>
            <a:r>
              <a:rPr lang="en-US" dirty="0"/>
              <a:t>: Let </a:t>
            </a:r>
          </a:p>
          <a:p>
            <a:pPr>
              <a:buNone/>
            </a:pPr>
            <a:r>
              <a:rPr lang="en-US" dirty="0"/>
              <a:t>where                                 are real numbers with </a:t>
            </a:r>
            <a:r>
              <a:rPr lang="en-US" i="1" dirty="0"/>
              <a:t>a</a:t>
            </a:r>
            <a:r>
              <a:rPr lang="en-US" i="1" baseline="-25000" dirty="0"/>
              <a:t>n</a:t>
            </a:r>
            <a:r>
              <a:rPr lang="en-US" dirty="0"/>
              <a:t> </a:t>
            </a:r>
            <a:r>
              <a:rPr lang="en-US" dirty="0">
                <a:latin typeface="Cambria Math"/>
                <a:ea typeface="Cambria Math"/>
              </a:rPr>
              <a:t>≠</a:t>
            </a:r>
            <a:r>
              <a:rPr lang="en-US" dirty="0">
                <a:latin typeface="Cambria Math" pitchFamily="18" charset="0"/>
                <a:ea typeface="Cambria Math" pitchFamily="18" charset="0"/>
              </a:rPr>
              <a:t>0</a:t>
            </a:r>
            <a:r>
              <a:rPr lang="en-US" dirty="0"/>
              <a:t>. </a:t>
            </a:r>
          </a:p>
          <a:p>
            <a:pPr>
              <a:buNone/>
            </a:pPr>
            <a:r>
              <a:rPr lang="en-US" dirty="0"/>
              <a:t> Then </a:t>
            </a:r>
            <a:r>
              <a:rPr lang="en-US" i="1" dirty="0">
                <a:ea typeface="Cambria Math" pitchFamily="18" charset="0"/>
              </a:rPr>
              <a:t>f</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is of order </a:t>
            </a:r>
            <a:r>
              <a:rPr lang="en-US" i="1" dirty="0" err="1"/>
              <a:t>x</a:t>
            </a:r>
            <a:r>
              <a:rPr lang="en-US" i="1" baseline="30000" dirty="0" err="1"/>
              <a:t>n</a:t>
            </a:r>
            <a:r>
              <a:rPr lang="en-US" dirty="0"/>
              <a:t> (or   </a:t>
            </a:r>
            <a:r>
              <a:rPr lang="en-US" sz="2800" dirty="0">
                <a:latin typeface="Cambria Math" pitchFamily="18" charset="0"/>
                <a:ea typeface="Cambria Math" pitchFamily="18" charset="0"/>
              </a:rPr>
              <a:t>Θ(</a:t>
            </a:r>
            <a:r>
              <a:rPr lang="en-US" sz="2800" i="1" dirty="0" err="1"/>
              <a:t>x</a:t>
            </a:r>
            <a:r>
              <a:rPr lang="en-US" sz="2800" baseline="30000" dirty="0" err="1">
                <a:latin typeface="Cambria Math" pitchFamily="18" charset="0"/>
                <a:ea typeface="Cambria Math" pitchFamily="18" charset="0"/>
              </a:rPr>
              <a:t>n</a:t>
            </a:r>
            <a:r>
              <a:rPr lang="en-US" sz="2800" dirty="0"/>
              <a:t>)).</a:t>
            </a:r>
            <a:endParaRPr lang="en-US" dirty="0"/>
          </a:p>
          <a:p>
            <a:pPr>
              <a:buNone/>
            </a:pPr>
            <a:r>
              <a:rPr lang="en-US" dirty="0"/>
              <a:t>(The proof is an exercise.) </a:t>
            </a:r>
          </a:p>
          <a:p>
            <a:pPr>
              <a:buNone/>
            </a:pPr>
            <a:r>
              <a:rPr lang="en-US" b="1" dirty="0"/>
              <a:t>Example</a:t>
            </a:r>
            <a:r>
              <a:rPr lang="en-US" dirty="0"/>
              <a:t>: </a:t>
            </a:r>
          </a:p>
          <a:p>
            <a:pPr>
              <a:buNone/>
            </a:pPr>
            <a:r>
              <a:rPr lang="en-US" dirty="0"/>
              <a:t>The polynomial                                         is order of </a:t>
            </a:r>
            <a:r>
              <a:rPr lang="en-US" i="1" dirty="0"/>
              <a:t>x</a:t>
            </a:r>
            <a:r>
              <a:rPr lang="en-US" baseline="30000" dirty="0">
                <a:latin typeface="Cambria Math" pitchFamily="18" charset="0"/>
                <a:ea typeface="Cambria Math" pitchFamily="18" charset="0"/>
              </a:rPr>
              <a:t>5</a:t>
            </a:r>
            <a:r>
              <a:rPr lang="en-US" dirty="0"/>
              <a:t> (or </a:t>
            </a:r>
            <a:r>
              <a:rPr lang="en-US" sz="2800" dirty="0">
                <a:latin typeface="Cambria Math" pitchFamily="18" charset="0"/>
                <a:ea typeface="Cambria Math" pitchFamily="18" charset="0"/>
              </a:rPr>
              <a:t>Θ(</a:t>
            </a:r>
            <a:r>
              <a:rPr lang="en-US" sz="2800" i="1" dirty="0"/>
              <a:t>x</a:t>
            </a:r>
            <a:r>
              <a:rPr lang="en-US" sz="2800" baseline="30000" dirty="0">
                <a:latin typeface="Cambria Math" pitchFamily="18" charset="0"/>
                <a:ea typeface="Cambria Math" pitchFamily="18" charset="0"/>
              </a:rPr>
              <a:t>5</a:t>
            </a:r>
            <a:r>
              <a:rPr lang="en-US" sz="2800" dirty="0"/>
              <a:t>)).</a:t>
            </a:r>
            <a:r>
              <a:rPr lang="en-US" dirty="0"/>
              <a:t> </a:t>
            </a:r>
          </a:p>
          <a:p>
            <a:pPr>
              <a:buNone/>
            </a:pPr>
            <a:r>
              <a:rPr lang="en-US" dirty="0"/>
              <a:t>The polynomial                                                                           is order of </a:t>
            </a:r>
            <a:r>
              <a:rPr lang="en-US" i="1" dirty="0"/>
              <a:t>x</a:t>
            </a:r>
            <a:r>
              <a:rPr lang="en-US" baseline="30000" dirty="0">
                <a:latin typeface="Cambria Math" pitchFamily="18" charset="0"/>
                <a:ea typeface="Cambria Math" pitchFamily="18" charset="0"/>
              </a:rPr>
              <a:t>199</a:t>
            </a:r>
            <a:r>
              <a:rPr lang="en-US" dirty="0"/>
              <a:t>  (or </a:t>
            </a:r>
            <a:r>
              <a:rPr lang="en-US" sz="2800" dirty="0">
                <a:latin typeface="Cambria Math" pitchFamily="18" charset="0"/>
                <a:ea typeface="Cambria Math" pitchFamily="18" charset="0"/>
              </a:rPr>
              <a:t>Θ(</a:t>
            </a:r>
            <a:r>
              <a:rPr lang="en-US" sz="2800" i="1" dirty="0"/>
              <a:t>x</a:t>
            </a:r>
            <a:r>
              <a:rPr lang="en-US" sz="2800" baseline="30000" dirty="0">
                <a:latin typeface="Cambria Math" pitchFamily="18" charset="0"/>
                <a:ea typeface="Cambria Math" pitchFamily="18" charset="0"/>
              </a:rPr>
              <a:t>199</a:t>
            </a:r>
            <a:r>
              <a:rPr lang="en-US" sz="2800" dirty="0"/>
              <a:t>)</a:t>
            </a:r>
            <a:r>
              <a:rPr lang="en-US" dirty="0"/>
              <a:t> ).                </a:t>
            </a:r>
          </a:p>
          <a:p>
            <a:pPr>
              <a:buNone/>
            </a:pPr>
            <a:r>
              <a:rPr lang="en-US" dirty="0"/>
              <a:t>     </a:t>
            </a:r>
          </a:p>
        </p:txBody>
      </p:sp>
      <p:pic>
        <p:nvPicPr>
          <p:cNvPr id="9" name="Picture 8" descr="addin_tmp.png"/>
          <p:cNvPicPr>
            <a:picLocks noChangeAspect="1"/>
          </p:cNvPicPr>
          <p:nvPr>
            <p:custDataLst>
              <p:tags r:id="rId1"/>
            </p:custDataLst>
          </p:nvPr>
        </p:nvPicPr>
        <p:blipFill>
          <a:blip r:embed="rId6" cstate="print"/>
          <a:stretch>
            <a:fillRect/>
          </a:stretch>
        </p:blipFill>
        <p:spPr>
          <a:xfrm>
            <a:off x="2743200" y="1981200"/>
            <a:ext cx="5745956" cy="342900"/>
          </a:xfrm>
          <a:prstGeom prst="rect">
            <a:avLst/>
          </a:prstGeom>
        </p:spPr>
      </p:pic>
      <p:pic>
        <p:nvPicPr>
          <p:cNvPr id="5" name="Picture 4" descr="addin_tmp.png"/>
          <p:cNvPicPr>
            <a:picLocks noChangeAspect="1"/>
          </p:cNvPicPr>
          <p:nvPr>
            <p:custDataLst>
              <p:tags r:id="rId2"/>
            </p:custDataLst>
          </p:nvPr>
        </p:nvPicPr>
        <p:blipFill>
          <a:blip r:embed="rId7" cstate="print"/>
          <a:stretch>
            <a:fillRect/>
          </a:stretch>
        </p:blipFill>
        <p:spPr>
          <a:xfrm>
            <a:off x="1676400" y="2514600"/>
            <a:ext cx="2117408" cy="242888"/>
          </a:xfrm>
          <a:prstGeom prst="rect">
            <a:avLst/>
          </a:prstGeom>
        </p:spPr>
      </p:pic>
      <p:pic>
        <p:nvPicPr>
          <p:cNvPr id="12" name="Picture 11" descr="addin_tmp.png"/>
          <p:cNvPicPr>
            <a:picLocks noChangeAspect="1"/>
          </p:cNvPicPr>
          <p:nvPr>
            <p:custDataLst>
              <p:tags r:id="rId3"/>
            </p:custDataLst>
          </p:nvPr>
        </p:nvPicPr>
        <p:blipFill>
          <a:blip r:embed="rId8" cstate="print"/>
          <a:stretch>
            <a:fillRect/>
          </a:stretch>
        </p:blipFill>
        <p:spPr>
          <a:xfrm>
            <a:off x="2895600" y="4191000"/>
            <a:ext cx="3062288" cy="342900"/>
          </a:xfrm>
          <a:prstGeom prst="rect">
            <a:avLst/>
          </a:prstGeom>
        </p:spPr>
      </p:pic>
      <p:pic>
        <p:nvPicPr>
          <p:cNvPr id="14" name="Picture 13" descr="addin_tmp.png"/>
          <p:cNvPicPr>
            <a:picLocks noChangeAspect="1"/>
          </p:cNvPicPr>
          <p:nvPr>
            <p:custDataLst>
              <p:tags r:id="rId4"/>
            </p:custDataLst>
          </p:nvPr>
        </p:nvPicPr>
        <p:blipFill>
          <a:blip r:embed="rId9" cstate="print"/>
          <a:stretch>
            <a:fillRect/>
          </a:stretch>
        </p:blipFill>
        <p:spPr>
          <a:xfrm>
            <a:off x="2895600" y="5029200"/>
            <a:ext cx="5264944" cy="3429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Complexity of Algorithms</a:t>
            </a:r>
          </a:p>
        </p:txBody>
      </p:sp>
      <p:sp>
        <p:nvSpPr>
          <p:cNvPr id="3" name="Subtitle 2"/>
          <p:cNvSpPr>
            <a:spLocks noGrp="1"/>
          </p:cNvSpPr>
          <p:nvPr>
            <p:ph type="subTitle" idx="1"/>
          </p:nvPr>
        </p:nvSpPr>
        <p:spPr/>
        <p:txBody>
          <a:bodyPr/>
          <a:lstStyle/>
          <a:p>
            <a:r>
              <a:rPr lang="en-US" dirty="0"/>
              <a:t>Section 3.3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Time Complexity</a:t>
            </a:r>
          </a:p>
          <a:p>
            <a:r>
              <a:rPr lang="en-US" dirty="0"/>
              <a:t>Worst-Case Complexity</a:t>
            </a:r>
          </a:p>
          <a:p>
            <a:r>
              <a:rPr lang="en-US" dirty="0"/>
              <a:t>Algorithmic Paradigms</a:t>
            </a:r>
          </a:p>
          <a:p>
            <a:r>
              <a:rPr lang="en-US" dirty="0"/>
              <a:t>Understanding the Complexity of Algorithms</a:t>
            </a:r>
          </a:p>
          <a:p>
            <a:pPr>
              <a:buNone/>
            </a:pPr>
            <a:endParaRPr lang="en-US" dirty="0"/>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Complexity of Algorithms</a:t>
            </a:r>
          </a:p>
        </p:txBody>
      </p:sp>
      <p:sp>
        <p:nvSpPr>
          <p:cNvPr id="3" name="Content Placeholder 2"/>
          <p:cNvSpPr>
            <a:spLocks noGrp="1"/>
          </p:cNvSpPr>
          <p:nvPr>
            <p:ph idx="1"/>
          </p:nvPr>
        </p:nvSpPr>
        <p:spPr/>
        <p:txBody>
          <a:bodyPr>
            <a:normAutofit fontScale="92500" lnSpcReduction="10000"/>
          </a:bodyPr>
          <a:lstStyle/>
          <a:p>
            <a:r>
              <a:rPr lang="en-US" dirty="0"/>
              <a:t>Given an algorithm, how efficient is this algorithm for solving a problem given input of a particular size? To answer this question, we ask:</a:t>
            </a:r>
          </a:p>
          <a:p>
            <a:pPr lvl="1"/>
            <a:r>
              <a:rPr lang="en-US" dirty="0"/>
              <a:t>How much time does this algorithm use to solve a problem?</a:t>
            </a:r>
          </a:p>
          <a:p>
            <a:pPr lvl="1"/>
            <a:r>
              <a:rPr lang="en-US" dirty="0"/>
              <a:t>How much computer memory does this algorithm use to solve a problem?</a:t>
            </a:r>
          </a:p>
          <a:p>
            <a:r>
              <a:rPr lang="en-US" dirty="0"/>
              <a:t>When we analyze the time the algorithm uses to solve the problem given input of a particular size, we are studying the </a:t>
            </a:r>
            <a:r>
              <a:rPr lang="en-US" i="1" dirty="0"/>
              <a:t>time complexity </a:t>
            </a:r>
            <a:r>
              <a:rPr lang="en-US" dirty="0"/>
              <a:t>of the algorithm.</a:t>
            </a:r>
          </a:p>
          <a:p>
            <a:r>
              <a:rPr lang="en-US" dirty="0"/>
              <a:t>When we analyze the computer memory the algorithm uses to solve the problem given input of a particular size, we are studying the </a:t>
            </a:r>
            <a:r>
              <a:rPr lang="en-US" i="1" dirty="0"/>
              <a:t>space complexity </a:t>
            </a:r>
            <a:r>
              <a:rPr lang="en-US" dirty="0"/>
              <a:t>of the algorithm.</a:t>
            </a:r>
          </a:p>
          <a:p>
            <a:endParaRPr lang="en-US" dirty="0"/>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Complexity of Algorithms</a:t>
            </a:r>
          </a:p>
        </p:txBody>
      </p:sp>
      <p:sp>
        <p:nvSpPr>
          <p:cNvPr id="3" name="Content Placeholder 2"/>
          <p:cNvSpPr>
            <a:spLocks noGrp="1"/>
          </p:cNvSpPr>
          <p:nvPr>
            <p:ph idx="1"/>
          </p:nvPr>
        </p:nvSpPr>
        <p:spPr/>
        <p:txBody>
          <a:bodyPr>
            <a:normAutofit fontScale="85000" lnSpcReduction="20000"/>
          </a:bodyPr>
          <a:lstStyle/>
          <a:p>
            <a:pPr algn="just"/>
            <a:r>
              <a:rPr lang="en-IN" dirty="0"/>
              <a:t>The </a:t>
            </a:r>
            <a:r>
              <a:rPr lang="en-IN" i="1" dirty="0"/>
              <a:t>time complexity</a:t>
            </a:r>
            <a:r>
              <a:rPr lang="en-IN" dirty="0"/>
              <a:t> of an algorithm is the time required to run an algorithm. It is usually measured in terms of the number of operations used by an algorithm and expressed in big-O notation. </a:t>
            </a:r>
          </a:p>
          <a:p>
            <a:pPr algn="just"/>
            <a:r>
              <a:rPr lang="en-US" dirty="0"/>
              <a:t>We will measure time complexity in terms of the number of operations an algorithm uses and we will use big-</a:t>
            </a:r>
            <a:r>
              <a:rPr lang="en-US" i="1" dirty="0"/>
              <a:t>O</a:t>
            </a:r>
            <a:r>
              <a:rPr lang="en-US" dirty="0"/>
              <a:t> and big-Theta notation to estimate the time complexity.</a:t>
            </a:r>
          </a:p>
          <a:p>
            <a:pPr algn="just"/>
            <a:r>
              <a:rPr lang="en-US" dirty="0"/>
              <a:t>We can use this analysis to see whether it is practical to use this algorithm to solve problems with input of a particular size. We can also compare the efficiency of different algorithms for solving the same problem.</a:t>
            </a:r>
          </a:p>
          <a:p>
            <a:pPr algn="just"/>
            <a:r>
              <a:rPr lang="en-US" dirty="0"/>
              <a:t>We ignore implementation details (including the data structures used and both the hardware and software platforms) because it is extremely complicated to consider them.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Complexity</a:t>
            </a:r>
          </a:p>
        </p:txBody>
      </p:sp>
      <p:sp>
        <p:nvSpPr>
          <p:cNvPr id="3" name="Content Placeholder 2"/>
          <p:cNvSpPr>
            <a:spLocks noGrp="1"/>
          </p:cNvSpPr>
          <p:nvPr>
            <p:ph idx="1"/>
          </p:nvPr>
        </p:nvSpPr>
        <p:spPr/>
        <p:txBody>
          <a:bodyPr>
            <a:normAutofit fontScale="92500" lnSpcReduction="20000"/>
          </a:bodyPr>
          <a:lstStyle/>
          <a:p>
            <a:pPr algn="just"/>
            <a:r>
              <a:rPr lang="en-US" dirty="0"/>
              <a:t>To analyze the time complexity of algorithms, we determine the number of operations, such as comparisons and arithmetic operations (addition, multiplication, etc.). We can estimate the time a computer may actually use to solve a problem using the amount of time required to do basic operations. </a:t>
            </a:r>
          </a:p>
          <a:p>
            <a:pPr algn="just"/>
            <a:r>
              <a:rPr lang="en-US" dirty="0"/>
              <a:t>We will focus on the </a:t>
            </a:r>
            <a:r>
              <a:rPr lang="en-US" i="1" dirty="0"/>
              <a:t>worst-case time </a:t>
            </a:r>
            <a:r>
              <a:rPr lang="en-US" dirty="0"/>
              <a:t>complexity of an algorithm. This provides an upper bound on the number of operations an algorithm uses to solve a problem with input of a particular size.</a:t>
            </a:r>
          </a:p>
          <a:p>
            <a:pPr algn="just"/>
            <a:r>
              <a:rPr lang="en-US" dirty="0"/>
              <a:t>This is the average number of operations an algorithm uses to solve a problem over all inputs of a particular size. It is usually much more difficult to determine the </a:t>
            </a:r>
            <a:r>
              <a:rPr lang="en-US" i="1" dirty="0"/>
              <a:t>average case time complexity </a:t>
            </a:r>
            <a:r>
              <a:rPr lang="en-US" dirty="0"/>
              <a:t>of an algorithm.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Complexity Analysis of Algorithms</a:t>
            </a:r>
          </a:p>
        </p:txBody>
      </p:sp>
      <p:sp>
        <p:nvSpPr>
          <p:cNvPr id="4" name="Content Placeholder 3"/>
          <p:cNvSpPr>
            <a:spLocks noGrp="1"/>
          </p:cNvSpPr>
          <p:nvPr>
            <p:ph idx="1"/>
          </p:nvPr>
        </p:nvSpPr>
        <p:spPr/>
        <p:txBody>
          <a:bodyPr>
            <a:normAutofit fontScale="62500" lnSpcReduction="20000"/>
          </a:bodyPr>
          <a:lstStyle/>
          <a:p>
            <a:pPr>
              <a:buNone/>
            </a:pPr>
            <a:r>
              <a:rPr lang="en-US" b="1" dirty="0"/>
              <a:t>     </a:t>
            </a:r>
            <a:r>
              <a:rPr lang="en-US" sz="3800" b="1" dirty="0"/>
              <a:t>Example</a:t>
            </a:r>
            <a:r>
              <a:rPr lang="en-US" sz="3800" dirty="0"/>
              <a:t>: Describe the time complexity of the algorithm    for finding   the maximum element in a  finite sequence.</a:t>
            </a:r>
          </a:p>
          <a:p>
            <a:pPr>
              <a:buNone/>
            </a:pPr>
            <a:endParaRPr lang="en-US" sz="3800" dirty="0"/>
          </a:p>
          <a:p>
            <a:pPr>
              <a:buNone/>
            </a:pPr>
            <a:endParaRPr lang="en-US" sz="3800" dirty="0"/>
          </a:p>
          <a:p>
            <a:pPr>
              <a:buNone/>
            </a:pPr>
            <a:r>
              <a:rPr lang="en-US" sz="3800" dirty="0"/>
              <a:t>    </a:t>
            </a:r>
          </a:p>
          <a:p>
            <a:pPr>
              <a:buNone/>
            </a:pPr>
            <a:endParaRPr lang="en-US" dirty="0"/>
          </a:p>
          <a:p>
            <a:pPr>
              <a:buNone/>
            </a:pPr>
            <a:endParaRPr lang="en-US" dirty="0"/>
          </a:p>
          <a:p>
            <a:pPr>
              <a:buNone/>
            </a:pPr>
            <a:endParaRPr lang="en-US" dirty="0"/>
          </a:p>
          <a:p>
            <a:pPr>
              <a:buNone/>
            </a:pPr>
            <a:endParaRPr lang="en-US" dirty="0"/>
          </a:p>
          <a:p>
            <a:pPr>
              <a:buNone/>
            </a:pPr>
            <a:r>
              <a:rPr lang="en-US" sz="2000" b="1" dirty="0"/>
              <a:t>    </a:t>
            </a:r>
          </a:p>
          <a:p>
            <a:pPr>
              <a:buNone/>
            </a:pPr>
            <a:endParaRPr lang="en-US" sz="2000" b="1" dirty="0"/>
          </a:p>
          <a:p>
            <a:pPr>
              <a:buNone/>
            </a:pPr>
            <a:endParaRPr lang="en-US" sz="2000" b="1" dirty="0"/>
          </a:p>
          <a:p>
            <a:pPr>
              <a:buNone/>
            </a:pPr>
            <a:endParaRPr lang="en-US" sz="2000" b="1" dirty="0"/>
          </a:p>
          <a:p>
            <a:pPr>
              <a:buNone/>
            </a:pPr>
            <a:endParaRPr lang="en-US" sz="2000" b="1" dirty="0"/>
          </a:p>
          <a:p>
            <a:pPr>
              <a:buNone/>
            </a:pPr>
            <a:r>
              <a:rPr lang="en-US" sz="2000" b="1" dirty="0"/>
              <a:t>                          </a:t>
            </a:r>
            <a:endParaRPr lang="en-US" sz="2900" dirty="0">
              <a:latin typeface="Cambria Math"/>
              <a:ea typeface="Cambria Math"/>
            </a:endParaRPr>
          </a:p>
          <a:p>
            <a:pPr>
              <a:buNone/>
            </a:pPr>
            <a:r>
              <a:rPr lang="en-US" sz="2900" dirty="0">
                <a:latin typeface="Cambria Math"/>
                <a:ea typeface="Cambria Math"/>
              </a:rPr>
              <a:t>          </a:t>
            </a:r>
            <a:endParaRPr lang="en-US" sz="2900" dirty="0"/>
          </a:p>
        </p:txBody>
      </p:sp>
      <p:sp>
        <p:nvSpPr>
          <p:cNvPr id="5" name="Content Placeholder 2"/>
          <p:cNvSpPr txBox="1">
            <a:spLocks/>
          </p:cNvSpPr>
          <p:nvPr/>
        </p:nvSpPr>
        <p:spPr>
          <a:xfrm>
            <a:off x="1981200" y="2667000"/>
            <a:ext cx="4419600" cy="1295400"/>
          </a:xfrm>
          <a:prstGeom prst="rect">
            <a:avLst/>
          </a:prstGeom>
          <a:ln>
            <a:solidFill>
              <a:schemeClr val="tx2"/>
            </a:solidFill>
          </a:ln>
        </p:spPr>
        <p:txBody>
          <a:bodyPr vert="horz">
            <a:normAutofit fontScale="47500" lnSpcReduction="20000"/>
          </a:bodyPr>
          <a:lstStyle/>
          <a:p>
            <a:pPr marL="274320" marR="0" lvl="0" indent="-274320" algn="l" defTabSz="914400" rtl="0" eaLnBrk="1" fontAlgn="auto" latinLnBrk="0" hangingPunct="1">
              <a:lnSpc>
                <a:spcPct val="100000"/>
              </a:lnSpc>
              <a:spcBef>
                <a:spcPts val="0"/>
              </a:spcBef>
              <a:spcAft>
                <a:spcPts val="0"/>
              </a:spcAft>
              <a:buClr>
                <a:schemeClr val="accent3"/>
              </a:buClr>
              <a:buSzPct val="95000"/>
              <a:buFont typeface="Wingdings 2"/>
              <a:buNone/>
              <a:tabLst/>
              <a:defRPr/>
            </a:pPr>
            <a:r>
              <a:rPr lang="en-US" sz="2600" b="1" dirty="0"/>
              <a:t>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max</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integers)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p>
          <a:p>
            <a:pPr marL="274320" lvl="0" indent="-274320">
              <a:spcBef>
                <a:spcPct val="20000"/>
              </a:spcBef>
              <a:buClr>
                <a:schemeClr val="accent3"/>
              </a:buClr>
              <a:buSzPct val="95000"/>
            </a:pPr>
            <a:r>
              <a:rPr kumimoji="0" lang="en-US" sz="2600" b="0" i="0" u="none" strike="noStrike" kern="1200" cap="none" spc="0" normalizeH="0" baseline="0" noProof="0" dirty="0">
                <a:ln>
                  <a:noFill/>
                </a:ln>
                <a:solidFill>
                  <a:schemeClr val="tx1"/>
                </a:solidFill>
                <a:effectLst/>
                <a:uLnTx/>
                <a:uFillTx/>
                <a:latin typeface="+mn-lt"/>
                <a:ea typeface="+mn-ea"/>
                <a:cs typeface="+mn-cs"/>
              </a:rPr>
              <a:t>         if</a:t>
            </a:r>
            <a:r>
              <a:rPr kumimoji="0" lang="en-US" sz="2600" b="0" i="0" u="none" strike="noStrike" kern="1200" cap="none" spc="0" normalizeH="0" noProof="0" dirty="0">
                <a:ln>
                  <a:noFill/>
                </a:ln>
                <a:solidFill>
                  <a:schemeClr val="tx1"/>
                </a:solidFill>
                <a:effectLst/>
                <a:uLnTx/>
                <a:uFillTx/>
                <a:latin typeface="+mn-lt"/>
                <a:ea typeface="+mn-ea"/>
                <a:cs typeface="+mn-cs"/>
              </a:rPr>
              <a:t> </a:t>
            </a:r>
            <a:r>
              <a:rPr lang="en-US" sz="2600" i="1" dirty="0"/>
              <a:t>max</a:t>
            </a:r>
            <a:r>
              <a:rPr kumimoji="0" lang="en-US" sz="2600" b="0" i="0" u="none" strike="noStrike" kern="1200" cap="none" spc="0" normalizeH="0" baseline="0" noProof="0" dirty="0">
                <a:ln>
                  <a:noFill/>
                </a:ln>
                <a:solidFill>
                  <a:schemeClr val="tx1"/>
                </a:solidFill>
                <a:effectLst/>
                <a:uLnTx/>
                <a:uFillTx/>
                <a:latin typeface="+mn-lt"/>
                <a:ea typeface="+mn-ea"/>
                <a:cs typeface="+mn-cs"/>
              </a:rPr>
              <a:t> &lt;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then </a:t>
            </a:r>
            <a:r>
              <a:rPr lang="en-US" sz="2600" i="1" dirty="0"/>
              <a:t>max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endParaRPr kumimoji="0" lang="en-US" sz="2600" b="0" i="1" u="none" strike="noStrike" kern="1200" cap="none" spc="0" normalizeH="0" baseline="-25000" noProof="0" dirty="0">
              <a:ln>
                <a:noFill/>
              </a:ln>
              <a:solidFill>
                <a:schemeClr val="tx1"/>
              </a:solidFill>
              <a:effectLst/>
              <a:uLnTx/>
              <a:uFillTx/>
              <a:latin typeface="+mn-lt"/>
              <a:ea typeface="+mn-ea"/>
              <a:cs typeface="+mn-cs"/>
            </a:endParaRPr>
          </a:p>
          <a:p>
            <a:pPr marL="274320" lvl="0" indent="-274320">
              <a:spcBef>
                <a:spcPct val="20000"/>
              </a:spcBef>
              <a:buClr>
                <a:schemeClr val="accent3"/>
              </a:buClr>
              <a:buSzPct val="95000"/>
            </a:pPr>
            <a:r>
              <a:rPr kumimoji="0" lang="en-US" sz="2600" b="0" i="0" u="none" strike="noStrike" kern="1200" cap="none" spc="0" normalizeH="0" baseline="0" noProof="0" dirty="0">
                <a:ln>
                  <a:noFill/>
                </a:ln>
                <a:solidFill>
                  <a:schemeClr val="tx1"/>
                </a:solidFill>
                <a:effectLst/>
                <a:uLnTx/>
                <a:uFillTx/>
                <a:latin typeface="+mn-lt"/>
                <a:ea typeface="+mn-ea"/>
                <a:cs typeface="+mn-cs"/>
              </a:rPr>
              <a:t>    return </a:t>
            </a:r>
            <a:r>
              <a:rPr lang="en-US" sz="2600" i="1" dirty="0"/>
              <a:t>max</a:t>
            </a:r>
            <a:r>
              <a:rPr lang="en-US" sz="2600" dirty="0"/>
              <a:t>{</a:t>
            </a:r>
            <a:r>
              <a:rPr lang="en-US" sz="2600" i="1" dirty="0"/>
              <a:t>max </a:t>
            </a:r>
            <a:r>
              <a:rPr lang="en-US" sz="2600" dirty="0"/>
              <a:t>is the largest element}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762000" y="4038600"/>
            <a:ext cx="7772400" cy="2246769"/>
          </a:xfrm>
          <a:prstGeom prst="rect">
            <a:avLst/>
          </a:prstGeom>
          <a:noFill/>
        </p:spPr>
        <p:txBody>
          <a:bodyPr wrap="square" rtlCol="0">
            <a:spAutoFit/>
          </a:bodyPr>
          <a:lstStyle/>
          <a:p>
            <a:pPr>
              <a:buNone/>
            </a:pPr>
            <a:r>
              <a:rPr lang="en-US" sz="1200" b="1" dirty="0"/>
              <a:t> </a:t>
            </a:r>
            <a:r>
              <a:rPr lang="en-US" sz="2000" b="1" dirty="0"/>
              <a:t>Solution</a:t>
            </a:r>
            <a:r>
              <a:rPr lang="en-US" sz="2000" dirty="0"/>
              <a:t>: Count the number of comparisons.</a:t>
            </a:r>
          </a:p>
          <a:p>
            <a:pPr lvl="1">
              <a:buFont typeface="Arial" pitchFamily="34" charset="0"/>
              <a:buChar char="•"/>
            </a:pPr>
            <a:r>
              <a:rPr lang="en-US" sz="2000" dirty="0"/>
              <a:t>  The </a:t>
            </a:r>
            <a:r>
              <a:rPr lang="en-US" sz="2000" i="1" dirty="0"/>
              <a:t>max</a:t>
            </a:r>
            <a:r>
              <a:rPr lang="en-US" sz="2000" dirty="0"/>
              <a:t> &lt; </a:t>
            </a:r>
            <a:r>
              <a:rPr lang="en-US" sz="2000" i="1" dirty="0" err="1"/>
              <a:t>a</a:t>
            </a:r>
            <a:r>
              <a:rPr lang="en-US" sz="2000" i="1" baseline="-25000" dirty="0" err="1"/>
              <a:t>i</a:t>
            </a:r>
            <a:r>
              <a:rPr lang="en-US" sz="2000" dirty="0"/>
              <a:t> comparison is made </a:t>
            </a:r>
            <a:r>
              <a:rPr lang="en-US" sz="2000" i="1" dirty="0"/>
              <a:t>n</a:t>
            </a:r>
            <a:r>
              <a:rPr lang="en-US" sz="2000" dirty="0"/>
              <a:t> </a:t>
            </a:r>
            <a:r>
              <a:rPr lang="en-US" sz="2000" dirty="0">
                <a:latin typeface="Cambria Math"/>
                <a:ea typeface="Cambria Math"/>
              </a:rPr>
              <a:t>− 1 times.</a:t>
            </a:r>
          </a:p>
          <a:p>
            <a:pPr lvl="1">
              <a:buFont typeface="Arial" pitchFamily="34" charset="0"/>
              <a:buChar char="•"/>
            </a:pPr>
            <a:r>
              <a:rPr lang="en-US" sz="2000" dirty="0">
                <a:latin typeface="Cambria Math"/>
                <a:ea typeface="Cambria Math"/>
              </a:rPr>
              <a:t>   Each time </a:t>
            </a:r>
            <a:r>
              <a:rPr lang="en-US" sz="2000" i="1" dirty="0" err="1">
                <a:ea typeface="Cambria Math"/>
              </a:rPr>
              <a:t>i</a:t>
            </a:r>
            <a:r>
              <a:rPr lang="en-US" sz="2000" dirty="0">
                <a:latin typeface="Cambria Math"/>
                <a:ea typeface="Cambria Math"/>
              </a:rPr>
              <a:t> is incremented, a test is made to see if </a:t>
            </a:r>
            <a:r>
              <a:rPr lang="en-US" sz="2000" i="1" dirty="0" err="1">
                <a:latin typeface="Cambria Math"/>
                <a:ea typeface="Cambria Math"/>
              </a:rPr>
              <a:t>i</a:t>
            </a:r>
            <a:r>
              <a:rPr lang="en-US" sz="2000" dirty="0">
                <a:latin typeface="Cambria Math"/>
                <a:ea typeface="Cambria Math"/>
              </a:rPr>
              <a:t> ≤ </a:t>
            </a:r>
            <a:r>
              <a:rPr lang="en-US" sz="2000" i="1" dirty="0">
                <a:ea typeface="Cambria Math"/>
              </a:rPr>
              <a:t>n.</a:t>
            </a:r>
          </a:p>
          <a:p>
            <a:pPr lvl="1">
              <a:buFont typeface="Arial" pitchFamily="34" charset="0"/>
              <a:buChar char="•"/>
            </a:pPr>
            <a:r>
              <a:rPr lang="en-US" sz="2000" i="1" dirty="0">
                <a:ea typeface="Cambria Math"/>
              </a:rPr>
              <a:t>   </a:t>
            </a:r>
            <a:r>
              <a:rPr lang="en-US" sz="2000" dirty="0">
                <a:ea typeface="Cambria Math"/>
              </a:rPr>
              <a:t>One last comparison determines that</a:t>
            </a:r>
            <a:r>
              <a:rPr lang="en-US" sz="2000" i="1" dirty="0">
                <a:ea typeface="Cambria Math"/>
              </a:rPr>
              <a:t> </a:t>
            </a:r>
            <a:r>
              <a:rPr lang="en-US" sz="2000" i="1" dirty="0" err="1">
                <a:ea typeface="Cambria Math"/>
              </a:rPr>
              <a:t>i</a:t>
            </a:r>
            <a:r>
              <a:rPr lang="en-US" sz="2000" i="1" dirty="0">
                <a:ea typeface="Cambria Math"/>
              </a:rPr>
              <a:t> &gt; n</a:t>
            </a:r>
            <a:r>
              <a:rPr lang="en-US" sz="2000" dirty="0">
                <a:ea typeface="Cambria Math"/>
              </a:rPr>
              <a:t>.</a:t>
            </a:r>
            <a:r>
              <a:rPr lang="en-US" sz="2000" dirty="0"/>
              <a:t>               </a:t>
            </a:r>
          </a:p>
          <a:p>
            <a:pPr lvl="1">
              <a:buFont typeface="Arial" pitchFamily="34" charset="0"/>
              <a:buChar char="•"/>
            </a:pPr>
            <a:r>
              <a:rPr lang="en-US" sz="2000" dirty="0">
                <a:latin typeface="Cambria Math" pitchFamily="18" charset="0"/>
                <a:ea typeface="Cambria Math" pitchFamily="18" charset="0"/>
              </a:rPr>
              <a:t>   Exactly 2</a:t>
            </a:r>
            <a:r>
              <a:rPr lang="en-US" sz="2000" dirty="0"/>
              <a:t>(</a:t>
            </a:r>
            <a:r>
              <a:rPr lang="en-US" sz="2000" i="1" dirty="0"/>
              <a:t>n</a:t>
            </a:r>
            <a:r>
              <a:rPr lang="en-US" sz="2000" dirty="0"/>
              <a:t> </a:t>
            </a:r>
            <a:r>
              <a:rPr lang="en-US" sz="2000" dirty="0">
                <a:latin typeface="Cambria Math"/>
                <a:ea typeface="Cambria Math"/>
              </a:rPr>
              <a:t>− 1) + 1 = 2</a:t>
            </a:r>
            <a:r>
              <a:rPr lang="en-US" sz="2000" i="1" dirty="0">
                <a:latin typeface="Cambria Math"/>
                <a:ea typeface="Cambria Math"/>
              </a:rPr>
              <a:t>n</a:t>
            </a:r>
            <a:r>
              <a:rPr lang="en-US" sz="2000" dirty="0">
                <a:latin typeface="Cambria Math"/>
                <a:ea typeface="Cambria Math"/>
              </a:rPr>
              <a:t> − 1 comparisons are made.</a:t>
            </a:r>
          </a:p>
          <a:p>
            <a:pPr>
              <a:buNone/>
            </a:pPr>
            <a:endParaRPr lang="en-US" sz="2000" dirty="0">
              <a:latin typeface="Cambria Math"/>
              <a:ea typeface="Cambria Math"/>
            </a:endParaRPr>
          </a:p>
          <a:p>
            <a:pPr>
              <a:buNone/>
            </a:pPr>
            <a:r>
              <a:rPr lang="en-US" sz="2000" dirty="0">
                <a:latin typeface="Cambria Math"/>
                <a:ea typeface="Cambria Math"/>
              </a:rPr>
              <a:t> Hence, the time complexity of the algorithm is  </a:t>
            </a:r>
            <a:r>
              <a:rPr lang="en-US" sz="2000" dirty="0"/>
              <a:t>Θ(</a:t>
            </a:r>
            <a:r>
              <a:rPr lang="en-US" sz="2000" i="1" dirty="0"/>
              <a:t>n</a:t>
            </a:r>
            <a:r>
              <a:rPr lang="en-US" sz="2000" dirty="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Worst-Case Complexity of Linear Search</a:t>
            </a:r>
          </a:p>
        </p:txBody>
      </p:sp>
      <p:sp>
        <p:nvSpPr>
          <p:cNvPr id="4" name="Content Placeholder 3"/>
          <p:cNvSpPr>
            <a:spLocks noGrp="1"/>
          </p:cNvSpPr>
          <p:nvPr>
            <p:ph idx="1"/>
          </p:nvPr>
        </p:nvSpPr>
        <p:spPr/>
        <p:txBody>
          <a:bodyPr/>
          <a:lstStyle/>
          <a:p>
            <a:pPr>
              <a:buNone/>
            </a:pPr>
            <a:r>
              <a:rPr lang="en-US" dirty="0"/>
              <a:t>   </a:t>
            </a:r>
            <a:r>
              <a:rPr lang="en-US" b="1" dirty="0"/>
              <a:t>Example</a:t>
            </a:r>
            <a:r>
              <a:rPr lang="en-US" dirty="0"/>
              <a:t>: Determine the time complexity of the linear search algorithm.</a:t>
            </a:r>
          </a:p>
        </p:txBody>
      </p:sp>
      <p:sp>
        <p:nvSpPr>
          <p:cNvPr id="5" name="Content Placeholder 2"/>
          <p:cNvSpPr txBox="1">
            <a:spLocks/>
          </p:cNvSpPr>
          <p:nvPr/>
        </p:nvSpPr>
        <p:spPr>
          <a:xfrm>
            <a:off x="3352800" y="2514600"/>
            <a:ext cx="5181600" cy="1676400"/>
          </a:xfrm>
          <a:prstGeom prst="rect">
            <a:avLst/>
          </a:prstGeom>
          <a:ln>
            <a:solidFill>
              <a:schemeClr val="accent1"/>
            </a:solidFill>
          </a:ln>
        </p:spPr>
        <p:txBody>
          <a:bodyPr vert="horz">
            <a:normAutofit fontScale="47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linear</a:t>
            </a:r>
            <a:r>
              <a:rPr kumimoji="0" lang="en-US" sz="2600" b="0" i="1" u="none" strike="noStrike" kern="1200" cap="none" spc="0" normalizeH="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search</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:integer,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distinct integers)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while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Cambria Math"/>
                <a:ea typeface="Cambria Math"/>
              </a:rPr>
              <a:t>≤</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and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lvl="0" indent="-274320">
              <a:spcBef>
                <a:spcPct val="20000"/>
              </a:spcBef>
              <a:buClr>
                <a:schemeClr val="accent3"/>
              </a:buClr>
              <a:buSzPct val="95000"/>
            </a:pPr>
            <a:r>
              <a:rPr kumimoji="0" lang="en-US" sz="2600" b="1" i="0" u="none" strike="noStrike" kern="1200" cap="none" spc="0" normalizeH="0" baseline="0" noProof="0" dirty="0">
                <a:ln>
                  <a:noFill/>
                </a:ln>
                <a:solidFill>
                  <a:schemeClr val="tx1"/>
                </a:solidFill>
                <a:effectLst/>
                <a:uLnTx/>
                <a:uFillTx/>
                <a:latin typeface="+mn-lt"/>
                <a:ea typeface="+mn-ea"/>
                <a:cs typeface="+mn-cs"/>
              </a:rPr>
              <a:t>if</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dirty="0">
                <a:latin typeface="Cambria Math"/>
                <a:ea typeface="Cambria Math"/>
              </a:rPr>
              <a:t>≤</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then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else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0</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return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lang="en-US" sz="2600" dirty="0"/>
              <a:t>{</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u="none" strike="noStrike" kern="1200" cap="none" spc="0" normalizeH="0" baseline="0" noProof="0" dirty="0">
                <a:ln>
                  <a:noFill/>
                </a:ln>
                <a:solidFill>
                  <a:schemeClr val="tx1"/>
                </a:solidFill>
                <a:effectLst/>
                <a:uLnTx/>
                <a:uFillTx/>
                <a:latin typeface="+mn-lt"/>
                <a:ea typeface="+mn-ea"/>
                <a:cs typeface="+mn-cs"/>
              </a:rPr>
              <a:t> is the subscript of the term that equals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u="none" strike="noStrike" kern="1200" cap="none" spc="0" normalizeH="0" baseline="0" noProof="0" dirty="0">
                <a:ln>
                  <a:noFill/>
                </a:ln>
                <a:solidFill>
                  <a:schemeClr val="tx1"/>
                </a:solidFill>
                <a:effectLst/>
                <a:uLnTx/>
                <a:uFillTx/>
                <a:latin typeface="+mn-lt"/>
                <a:ea typeface="+mn-ea"/>
                <a:cs typeface="+mn-cs"/>
              </a:rPr>
              <a:t>, or is </a:t>
            </a:r>
            <a:r>
              <a:rPr kumimoji="0" lang="en-US" sz="2600" b="0" u="none" strike="noStrike" kern="1200" cap="none" spc="0" normalizeH="0" baseline="0" noProof="0" dirty="0">
                <a:ln>
                  <a:noFill/>
                </a:ln>
                <a:solidFill>
                  <a:schemeClr val="tx1"/>
                </a:solidFill>
                <a:effectLst/>
                <a:uLnTx/>
                <a:uFillTx/>
                <a:latin typeface="Cambria Math" pitchFamily="18" charset="0"/>
                <a:ea typeface="Cambria Math" pitchFamily="18" charset="0"/>
              </a:rPr>
              <a:t>0</a:t>
            </a:r>
            <a:r>
              <a:rPr kumimoji="0" lang="en-US" sz="2600" b="0" u="none" strike="noStrike" kern="1200" cap="none" spc="0" normalizeH="0" baseline="0" noProof="0" dirty="0">
                <a:ln>
                  <a:noFill/>
                </a:ln>
                <a:solidFill>
                  <a:schemeClr val="tx1"/>
                </a:solidFill>
                <a:effectLst/>
                <a:uLnTx/>
                <a:uFillTx/>
                <a:latin typeface="+mn-lt"/>
                <a:ea typeface="+mn-ea"/>
                <a:cs typeface="+mn-cs"/>
              </a:rPr>
              <a:t> if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u="none" strike="noStrike" kern="1200" cap="none" spc="0" normalizeH="0" baseline="0" noProof="0" dirty="0">
                <a:ln>
                  <a:noFill/>
                </a:ln>
                <a:solidFill>
                  <a:schemeClr val="tx1"/>
                </a:solidFill>
                <a:effectLst/>
                <a:uLnTx/>
                <a:uFillTx/>
                <a:latin typeface="+mn-lt"/>
                <a:ea typeface="+mn-ea"/>
                <a:cs typeface="+mn-cs"/>
              </a:rPr>
              <a:t> is not found}</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762000" y="4191000"/>
            <a:ext cx="7848600" cy="2862322"/>
          </a:xfrm>
          <a:prstGeom prst="rect">
            <a:avLst/>
          </a:prstGeom>
          <a:noFill/>
        </p:spPr>
        <p:txBody>
          <a:bodyPr wrap="square" rtlCol="0">
            <a:spAutoFit/>
          </a:bodyPr>
          <a:lstStyle/>
          <a:p>
            <a:r>
              <a:rPr lang="en-US" sz="2000" b="1" dirty="0"/>
              <a:t>Solution</a:t>
            </a:r>
            <a:r>
              <a:rPr lang="en-US" sz="2000" dirty="0"/>
              <a:t>: Count the number of comparisons.</a:t>
            </a:r>
          </a:p>
          <a:p>
            <a:pPr lvl="1">
              <a:buFont typeface="Arial" pitchFamily="34" charset="0"/>
              <a:buChar char="•"/>
            </a:pPr>
            <a:r>
              <a:rPr lang="en-US" sz="2000" dirty="0"/>
              <a:t> At each step two comparisons are made; </a:t>
            </a:r>
            <a:r>
              <a:rPr lang="en-US" sz="2000" i="1" dirty="0" err="1"/>
              <a:t>i</a:t>
            </a:r>
            <a:r>
              <a:rPr lang="en-US" sz="2000" dirty="0"/>
              <a:t> </a:t>
            </a:r>
            <a:r>
              <a:rPr lang="en-US" sz="2000" dirty="0">
                <a:latin typeface="Cambria Math"/>
                <a:ea typeface="Cambria Math"/>
              </a:rPr>
              <a:t>≤</a:t>
            </a:r>
            <a:r>
              <a:rPr lang="en-US" sz="2000" dirty="0"/>
              <a:t> </a:t>
            </a:r>
            <a:r>
              <a:rPr lang="en-US" sz="2000" i="1" dirty="0"/>
              <a:t>n</a:t>
            </a:r>
            <a:r>
              <a:rPr lang="en-US" sz="2000" dirty="0"/>
              <a:t> and </a:t>
            </a:r>
            <a:r>
              <a:rPr lang="en-US" sz="2000" i="1" dirty="0"/>
              <a:t>x</a:t>
            </a:r>
            <a:r>
              <a:rPr lang="en-US" sz="2000" dirty="0"/>
              <a:t> ≠ </a:t>
            </a:r>
            <a:r>
              <a:rPr lang="en-US" sz="2000" i="1" dirty="0" err="1"/>
              <a:t>a</a:t>
            </a:r>
            <a:r>
              <a:rPr lang="en-US" sz="2000" i="1" baseline="-25000" dirty="0" err="1"/>
              <a:t>i</a:t>
            </a:r>
            <a:r>
              <a:rPr lang="en-US" sz="2000" i="1" baseline="-25000" dirty="0"/>
              <a:t> </a:t>
            </a:r>
            <a:r>
              <a:rPr lang="en-US" sz="2000" i="1" dirty="0"/>
              <a:t>.</a:t>
            </a:r>
          </a:p>
          <a:p>
            <a:pPr lvl="1">
              <a:buFont typeface="Arial" pitchFamily="34" charset="0"/>
              <a:buChar char="•"/>
            </a:pPr>
            <a:r>
              <a:rPr lang="en-US" sz="2000" i="1" dirty="0"/>
              <a:t> </a:t>
            </a:r>
            <a:r>
              <a:rPr lang="en-US" sz="2000" dirty="0"/>
              <a:t>To end the loop, one comparison </a:t>
            </a:r>
            <a:r>
              <a:rPr lang="en-US" sz="2000" i="1" dirty="0" err="1"/>
              <a:t>i</a:t>
            </a:r>
            <a:r>
              <a:rPr lang="en-US" sz="2000" dirty="0"/>
              <a:t> </a:t>
            </a:r>
            <a:r>
              <a:rPr lang="en-US" sz="2000" dirty="0">
                <a:latin typeface="Cambria Math"/>
                <a:ea typeface="Cambria Math"/>
              </a:rPr>
              <a:t>≤</a:t>
            </a:r>
            <a:r>
              <a:rPr lang="en-US" sz="2000" dirty="0"/>
              <a:t> </a:t>
            </a:r>
            <a:r>
              <a:rPr lang="en-US" sz="2000" i="1" dirty="0"/>
              <a:t>n</a:t>
            </a:r>
            <a:r>
              <a:rPr lang="en-US" sz="2000" dirty="0"/>
              <a:t> is made.</a:t>
            </a:r>
          </a:p>
          <a:p>
            <a:pPr lvl="1">
              <a:buFont typeface="Arial" pitchFamily="34" charset="0"/>
              <a:buChar char="•"/>
            </a:pPr>
            <a:r>
              <a:rPr lang="en-US" sz="2000" dirty="0"/>
              <a:t> After the loop, one more</a:t>
            </a:r>
            <a:r>
              <a:rPr lang="en-US" sz="2000" i="1" dirty="0"/>
              <a:t> </a:t>
            </a:r>
            <a:r>
              <a:rPr lang="en-US" sz="2000" i="1" dirty="0" err="1"/>
              <a:t>i</a:t>
            </a:r>
            <a:r>
              <a:rPr lang="en-US" sz="2000" dirty="0"/>
              <a:t> </a:t>
            </a:r>
            <a:r>
              <a:rPr lang="en-US" sz="2000" dirty="0">
                <a:latin typeface="Cambria Math"/>
                <a:ea typeface="Cambria Math"/>
              </a:rPr>
              <a:t>≤</a:t>
            </a:r>
            <a:r>
              <a:rPr lang="en-US" sz="2000" dirty="0"/>
              <a:t> </a:t>
            </a:r>
            <a:r>
              <a:rPr lang="en-US" sz="2000" i="1" dirty="0"/>
              <a:t>n</a:t>
            </a:r>
            <a:r>
              <a:rPr lang="en-US" sz="2000" dirty="0"/>
              <a:t>  comparison is made. </a:t>
            </a:r>
          </a:p>
          <a:p>
            <a:r>
              <a:rPr lang="en-US" sz="2000" dirty="0"/>
              <a:t>If </a:t>
            </a:r>
            <a:r>
              <a:rPr lang="en-US" sz="2000" i="1" dirty="0"/>
              <a:t>x</a:t>
            </a:r>
            <a:r>
              <a:rPr lang="en-US" sz="2000" dirty="0"/>
              <a:t> = </a:t>
            </a:r>
            <a:r>
              <a:rPr lang="en-US" sz="2000" i="1" dirty="0" err="1"/>
              <a:t>a</a:t>
            </a:r>
            <a:r>
              <a:rPr lang="en-US" sz="2000" i="1" baseline="-25000" dirty="0" err="1"/>
              <a:t>i</a:t>
            </a:r>
            <a:r>
              <a:rPr lang="en-US" sz="2000" i="1" baseline="-25000" dirty="0"/>
              <a:t> </a:t>
            </a:r>
            <a:r>
              <a:rPr lang="en-US" sz="2000" i="1" dirty="0"/>
              <a:t>, </a:t>
            </a:r>
            <a:r>
              <a:rPr lang="en-US" sz="2000" dirty="0">
                <a:latin typeface="Cambria Math" pitchFamily="18" charset="0"/>
                <a:ea typeface="Cambria Math" pitchFamily="18" charset="0"/>
              </a:rPr>
              <a:t>2</a:t>
            </a:r>
            <a:r>
              <a:rPr lang="en-US" sz="2000" i="1" dirty="0"/>
              <a:t>i</a:t>
            </a:r>
            <a:r>
              <a:rPr lang="en-US" sz="2000" dirty="0"/>
              <a:t> + </a:t>
            </a:r>
            <a:r>
              <a:rPr lang="en-US" sz="2000" dirty="0">
                <a:latin typeface="Cambria Math" pitchFamily="18" charset="0"/>
                <a:ea typeface="Cambria Math" pitchFamily="18" charset="0"/>
              </a:rPr>
              <a:t>1</a:t>
            </a:r>
            <a:r>
              <a:rPr lang="en-US" sz="2000" dirty="0"/>
              <a:t> comparisons are used. If </a:t>
            </a:r>
            <a:r>
              <a:rPr lang="en-US" sz="2000" i="1" dirty="0"/>
              <a:t>x</a:t>
            </a:r>
            <a:r>
              <a:rPr lang="en-US" sz="2000" dirty="0"/>
              <a:t> is not on the list, </a:t>
            </a:r>
            <a:r>
              <a:rPr lang="en-US" sz="2000" dirty="0">
                <a:latin typeface="Cambria Math" pitchFamily="18" charset="0"/>
                <a:ea typeface="Cambria Math" pitchFamily="18" charset="0"/>
              </a:rPr>
              <a:t>2</a:t>
            </a:r>
            <a:r>
              <a:rPr lang="en-US" sz="2000" i="1" dirty="0"/>
              <a:t>n</a:t>
            </a:r>
            <a:r>
              <a:rPr lang="en-US" sz="2000" dirty="0"/>
              <a:t> + </a:t>
            </a:r>
            <a:r>
              <a:rPr lang="en-US" sz="2000" dirty="0">
                <a:latin typeface="Cambria Math" pitchFamily="18" charset="0"/>
                <a:ea typeface="Cambria Math" pitchFamily="18" charset="0"/>
              </a:rPr>
              <a:t>1 comparisons are made and </a:t>
            </a:r>
            <a:r>
              <a:rPr lang="en-US" sz="2000" dirty="0"/>
              <a:t>then an additional comparison is used to exit the loop. So, in the worst case </a:t>
            </a:r>
            <a:r>
              <a:rPr lang="en-US" sz="2000" dirty="0">
                <a:latin typeface="Cambria Math" pitchFamily="18" charset="0"/>
                <a:ea typeface="Cambria Math" pitchFamily="18" charset="0"/>
              </a:rPr>
              <a:t>2</a:t>
            </a:r>
            <a:r>
              <a:rPr lang="en-US" sz="2000" i="1" dirty="0"/>
              <a:t>n</a:t>
            </a:r>
            <a:r>
              <a:rPr lang="en-US" sz="2000" dirty="0"/>
              <a:t> + </a:t>
            </a:r>
            <a:r>
              <a:rPr lang="en-US" sz="2000" dirty="0">
                <a:latin typeface="Cambria Math" pitchFamily="18" charset="0"/>
                <a:ea typeface="Cambria Math" pitchFamily="18" charset="0"/>
              </a:rPr>
              <a:t>2 comparisons are made.</a:t>
            </a:r>
            <a:r>
              <a:rPr lang="en-US" sz="2000" dirty="0"/>
              <a:t>  Hence, the complexity is Θ(</a:t>
            </a:r>
            <a:r>
              <a:rPr lang="en-US" sz="2000" i="1" dirty="0"/>
              <a:t>n</a:t>
            </a:r>
            <a:r>
              <a:rPr lang="en-US" sz="2000" dirty="0"/>
              <a:t>).</a:t>
            </a:r>
          </a:p>
          <a:p>
            <a:endParaRPr 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Average-Case Complexity of Linear Search</a:t>
            </a:r>
          </a:p>
        </p:txBody>
      </p:sp>
      <p:sp>
        <p:nvSpPr>
          <p:cNvPr id="3" name="Content Placeholder 2"/>
          <p:cNvSpPr>
            <a:spLocks noGrp="1"/>
          </p:cNvSpPr>
          <p:nvPr>
            <p:ph idx="1"/>
          </p:nvPr>
        </p:nvSpPr>
        <p:spPr/>
        <p:txBody>
          <a:bodyPr>
            <a:normAutofit fontScale="92500" lnSpcReduction="10000"/>
          </a:bodyPr>
          <a:lstStyle/>
          <a:p>
            <a:pPr>
              <a:buNone/>
            </a:pPr>
            <a:r>
              <a:rPr lang="en-US" dirty="0"/>
              <a:t>  </a:t>
            </a:r>
            <a:r>
              <a:rPr lang="en-US" b="1" dirty="0"/>
              <a:t>Example</a:t>
            </a:r>
            <a:r>
              <a:rPr lang="en-US" dirty="0"/>
              <a:t>: Describe the average case performance of the linear search algorithm. (Although usually it is very difficult to determine average-case complexity, it is easy for linear search.)</a:t>
            </a:r>
          </a:p>
          <a:p>
            <a:pPr>
              <a:buNone/>
            </a:pPr>
            <a:r>
              <a:rPr lang="en-US" dirty="0"/>
              <a:t>   </a:t>
            </a:r>
            <a:r>
              <a:rPr lang="en-US" b="1" dirty="0"/>
              <a:t>Solution</a:t>
            </a:r>
            <a:r>
              <a:rPr lang="en-US" dirty="0"/>
              <a:t>: Assume the element is in the list and that the possible positions are equally likely. By the argument on the previous slide, if </a:t>
            </a:r>
            <a:r>
              <a:rPr lang="en-US" sz="2400" i="1" dirty="0"/>
              <a:t>x</a:t>
            </a:r>
            <a:r>
              <a:rPr lang="en-US" sz="2400" dirty="0"/>
              <a:t> = </a:t>
            </a:r>
            <a:r>
              <a:rPr lang="en-US" sz="2400" i="1" dirty="0" err="1"/>
              <a:t>a</a:t>
            </a:r>
            <a:r>
              <a:rPr lang="en-US" sz="2400" i="1" baseline="-25000" dirty="0" err="1"/>
              <a:t>i</a:t>
            </a:r>
            <a:r>
              <a:rPr lang="en-US" sz="2400" i="1" baseline="-25000" dirty="0"/>
              <a:t> </a:t>
            </a:r>
            <a:r>
              <a:rPr lang="en-US" sz="2400" i="1" dirty="0"/>
              <a:t>, </a:t>
            </a:r>
            <a:r>
              <a:rPr lang="en-US" sz="2400" dirty="0"/>
              <a:t>the number of comparisons is       </a:t>
            </a:r>
            <a:r>
              <a:rPr lang="en-US" sz="2400" dirty="0">
                <a:latin typeface="Cambria Math" pitchFamily="18" charset="0"/>
                <a:ea typeface="Cambria Math" pitchFamily="18" charset="0"/>
              </a:rPr>
              <a:t>2</a:t>
            </a:r>
            <a:r>
              <a:rPr lang="en-US" sz="2400" i="1" dirty="0"/>
              <a:t>i</a:t>
            </a:r>
            <a:r>
              <a:rPr lang="en-US" sz="2400" dirty="0"/>
              <a:t> + </a:t>
            </a:r>
            <a:r>
              <a:rPr lang="en-US" sz="2400" dirty="0">
                <a:latin typeface="Cambria Math" pitchFamily="18" charset="0"/>
                <a:ea typeface="Cambria Math" pitchFamily="18" charset="0"/>
              </a:rPr>
              <a:t>1.</a:t>
            </a:r>
          </a:p>
          <a:p>
            <a:pPr>
              <a:buNone/>
            </a:pPr>
            <a:endParaRPr lang="en-US" sz="2400" dirty="0">
              <a:latin typeface="Cambria Math" pitchFamily="18" charset="0"/>
              <a:ea typeface="Cambria Math" pitchFamily="18" charset="0"/>
            </a:endParaRPr>
          </a:p>
          <a:p>
            <a:pPr>
              <a:buNone/>
            </a:pPr>
            <a:endParaRPr lang="en-US" sz="2400" dirty="0">
              <a:latin typeface="Cambria Math" pitchFamily="18" charset="0"/>
              <a:ea typeface="Cambria Math" pitchFamily="18" charset="0"/>
            </a:endParaRPr>
          </a:p>
          <a:p>
            <a:pPr>
              <a:buNone/>
            </a:pPr>
            <a:endParaRPr lang="en-US" sz="2400" dirty="0">
              <a:latin typeface="Cambria Math" pitchFamily="18" charset="0"/>
              <a:ea typeface="Cambria Math" pitchFamily="18" charset="0"/>
            </a:endParaRPr>
          </a:p>
          <a:p>
            <a:pPr>
              <a:buNone/>
            </a:pPr>
            <a:r>
              <a:rPr lang="en-US" sz="2400" dirty="0">
                <a:latin typeface="Cambria Math" pitchFamily="18" charset="0"/>
                <a:ea typeface="Cambria Math" pitchFamily="18" charset="0"/>
              </a:rPr>
              <a:t>   Hence,  the average-case complexity of linear search is </a:t>
            </a:r>
            <a:r>
              <a:rPr lang="el-GR" sz="2400" dirty="0">
                <a:latin typeface="Cambria Math"/>
                <a:ea typeface="Cambria Math"/>
              </a:rPr>
              <a:t>Θ</a:t>
            </a:r>
            <a:r>
              <a:rPr lang="en-US" sz="2400" dirty="0">
                <a:latin typeface="Cambria Math"/>
                <a:ea typeface="Cambria Math"/>
              </a:rPr>
              <a:t>(</a:t>
            </a:r>
            <a:r>
              <a:rPr lang="en-US" sz="2400" i="1" dirty="0">
                <a:latin typeface="Cambria Math"/>
                <a:ea typeface="Cambria Math"/>
              </a:rPr>
              <a:t>n</a:t>
            </a:r>
            <a:r>
              <a:rPr lang="en-US" sz="2400" dirty="0">
                <a:latin typeface="Cambria Math"/>
                <a:ea typeface="Cambria Math"/>
              </a:rPr>
              <a:t>).</a:t>
            </a:r>
            <a:r>
              <a:rPr lang="en-US" sz="2400" dirty="0"/>
              <a:t> </a:t>
            </a:r>
            <a:endParaRPr lang="en-US" dirty="0"/>
          </a:p>
          <a:p>
            <a:pPr>
              <a:buNone/>
            </a:pPr>
            <a:endParaRPr lang="en-US" dirty="0"/>
          </a:p>
        </p:txBody>
      </p:sp>
      <p:pic>
        <p:nvPicPr>
          <p:cNvPr id="11" name="Picture 10" descr="addin_tmp.png"/>
          <p:cNvPicPr>
            <a:picLocks noChangeAspect="1"/>
          </p:cNvPicPr>
          <p:nvPr>
            <p:custDataLst>
              <p:tags r:id="rId1"/>
            </p:custDataLst>
          </p:nvPr>
        </p:nvPicPr>
        <p:blipFill>
          <a:blip r:embed="rId5" cstate="print"/>
          <a:stretch>
            <a:fillRect/>
          </a:stretch>
        </p:blipFill>
        <p:spPr>
          <a:xfrm>
            <a:off x="1981200" y="4495800"/>
            <a:ext cx="2624138" cy="435769"/>
          </a:xfrm>
          <a:prstGeom prst="rect">
            <a:avLst/>
          </a:prstGeom>
        </p:spPr>
      </p:pic>
      <p:pic>
        <p:nvPicPr>
          <p:cNvPr id="10" name="Picture 9" descr="addin_tmp.png"/>
          <p:cNvPicPr>
            <a:picLocks noChangeAspect="1"/>
          </p:cNvPicPr>
          <p:nvPr>
            <p:custDataLst>
              <p:tags r:id="rId2"/>
            </p:custDataLst>
          </p:nvPr>
        </p:nvPicPr>
        <p:blipFill>
          <a:blip r:embed="rId6" cstate="print"/>
          <a:stretch>
            <a:fillRect/>
          </a:stretch>
        </p:blipFill>
        <p:spPr>
          <a:xfrm>
            <a:off x="4876800" y="4495800"/>
            <a:ext cx="2655094" cy="435769"/>
          </a:xfrm>
          <a:prstGeom prst="rect">
            <a:avLst/>
          </a:prstGeom>
        </p:spPr>
      </p:pic>
      <p:pic>
        <p:nvPicPr>
          <p:cNvPr id="12" name="Picture 11" descr="addin_tmp.png"/>
          <p:cNvPicPr>
            <a:picLocks noChangeAspect="1"/>
          </p:cNvPicPr>
          <p:nvPr>
            <p:custDataLst>
              <p:tags r:id="rId3"/>
            </p:custDataLst>
          </p:nvPr>
        </p:nvPicPr>
        <p:blipFill>
          <a:blip r:embed="rId7" cstate="print"/>
          <a:stretch>
            <a:fillRect/>
          </a:stretch>
        </p:blipFill>
        <p:spPr>
          <a:xfrm>
            <a:off x="4267200" y="5029200"/>
            <a:ext cx="2878931" cy="516731"/>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Worst-Case Complexity of Binary Search </a:t>
            </a:r>
          </a:p>
        </p:txBody>
      </p:sp>
      <p:sp>
        <p:nvSpPr>
          <p:cNvPr id="4" name="Content Placeholder 3"/>
          <p:cNvSpPr>
            <a:spLocks noGrp="1"/>
          </p:cNvSpPr>
          <p:nvPr>
            <p:ph idx="1"/>
          </p:nvPr>
        </p:nvSpPr>
        <p:spPr/>
        <p:txBody>
          <a:bodyPr/>
          <a:lstStyle/>
          <a:p>
            <a:pPr>
              <a:buNone/>
            </a:pPr>
            <a:r>
              <a:rPr lang="en-US" b="1" dirty="0"/>
              <a:t>   Example</a:t>
            </a:r>
            <a:r>
              <a:rPr lang="en-US" dirty="0"/>
              <a:t>: Describe the time complexity of binary search in terms of the number of comparisons used.</a:t>
            </a:r>
          </a:p>
        </p:txBody>
      </p:sp>
      <p:sp>
        <p:nvSpPr>
          <p:cNvPr id="5" name="Content Placeholder 2"/>
          <p:cNvSpPr txBox="1">
            <a:spLocks/>
          </p:cNvSpPr>
          <p:nvPr/>
        </p:nvSpPr>
        <p:spPr>
          <a:xfrm>
            <a:off x="1981200" y="2743200"/>
            <a:ext cx="6248400" cy="1905000"/>
          </a:xfrm>
          <a:prstGeom prst="rect">
            <a:avLst/>
          </a:prstGeom>
          <a:ln>
            <a:solidFill>
              <a:schemeClr val="accent1"/>
            </a:solidFill>
          </a:ln>
        </p:spPr>
        <p:txBody>
          <a:bodyPr vert="horz">
            <a:normAutofit fontScale="47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   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binary</a:t>
            </a:r>
            <a:r>
              <a:rPr kumimoji="0" lang="en-US" sz="2600" b="0" i="0" u="none" strike="noStrike" kern="1200" cap="none" spc="0" normalizeH="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mn-lt"/>
                <a:ea typeface="+mn-ea"/>
                <a:cs typeface="+mn-cs"/>
              </a:rPr>
              <a:t>search(</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 integer,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increasing integers)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is the left endpoint of interval}</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a:ln>
                  <a:noFill/>
                </a:ln>
                <a:solidFill>
                  <a:schemeClr val="tx1"/>
                </a:solidFill>
                <a:effectLst/>
                <a:uLnTx/>
                <a:uFillTx/>
                <a:latin typeface="+mn-lt"/>
                <a:ea typeface="+mn-ea"/>
                <a:cs typeface="+mn-cs"/>
              </a:rPr>
              <a:t>    j</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is right endpoint of interval}</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while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&lt;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p>
          <a:p>
            <a:pPr marL="274320" lvl="0" indent="-274320">
              <a:spcBef>
                <a:spcPct val="20000"/>
              </a:spcBef>
              <a:buClr>
                <a:schemeClr val="accent3"/>
              </a:buClr>
              <a:buSzPct val="95000"/>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a:ea typeface="Cambria Math"/>
              </a:rPr>
              <a:t>⌊</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)/2</a:t>
            </a:r>
            <a:r>
              <a:rPr lang="en-US" sz="2600" dirty="0">
                <a:latin typeface="Cambria Math"/>
                <a:ea typeface="Cambria Math"/>
              </a:rPr>
              <a: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if</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 &gt;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m</a:t>
            </a:r>
            <a:r>
              <a:rPr kumimoji="0" lang="en-US" sz="2600" b="0" i="0" u="none" strike="noStrike" kern="1200" cap="none" spc="0" normalizeH="0" baseline="0" noProof="0" dirty="0">
                <a:ln>
                  <a:noFill/>
                </a:ln>
                <a:solidFill>
                  <a:schemeClr val="tx1"/>
                </a:solidFill>
                <a:effectLst/>
                <a:uLnTx/>
                <a:uFillTx/>
                <a:latin typeface="+mn-lt"/>
                <a:ea typeface="+mn-ea"/>
                <a:cs typeface="+mn-cs"/>
              </a:rPr>
              <a:t> then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m + 1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u="none" strike="noStrike" kern="1200" cap="none" spc="0" normalizeH="0" baseline="0" noProof="0" dirty="0">
                <a:ln>
                  <a:noFill/>
                </a:ln>
                <a:solidFill>
                  <a:schemeClr val="tx1"/>
                </a:solidFill>
                <a:effectLst/>
                <a:uLnTx/>
                <a:uFillTx/>
                <a:latin typeface="+mn-lt"/>
                <a:ea typeface="+mn-ea"/>
                <a:cs typeface="+mn-cs"/>
              </a:rPr>
              <a:t>else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 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if </a:t>
            </a:r>
            <a:r>
              <a:rPr kumimoji="0" lang="en-US" sz="2600" b="0" i="1" u="none" strike="noStrike" kern="1200" cap="none" spc="0" normalizeH="0" baseline="0" noProof="0" dirty="0">
                <a:ln>
                  <a:noFill/>
                </a:ln>
                <a:solidFill>
                  <a:schemeClr val="tx1"/>
                </a:solidFill>
                <a:effectLst/>
                <a:uLnTx/>
                <a:uFillTx/>
                <a:latin typeface="+mn-lt"/>
                <a:ea typeface="+mn-ea"/>
                <a:cs typeface="+mn-cs"/>
              </a:rPr>
              <a:t>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then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else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0</a:t>
            </a:r>
            <a:endParaRPr lang="en-US" sz="2600" dirty="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return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location</a:t>
            </a:r>
            <a:r>
              <a:rPr kumimoji="0" lang="en-US" sz="2600" b="0" u="none" strike="noStrike" kern="1200" cap="none" spc="0" normalizeH="0" baseline="0" noProof="0" dirty="0">
                <a:ln>
                  <a:noFill/>
                </a:ln>
                <a:solidFill>
                  <a:schemeClr val="tx1"/>
                </a:solidFill>
                <a:effectLst/>
                <a:uLnTx/>
                <a:uFillTx/>
                <a:latin typeface="+mn-lt"/>
                <a:ea typeface="+mn-ea"/>
                <a:cs typeface="+mn-cs"/>
              </a:rPr>
              <a:t>{location</a:t>
            </a:r>
            <a:r>
              <a:rPr kumimoji="0" lang="en-US" sz="2600" b="0" u="none" strike="noStrike" kern="1200" cap="none" spc="0" normalizeH="0" noProof="0" dirty="0">
                <a:ln>
                  <a:noFill/>
                </a:ln>
                <a:solidFill>
                  <a:schemeClr val="tx1"/>
                </a:solidFill>
                <a:effectLst/>
                <a:uLnTx/>
                <a:uFillTx/>
                <a:latin typeface="+mn-lt"/>
                <a:ea typeface="+mn-ea"/>
                <a:cs typeface="+mn-cs"/>
              </a:rPr>
              <a:t> is the subscript </a:t>
            </a:r>
            <a:r>
              <a:rPr kumimoji="0" lang="en-US" sz="2600" b="0" i="1" u="none" strike="noStrike" kern="1200" cap="none" spc="0" normalizeH="0" noProof="0" dirty="0" err="1">
                <a:ln>
                  <a:noFill/>
                </a:ln>
                <a:solidFill>
                  <a:schemeClr val="tx1"/>
                </a:solidFill>
                <a:effectLst/>
                <a:uLnTx/>
                <a:uFillTx/>
                <a:latin typeface="+mn-lt"/>
                <a:ea typeface="+mn-ea"/>
                <a:cs typeface="+mn-cs"/>
              </a:rPr>
              <a:t>i</a:t>
            </a:r>
            <a:r>
              <a:rPr kumimoji="0" lang="en-US" sz="2600" b="0" u="none" strike="noStrike" kern="1200" cap="none" spc="0" normalizeH="0" noProof="0" dirty="0">
                <a:ln>
                  <a:noFill/>
                </a:ln>
                <a:solidFill>
                  <a:schemeClr val="tx1"/>
                </a:solidFill>
                <a:effectLst/>
                <a:uLnTx/>
                <a:uFillTx/>
                <a:latin typeface="+mn-lt"/>
                <a:ea typeface="+mn-ea"/>
                <a:cs typeface="+mn-cs"/>
              </a:rPr>
              <a:t> of the term </a:t>
            </a:r>
            <a:r>
              <a:rPr lang="en-US" sz="2600" i="1" dirty="0" err="1"/>
              <a:t>a</a:t>
            </a:r>
            <a:r>
              <a:rPr lang="en-US" sz="2600" i="1" baseline="-25000" dirty="0" err="1"/>
              <a:t>i</a:t>
            </a:r>
            <a:r>
              <a:rPr lang="en-US" sz="2600" dirty="0"/>
              <a:t>  equal to </a:t>
            </a:r>
            <a:r>
              <a:rPr lang="en-US" sz="2600" i="1" dirty="0"/>
              <a:t>x</a:t>
            </a:r>
            <a:r>
              <a:rPr lang="en-US" sz="2600" dirty="0"/>
              <a:t>, or </a:t>
            </a:r>
            <a:r>
              <a:rPr lang="en-US" sz="2600" dirty="0">
                <a:latin typeface="Cambria Math" pitchFamily="18" charset="0"/>
                <a:ea typeface="Cambria Math" pitchFamily="18" charset="0"/>
              </a:rPr>
              <a:t>0</a:t>
            </a:r>
            <a:r>
              <a:rPr lang="en-US" sz="2600" dirty="0"/>
              <a:t> if </a:t>
            </a:r>
            <a:r>
              <a:rPr lang="en-US" sz="2600" i="1" dirty="0"/>
              <a:t>x</a:t>
            </a:r>
            <a:r>
              <a:rPr lang="en-US" sz="2600" dirty="0"/>
              <a:t> is not found} </a:t>
            </a:r>
          </a:p>
        </p:txBody>
      </p:sp>
      <p:sp>
        <p:nvSpPr>
          <p:cNvPr id="7" name="TextBox 6"/>
          <p:cNvSpPr txBox="1"/>
          <p:nvPr/>
        </p:nvSpPr>
        <p:spPr>
          <a:xfrm>
            <a:off x="152400" y="4648200"/>
            <a:ext cx="8839200" cy="2062103"/>
          </a:xfrm>
          <a:prstGeom prst="rect">
            <a:avLst/>
          </a:prstGeom>
          <a:noFill/>
        </p:spPr>
        <p:txBody>
          <a:bodyPr wrap="square" rtlCol="0">
            <a:spAutoFit/>
          </a:bodyPr>
          <a:lstStyle/>
          <a:p>
            <a:r>
              <a:rPr lang="en-US" sz="1600" b="1" dirty="0"/>
              <a:t>Solution</a:t>
            </a:r>
            <a:r>
              <a:rPr lang="en-US" sz="1600" dirty="0"/>
              <a:t>:  Assume (for simplicity) </a:t>
            </a:r>
            <a:r>
              <a:rPr lang="en-US" sz="1600" i="1" dirty="0"/>
              <a:t>n</a:t>
            </a:r>
            <a:r>
              <a:rPr lang="en-US" sz="1600" dirty="0"/>
              <a:t> = </a:t>
            </a:r>
            <a:r>
              <a:rPr lang="en-US" sz="1600" dirty="0">
                <a:latin typeface="Cambria Math" pitchFamily="18" charset="0"/>
                <a:ea typeface="Cambria Math" pitchFamily="18" charset="0"/>
              </a:rPr>
              <a:t>2</a:t>
            </a:r>
            <a:r>
              <a:rPr lang="en-US" sz="1600" i="1" baseline="30000" dirty="0"/>
              <a:t>k</a:t>
            </a:r>
            <a:r>
              <a:rPr lang="en-US" sz="1600" dirty="0"/>
              <a:t> elements. Note that </a:t>
            </a:r>
            <a:r>
              <a:rPr lang="en-US" sz="1600" i="1" dirty="0"/>
              <a:t>k</a:t>
            </a:r>
            <a:r>
              <a:rPr lang="en-US" sz="1600" dirty="0"/>
              <a:t> = log </a:t>
            </a:r>
            <a:r>
              <a:rPr lang="en-US" sz="1600" i="1" dirty="0"/>
              <a:t>n.  </a:t>
            </a:r>
          </a:p>
          <a:p>
            <a:pPr lvl="1">
              <a:buFont typeface="Arial" pitchFamily="34" charset="0"/>
              <a:buChar char="•"/>
            </a:pPr>
            <a:r>
              <a:rPr lang="en-US" sz="1600" dirty="0"/>
              <a:t>  Two comparisons are made at each stage;   </a:t>
            </a:r>
            <a:r>
              <a:rPr lang="en-US" sz="1600" i="1" dirty="0" err="1"/>
              <a:t>i</a:t>
            </a:r>
            <a:r>
              <a:rPr lang="en-US" sz="1600" dirty="0"/>
              <a:t> &lt; </a:t>
            </a:r>
            <a:r>
              <a:rPr lang="en-US" sz="1600" i="1" dirty="0"/>
              <a:t>j</a:t>
            </a:r>
            <a:r>
              <a:rPr lang="en-US" sz="1600" dirty="0"/>
              <a:t>, and </a:t>
            </a:r>
            <a:r>
              <a:rPr lang="en-US" sz="1600" i="1" dirty="0"/>
              <a:t>x</a:t>
            </a:r>
            <a:r>
              <a:rPr lang="en-US" sz="1600" dirty="0"/>
              <a:t> &gt; </a:t>
            </a:r>
            <a:r>
              <a:rPr lang="en-US" sz="1600" i="1" dirty="0"/>
              <a:t>a</a:t>
            </a:r>
            <a:r>
              <a:rPr lang="en-US" sz="1600" i="1" baseline="-25000" dirty="0"/>
              <a:t>m</a:t>
            </a:r>
            <a:r>
              <a:rPr lang="en-US" sz="1600" dirty="0"/>
              <a:t> .</a:t>
            </a:r>
          </a:p>
          <a:p>
            <a:pPr lvl="1">
              <a:buFont typeface="Arial" pitchFamily="34" charset="0"/>
              <a:buChar char="•"/>
            </a:pPr>
            <a:r>
              <a:rPr lang="en-US" sz="1600" dirty="0"/>
              <a:t>  At the first iteration the size of the list is </a:t>
            </a:r>
            <a:r>
              <a:rPr lang="en-US" sz="1600" dirty="0">
                <a:latin typeface="Cambria Math" pitchFamily="18" charset="0"/>
                <a:ea typeface="Cambria Math" pitchFamily="18" charset="0"/>
              </a:rPr>
              <a:t>2</a:t>
            </a:r>
            <a:r>
              <a:rPr lang="en-US" sz="1600" i="1" baseline="30000" dirty="0"/>
              <a:t>k </a:t>
            </a:r>
            <a:r>
              <a:rPr lang="en-US" sz="1600" dirty="0"/>
              <a:t> and after the first iteration it is </a:t>
            </a:r>
            <a:r>
              <a:rPr lang="en-US" sz="1600" dirty="0">
                <a:latin typeface="Cambria Math" pitchFamily="18" charset="0"/>
                <a:ea typeface="Cambria Math" pitchFamily="18" charset="0"/>
              </a:rPr>
              <a:t>2</a:t>
            </a:r>
            <a:r>
              <a:rPr lang="en-US" sz="1600" i="1" baseline="30000" dirty="0"/>
              <a:t>k</a:t>
            </a:r>
            <a:r>
              <a:rPr lang="en-US" sz="1600" baseline="30000" dirty="0"/>
              <a:t>-</a:t>
            </a:r>
            <a:r>
              <a:rPr lang="en-US" sz="1600" baseline="30000" dirty="0">
                <a:latin typeface="Cambria Math" pitchFamily="18" charset="0"/>
                <a:ea typeface="Cambria Math" pitchFamily="18" charset="0"/>
              </a:rPr>
              <a:t>1</a:t>
            </a:r>
            <a:r>
              <a:rPr lang="en-US" sz="1600" dirty="0">
                <a:latin typeface="Cambria Math" pitchFamily="18" charset="0"/>
                <a:ea typeface="Cambria Math" pitchFamily="18" charset="0"/>
              </a:rPr>
              <a:t>.  </a:t>
            </a:r>
            <a:r>
              <a:rPr lang="en-US" sz="1600" dirty="0"/>
              <a:t>Then  </a:t>
            </a:r>
            <a:r>
              <a:rPr lang="en-US" sz="1600" dirty="0">
                <a:latin typeface="Cambria Math" pitchFamily="18" charset="0"/>
                <a:ea typeface="Cambria Math" pitchFamily="18" charset="0"/>
              </a:rPr>
              <a:t>2</a:t>
            </a:r>
            <a:r>
              <a:rPr lang="en-US" sz="1600" i="1" baseline="30000" dirty="0"/>
              <a:t>k</a:t>
            </a:r>
            <a:r>
              <a:rPr lang="en-US" sz="1600" baseline="30000" dirty="0"/>
              <a:t>-</a:t>
            </a:r>
            <a:r>
              <a:rPr lang="en-US" sz="1600" baseline="30000" dirty="0">
                <a:latin typeface="Cambria Math" pitchFamily="18" charset="0"/>
                <a:ea typeface="Cambria Math" pitchFamily="18" charset="0"/>
              </a:rPr>
              <a:t>2</a:t>
            </a:r>
            <a:r>
              <a:rPr lang="en-US" sz="1600" dirty="0"/>
              <a:t> and so on until the size of the list is </a:t>
            </a:r>
            <a:r>
              <a:rPr lang="en-US" sz="1600" dirty="0">
                <a:latin typeface="Cambria Math" pitchFamily="18" charset="0"/>
                <a:ea typeface="Cambria Math" pitchFamily="18" charset="0"/>
              </a:rPr>
              <a:t>2</a:t>
            </a:r>
            <a:r>
              <a:rPr lang="en-US" sz="1600" baseline="30000" dirty="0">
                <a:latin typeface="Cambria Math" pitchFamily="18" charset="0"/>
                <a:ea typeface="Cambria Math" pitchFamily="18" charset="0"/>
              </a:rPr>
              <a:t>1</a:t>
            </a:r>
            <a:r>
              <a:rPr lang="en-US" sz="1600" dirty="0"/>
              <a:t> = </a:t>
            </a:r>
            <a:r>
              <a:rPr lang="en-US" sz="1600" dirty="0">
                <a:latin typeface="Cambria Math" pitchFamily="18" charset="0"/>
                <a:ea typeface="Cambria Math" pitchFamily="18" charset="0"/>
              </a:rPr>
              <a:t>2</a:t>
            </a:r>
            <a:r>
              <a:rPr lang="en-US" sz="1600" dirty="0"/>
              <a:t>. </a:t>
            </a:r>
          </a:p>
          <a:p>
            <a:pPr lvl="1">
              <a:buFont typeface="Arial" pitchFamily="34" charset="0"/>
              <a:buChar char="•"/>
            </a:pPr>
            <a:r>
              <a:rPr lang="en-US" sz="1600" dirty="0"/>
              <a:t>  At the last step, a comparison tells us that the size of the list is the size is </a:t>
            </a:r>
            <a:r>
              <a:rPr lang="en-US" sz="1600" dirty="0">
                <a:latin typeface="Cambria Math" pitchFamily="18" charset="0"/>
                <a:ea typeface="Cambria Math" pitchFamily="18" charset="0"/>
              </a:rPr>
              <a:t>2</a:t>
            </a:r>
            <a:r>
              <a:rPr lang="en-US" sz="1600" baseline="30000" dirty="0">
                <a:latin typeface="Cambria Math" pitchFamily="18" charset="0"/>
                <a:ea typeface="Cambria Math" pitchFamily="18" charset="0"/>
              </a:rPr>
              <a:t>0</a:t>
            </a:r>
            <a:r>
              <a:rPr lang="en-US" sz="1600" dirty="0"/>
              <a:t> = </a:t>
            </a:r>
            <a:r>
              <a:rPr lang="en-US" sz="1600" dirty="0">
                <a:latin typeface="Cambria Math" pitchFamily="18" charset="0"/>
                <a:ea typeface="Cambria Math" pitchFamily="18" charset="0"/>
              </a:rPr>
              <a:t>1</a:t>
            </a:r>
            <a:r>
              <a:rPr lang="en-US" sz="1600" dirty="0"/>
              <a:t> and the element is compared with the single remaining element.  </a:t>
            </a:r>
          </a:p>
          <a:p>
            <a:pPr lvl="1">
              <a:buFont typeface="Arial" pitchFamily="34" charset="0"/>
              <a:buChar char="•"/>
            </a:pPr>
            <a:r>
              <a:rPr lang="en-US" sz="1600" dirty="0"/>
              <a:t>  Hence, at most </a:t>
            </a:r>
            <a:r>
              <a:rPr lang="en-US" sz="1600" dirty="0">
                <a:latin typeface="Cambria Math" pitchFamily="18" charset="0"/>
                <a:ea typeface="Cambria Math" pitchFamily="18" charset="0"/>
              </a:rPr>
              <a:t>2</a:t>
            </a:r>
            <a:r>
              <a:rPr lang="en-US" sz="1600" i="1" dirty="0"/>
              <a:t>k</a:t>
            </a:r>
            <a:r>
              <a:rPr lang="en-US" sz="1600" dirty="0"/>
              <a:t> + </a:t>
            </a:r>
            <a:r>
              <a:rPr lang="en-US" sz="1600" dirty="0">
                <a:latin typeface="Cambria Math" pitchFamily="18" charset="0"/>
                <a:ea typeface="Cambria Math" pitchFamily="18" charset="0"/>
              </a:rPr>
              <a:t>2</a:t>
            </a:r>
            <a:r>
              <a:rPr lang="en-US" sz="1600" dirty="0"/>
              <a:t> = </a:t>
            </a:r>
            <a:r>
              <a:rPr lang="en-US" sz="1600" dirty="0">
                <a:latin typeface="Cambria Math" pitchFamily="18" charset="0"/>
                <a:ea typeface="Cambria Math" pitchFamily="18" charset="0"/>
              </a:rPr>
              <a:t>2</a:t>
            </a:r>
            <a:r>
              <a:rPr lang="en-US" sz="1600" dirty="0"/>
              <a:t> log </a:t>
            </a:r>
            <a:r>
              <a:rPr lang="en-US" sz="1600" i="1" dirty="0"/>
              <a:t>n</a:t>
            </a:r>
            <a:r>
              <a:rPr lang="en-US" sz="1600" dirty="0"/>
              <a:t> + </a:t>
            </a:r>
            <a:r>
              <a:rPr lang="en-US" sz="1600" dirty="0">
                <a:latin typeface="Cambria Math" pitchFamily="18" charset="0"/>
                <a:ea typeface="Cambria Math" pitchFamily="18" charset="0"/>
              </a:rPr>
              <a:t>2</a:t>
            </a:r>
            <a:r>
              <a:rPr lang="en-US" sz="1600" dirty="0"/>
              <a:t> comparisons are made. </a:t>
            </a:r>
          </a:p>
          <a:p>
            <a:pPr lvl="1">
              <a:buFont typeface="Arial" pitchFamily="34" charset="0"/>
              <a:buChar char="•"/>
            </a:pPr>
            <a:r>
              <a:rPr lang="en-US" sz="1600" dirty="0"/>
              <a:t>  Therefore, the time complexity is Θ (log </a:t>
            </a:r>
            <a:r>
              <a:rPr lang="en-US" sz="1600" i="1" dirty="0"/>
              <a:t>n</a:t>
            </a:r>
            <a:r>
              <a:rPr lang="en-US" sz="1600" dirty="0"/>
              <a:t>), better than linear search.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Worst-Case Complexity of Bubble Sort</a:t>
            </a:r>
          </a:p>
        </p:txBody>
      </p:sp>
      <p:sp>
        <p:nvSpPr>
          <p:cNvPr id="4" name="Content Placeholder 3"/>
          <p:cNvSpPr>
            <a:spLocks noGrp="1"/>
          </p:cNvSpPr>
          <p:nvPr>
            <p:ph idx="1"/>
          </p:nvPr>
        </p:nvSpPr>
        <p:spPr/>
        <p:txBody>
          <a:bodyPr/>
          <a:lstStyle/>
          <a:p>
            <a:pPr>
              <a:buNone/>
            </a:pPr>
            <a:r>
              <a:rPr lang="en-US" b="1" dirty="0"/>
              <a:t>   Example</a:t>
            </a:r>
            <a:r>
              <a:rPr lang="en-US" dirty="0"/>
              <a:t>: What is the worst-case complexity of bubble sort in terms of the number of comparisons made?</a:t>
            </a:r>
          </a:p>
        </p:txBody>
      </p:sp>
      <p:sp>
        <p:nvSpPr>
          <p:cNvPr id="5" name="Content Placeholder 2"/>
          <p:cNvSpPr txBox="1">
            <a:spLocks/>
          </p:cNvSpPr>
          <p:nvPr/>
        </p:nvSpPr>
        <p:spPr>
          <a:xfrm>
            <a:off x="2667000" y="2819400"/>
            <a:ext cx="5638800" cy="2057400"/>
          </a:xfrm>
          <a:prstGeom prst="rect">
            <a:avLst/>
          </a:prstGeom>
          <a:ln>
            <a:solidFill>
              <a:schemeClr val="accent1"/>
            </a:solidFill>
          </a:ln>
        </p:spPr>
        <p:txBody>
          <a:bodyPr vert="horz">
            <a:normAutofit fontScale="85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procedure</a:t>
            </a:r>
            <a:r>
              <a:rPr kumimoji="0" lang="en-US" sz="2600" b="1"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bubblesort</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real numbers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with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dirty="0"/>
              <a:t>≥</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a:t>i</a:t>
            </a:r>
            <a:r>
              <a:rPr kumimoji="0" lang="en-US" sz="2600" b="0" i="1"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kumimoji="0" lang="en-US" sz="2600" b="0" i="1" u="none" strike="noStrike" kern="1200" cap="none" spc="0" normalizeH="0" baseline="0" noProof="0" dirty="0">
                <a:ln>
                  <a:noFill/>
                </a:ln>
                <a:solidFill>
                  <a:schemeClr val="tx1"/>
                </a:solidFill>
                <a:effectLst/>
                <a:uLnTx/>
                <a:uFillTx/>
                <a:latin typeface="Cambria Math"/>
                <a:ea typeface="Cambria Math"/>
              </a:rPr>
              <a:t>−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lvl="0" indent="-274320">
              <a:spcBef>
                <a:spcPct val="20000"/>
              </a:spcBef>
              <a:buClr>
                <a:schemeClr val="accent3"/>
              </a:buClr>
              <a:buSzPct val="95000"/>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r>
              <a:rPr lang="en-US" sz="2600" i="1" dirty="0">
                <a:latin typeface="Cambria Math"/>
                <a:ea typeface="Cambria Math"/>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if</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&gt;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j</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then</a:t>
            </a:r>
            <a:r>
              <a:rPr kumimoji="0" lang="en-US" sz="2600" b="0" i="0" u="none" strike="noStrike" kern="1200" cap="none" spc="0" normalizeH="0" baseline="0" noProof="0" dirty="0">
                <a:ln>
                  <a:noFill/>
                </a:ln>
                <a:solidFill>
                  <a:schemeClr val="tx1"/>
                </a:solidFill>
                <a:effectLst/>
                <a:uLnTx/>
                <a:uFillTx/>
                <a:latin typeface="+mn-lt"/>
                <a:ea typeface="+mn-ea"/>
                <a:cs typeface="+mn-cs"/>
              </a:rPr>
              <a:t> interchange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and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j</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1"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is now in increasing order}</a:t>
            </a:r>
          </a:p>
        </p:txBody>
      </p:sp>
      <p:sp>
        <p:nvSpPr>
          <p:cNvPr id="7" name="TextBox 6"/>
          <p:cNvSpPr txBox="1"/>
          <p:nvPr/>
        </p:nvSpPr>
        <p:spPr>
          <a:xfrm>
            <a:off x="762000" y="4876800"/>
            <a:ext cx="8077200" cy="1754326"/>
          </a:xfrm>
          <a:prstGeom prst="rect">
            <a:avLst/>
          </a:prstGeom>
          <a:noFill/>
        </p:spPr>
        <p:txBody>
          <a:bodyPr wrap="square" rtlCol="0">
            <a:spAutoFit/>
          </a:bodyPr>
          <a:lstStyle/>
          <a:p>
            <a:r>
              <a:rPr lang="en-US" b="1" dirty="0"/>
              <a:t>Solution</a:t>
            </a:r>
            <a:r>
              <a:rPr lang="en-US" dirty="0"/>
              <a:t>: A sequence of </a:t>
            </a:r>
            <a:r>
              <a:rPr lang="en-US" i="1" dirty="0"/>
              <a:t>n</a:t>
            </a:r>
            <a:r>
              <a:rPr lang="en-US" dirty="0">
                <a:latin typeface="Cambria Math"/>
                <a:ea typeface="Cambria Math"/>
              </a:rPr>
              <a:t>−</a:t>
            </a:r>
            <a:r>
              <a:rPr lang="en-US" dirty="0">
                <a:latin typeface="Cambria Math" pitchFamily="18" charset="0"/>
                <a:ea typeface="Cambria Math" pitchFamily="18" charset="0"/>
              </a:rPr>
              <a:t>1</a:t>
            </a:r>
            <a:r>
              <a:rPr lang="en-US" dirty="0"/>
              <a:t> passes is made through the list. On each pass </a:t>
            </a:r>
            <a:r>
              <a:rPr lang="en-US" i="1" dirty="0"/>
              <a:t>n</a:t>
            </a:r>
            <a:r>
              <a:rPr lang="en-US" dirty="0"/>
              <a:t> </a:t>
            </a:r>
            <a:r>
              <a:rPr lang="en-US" dirty="0">
                <a:latin typeface="Cambria Math"/>
                <a:ea typeface="Cambria Math"/>
              </a:rPr>
              <a:t>−</a:t>
            </a:r>
            <a:r>
              <a:rPr lang="en-US" dirty="0"/>
              <a:t> </a:t>
            </a:r>
            <a:r>
              <a:rPr lang="en-US" i="1" dirty="0" err="1"/>
              <a:t>i</a:t>
            </a:r>
            <a:r>
              <a:rPr lang="en-US" dirty="0"/>
              <a:t> comparisons are made.</a:t>
            </a:r>
          </a:p>
          <a:p>
            <a:endParaRPr lang="en-US" dirty="0"/>
          </a:p>
          <a:p>
            <a:endParaRPr lang="en-US" dirty="0"/>
          </a:p>
          <a:p>
            <a:r>
              <a:rPr lang="en-US" dirty="0">
                <a:latin typeface="Cambria Math"/>
                <a:ea typeface="Cambria Math"/>
              </a:rPr>
              <a:t>The worst-case complexity of bubble sort is  </a:t>
            </a:r>
            <a:r>
              <a:rPr lang="en-US" dirty="0"/>
              <a:t>Θ(</a:t>
            </a:r>
            <a:r>
              <a:rPr lang="en-US" i="1" dirty="0"/>
              <a:t>n</a:t>
            </a:r>
            <a:r>
              <a:rPr lang="en-US" baseline="30000" dirty="0"/>
              <a:t>2</a:t>
            </a:r>
            <a:r>
              <a:rPr lang="en-US" dirty="0"/>
              <a:t>) since                                         .</a:t>
            </a:r>
          </a:p>
          <a:p>
            <a:r>
              <a:rPr lang="en-US" dirty="0"/>
              <a:t>                                                                            </a:t>
            </a:r>
          </a:p>
        </p:txBody>
      </p:sp>
      <p:pic>
        <p:nvPicPr>
          <p:cNvPr id="8" name="Picture 7" descr="addin_tmp.png"/>
          <p:cNvPicPr>
            <a:picLocks noChangeAspect="1"/>
          </p:cNvPicPr>
          <p:nvPr>
            <p:custDataLst>
              <p:tags r:id="rId1"/>
            </p:custDataLst>
          </p:nvPr>
        </p:nvPicPr>
        <p:blipFill>
          <a:blip r:embed="rId4" cstate="print"/>
          <a:stretch>
            <a:fillRect/>
          </a:stretch>
        </p:blipFill>
        <p:spPr>
          <a:xfrm>
            <a:off x="1447800" y="5562600"/>
            <a:ext cx="4509135" cy="346710"/>
          </a:xfrm>
          <a:prstGeom prst="rect">
            <a:avLst/>
          </a:prstGeom>
        </p:spPr>
      </p:pic>
      <p:pic>
        <p:nvPicPr>
          <p:cNvPr id="9" name="Picture 8" descr="addin_tmp.png"/>
          <p:cNvPicPr>
            <a:picLocks noChangeAspect="1"/>
          </p:cNvPicPr>
          <p:nvPr>
            <p:custDataLst>
              <p:tags r:id="rId2"/>
            </p:custDataLst>
          </p:nvPr>
        </p:nvPicPr>
        <p:blipFill>
          <a:blip r:embed="rId5" cstate="print"/>
          <a:stretch>
            <a:fillRect/>
          </a:stretch>
        </p:blipFill>
        <p:spPr>
          <a:xfrm>
            <a:off x="6400800" y="6019800"/>
            <a:ext cx="2219325" cy="34671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Worst-Case Complexity of Insertion Sort</a:t>
            </a:r>
          </a:p>
        </p:txBody>
      </p:sp>
      <p:sp>
        <p:nvSpPr>
          <p:cNvPr id="4" name="Content Placeholder 3"/>
          <p:cNvSpPr>
            <a:spLocks noGrp="1"/>
          </p:cNvSpPr>
          <p:nvPr>
            <p:ph idx="1"/>
          </p:nvPr>
        </p:nvSpPr>
        <p:spPr/>
        <p:txBody>
          <a:bodyPr/>
          <a:lstStyle/>
          <a:p>
            <a:pPr>
              <a:buNone/>
            </a:pPr>
            <a:r>
              <a:rPr lang="en-US" b="1" dirty="0"/>
              <a:t>   Example</a:t>
            </a:r>
            <a:r>
              <a:rPr lang="en-US" dirty="0"/>
              <a:t>: What is the worst-case complexity of insertion sort in terms of the number of comparisons made?</a:t>
            </a:r>
          </a:p>
        </p:txBody>
      </p:sp>
      <p:sp>
        <p:nvSpPr>
          <p:cNvPr id="5" name="Content Placeholder 2"/>
          <p:cNvSpPr txBox="1">
            <a:spLocks/>
          </p:cNvSpPr>
          <p:nvPr/>
        </p:nvSpPr>
        <p:spPr>
          <a:xfrm>
            <a:off x="4953000" y="2895600"/>
            <a:ext cx="3962400" cy="3352800"/>
          </a:xfrm>
          <a:prstGeom prst="rect">
            <a:avLst/>
          </a:prstGeom>
          <a:ln>
            <a:solidFill>
              <a:schemeClr val="accent1"/>
            </a:solidFill>
          </a:ln>
        </p:spPr>
        <p:txBody>
          <a:bodyPr vert="horz">
            <a:normAutofit fontScale="25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8000" b="1" dirty="0"/>
              <a:t>procedure</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a:ln>
                  <a:noFill/>
                </a:ln>
                <a:solidFill>
                  <a:schemeClr val="tx1"/>
                </a:solidFill>
                <a:effectLst/>
                <a:uLnTx/>
                <a:uFillTx/>
                <a:latin typeface="+mn-lt"/>
                <a:ea typeface="+mn-ea"/>
                <a:cs typeface="+mn-cs"/>
              </a:rPr>
              <a:t>insertion</a:t>
            </a:r>
            <a:r>
              <a:rPr kumimoji="0" lang="en-US" sz="8000" b="0" i="1" u="none" strike="noStrike" kern="1200" cap="none" spc="0" normalizeH="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a:ln>
                  <a:noFill/>
                </a:ln>
                <a:solidFill>
                  <a:schemeClr val="tx1"/>
                </a:solidFill>
                <a:effectLst/>
                <a:uLnTx/>
                <a:uFillTx/>
                <a:latin typeface="+mn-lt"/>
                <a:ea typeface="+mn-ea"/>
                <a:cs typeface="+mn-cs"/>
              </a:rPr>
              <a:t>sort</a:t>
            </a:r>
            <a:r>
              <a:rPr kumimoji="0" lang="en-US" sz="8000" b="0" i="0" u="none" strike="noStrike" kern="1200" cap="none" spc="0" normalizeH="0" baseline="0" noProof="0" dirty="0">
                <a:ln>
                  <a:noFill/>
                </a:ln>
                <a:solidFill>
                  <a:schemeClr val="tx1"/>
                </a:solidFill>
                <a:effectLst/>
                <a:uLnTx/>
                <a:uFillTx/>
                <a:latin typeface="+mn-lt"/>
                <a:ea typeface="+mn-ea"/>
                <a:cs typeface="+mn-cs"/>
              </a:rPr>
              <a:t>(</a:t>
            </a:r>
            <a:r>
              <a:rPr kumimoji="0" lang="en-US" sz="8000" b="0" i="1" u="none" strike="noStrike" kern="1200" cap="none" spc="0" normalizeH="0" baseline="0" noProof="0" dirty="0">
                <a:ln>
                  <a:noFill/>
                </a:ln>
                <a:solidFill>
                  <a:schemeClr val="tx1"/>
                </a:solidFill>
                <a:effectLst/>
                <a:uLnTx/>
                <a:uFillTx/>
                <a:latin typeface="+mn-lt"/>
                <a:ea typeface="+mn-ea"/>
                <a:cs typeface="+mn-cs"/>
              </a:rPr>
              <a:t>a</a:t>
            </a:r>
            <a:r>
              <a:rPr kumimoji="0" lang="en-US" sz="8000" b="0" i="0" u="none" strike="noStrike" kern="1200" cap="none" spc="0" normalizeH="0" baseline="-25000" noProof="0" dirty="0">
                <a:ln>
                  <a:noFill/>
                </a:ln>
                <a:solidFill>
                  <a:schemeClr val="tx1"/>
                </a:solidFill>
                <a:effectLst/>
                <a:uLnTx/>
                <a:uFillTx/>
                <a:latin typeface="+mn-lt"/>
                <a:ea typeface="+mn-ea"/>
                <a:cs typeface="+mn-cs"/>
              </a:rPr>
              <a:t>1</a:t>
            </a:r>
            <a:r>
              <a:rPr kumimoji="0" lang="en-US" sz="8000" b="0" i="0" u="none" strike="noStrike" kern="1200" cap="none" spc="0" normalizeH="0" baseline="0" noProof="0" dirty="0">
                <a:ln>
                  <a:noFill/>
                </a:ln>
                <a:solidFill>
                  <a:schemeClr val="tx1"/>
                </a:solidFill>
                <a:effectLst/>
                <a:uLnTx/>
                <a:uFillTx/>
                <a:latin typeface="+mn-lt"/>
                <a:ea typeface="+mn-ea"/>
                <a:cs typeface="+mn-cs"/>
              </a:rPr>
              <a:t>,…,</a:t>
            </a:r>
            <a:r>
              <a:rPr kumimoji="0" lang="en-US" sz="8000" b="0" i="1" u="none" strike="noStrike" kern="1200" cap="none" spc="0" normalizeH="0" baseline="0" noProof="0" dirty="0">
                <a:ln>
                  <a:noFill/>
                </a:ln>
                <a:solidFill>
                  <a:schemeClr val="tx1"/>
                </a:solidFill>
                <a:effectLst/>
                <a:uLnTx/>
                <a:uFillTx/>
                <a:latin typeface="+mn-lt"/>
                <a:ea typeface="+mn-ea"/>
                <a:cs typeface="+mn-cs"/>
              </a:rPr>
              <a:t>a</a:t>
            </a:r>
            <a:r>
              <a:rPr kumimoji="0" lang="en-US" sz="8000" b="0" i="1" u="none" strike="noStrike" kern="1200" cap="none" spc="0" normalizeH="0" baseline="-25000" noProof="0" dirty="0">
                <a:ln>
                  <a:noFill/>
                </a:ln>
                <a:solidFill>
                  <a:schemeClr val="tx1"/>
                </a:solidFill>
                <a:effectLst/>
                <a:uLnTx/>
                <a:uFillTx/>
                <a:latin typeface="+mn-lt"/>
                <a:ea typeface="+mn-ea"/>
                <a:cs typeface="+mn-cs"/>
              </a:rPr>
              <a:t>n</a:t>
            </a:r>
            <a:r>
              <a:rPr kumimoji="0" lang="en-US" sz="80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8000" dirty="0"/>
              <a:t>                </a:t>
            </a:r>
            <a:r>
              <a:rPr kumimoji="0" lang="en-US" sz="8000" b="0" i="0" u="none" strike="noStrike" kern="1200" cap="none" spc="0" normalizeH="0" baseline="0" noProof="0" dirty="0">
                <a:ln>
                  <a:noFill/>
                </a:ln>
                <a:solidFill>
                  <a:schemeClr val="tx1"/>
                </a:solidFill>
                <a:effectLst/>
                <a:uLnTx/>
                <a:uFillTx/>
                <a:latin typeface="+mn-lt"/>
                <a:ea typeface="+mn-ea"/>
                <a:cs typeface="+mn-cs"/>
              </a:rPr>
              <a:t>real numbers with </a:t>
            </a:r>
            <a:r>
              <a:rPr kumimoji="0" lang="en-US" sz="8000" b="0" i="1" u="none" strike="noStrike" kern="1200" cap="none" spc="0" normalizeH="0" baseline="0" noProof="0" dirty="0">
                <a:ln>
                  <a:noFill/>
                </a:ln>
                <a:solidFill>
                  <a:schemeClr val="tx1"/>
                </a:solidFill>
                <a:effectLst/>
                <a:uLnTx/>
                <a:uFillTx/>
                <a:latin typeface="+mn-lt"/>
                <a:ea typeface="+mn-ea"/>
                <a:cs typeface="+mn-cs"/>
              </a:rPr>
              <a:t>n</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lang="en-US" sz="8000" dirty="0"/>
              <a:t>≥</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2</a:t>
            </a:r>
            <a:r>
              <a:rPr kumimoji="0" lang="en-US" sz="80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1" i="0" u="none" strike="noStrike" kern="1200" cap="none" spc="0" normalizeH="0" baseline="0" noProof="0" dirty="0">
                <a:ln>
                  <a:noFill/>
                </a:ln>
                <a:solidFill>
                  <a:schemeClr val="tx1"/>
                </a:solidFill>
                <a:effectLst/>
                <a:uLnTx/>
                <a:uFillTx/>
                <a:latin typeface="+mn-lt"/>
                <a:ea typeface="+mn-ea"/>
                <a:cs typeface="+mn-cs"/>
              </a:rPr>
              <a:t>     for </a:t>
            </a:r>
            <a:r>
              <a:rPr kumimoji="0" lang="en-US" sz="8000" b="0" i="1" u="none" strike="noStrike" kern="1200" cap="none" spc="0" normalizeH="0" baseline="0" noProof="0" dirty="0">
                <a:ln>
                  <a:noFill/>
                </a:ln>
                <a:solidFill>
                  <a:schemeClr val="tx1"/>
                </a:solidFill>
                <a:effectLst/>
                <a:uLnTx/>
                <a:uFillTx/>
                <a:latin typeface="+mn-lt"/>
                <a:ea typeface="+mn-ea"/>
                <a:cs typeface="+mn-cs"/>
              </a:rPr>
              <a:t>j</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2</a:t>
            </a:r>
            <a:r>
              <a:rPr kumimoji="0" lang="en-US" sz="8000" b="0" i="0" u="none" strike="noStrike" kern="1200" cap="none" spc="0" normalizeH="0" baseline="0" noProof="0" dirty="0">
                <a:ln>
                  <a:noFill/>
                </a:ln>
                <a:solidFill>
                  <a:schemeClr val="tx1"/>
                </a:solidFill>
                <a:effectLst/>
                <a:uLnTx/>
                <a:uFillTx/>
                <a:latin typeface="+mn-lt"/>
                <a:ea typeface="+mn-ea"/>
                <a:cs typeface="+mn-cs"/>
              </a:rPr>
              <a:t> to </a:t>
            </a:r>
            <a:r>
              <a:rPr kumimoji="0" lang="en-US" sz="8000" b="0" i="1" u="none" strike="noStrike" kern="1200" cap="none" spc="0" normalizeH="0" baseline="0" noProof="0" dirty="0">
                <a:ln>
                  <a:noFill/>
                </a:ln>
                <a:solidFill>
                  <a:schemeClr val="tx1"/>
                </a:solidFill>
                <a:effectLst/>
                <a:uLnTx/>
                <a:uFillTx/>
                <a:latin typeface="+mn-lt"/>
                <a:ea typeface="+mn-ea"/>
                <a:cs typeface="+mn-cs"/>
              </a:rPr>
              <a:t>n</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i</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1" i="0" u="none" strike="noStrike" kern="1200" cap="none" spc="0" normalizeH="0" baseline="0" noProof="0" dirty="0">
                <a:ln>
                  <a:noFill/>
                </a:ln>
                <a:solidFill>
                  <a:schemeClr val="tx1"/>
                </a:solidFill>
                <a:effectLst/>
                <a:uLnTx/>
                <a:uFillTx/>
                <a:latin typeface="+mn-lt"/>
                <a:ea typeface="+mn-ea"/>
                <a:cs typeface="+mn-cs"/>
              </a:rPr>
              <a:t>while</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j</a:t>
            </a:r>
            <a:r>
              <a:rPr kumimoji="0" lang="en-US" sz="8000" b="0" i="0" u="none" strike="noStrike" kern="1200" cap="none" spc="0" normalizeH="0" baseline="0" noProof="0" dirty="0">
                <a:ln>
                  <a:noFill/>
                </a:ln>
                <a:solidFill>
                  <a:schemeClr val="tx1"/>
                </a:solidFill>
                <a:effectLst/>
                <a:uLnTx/>
                <a:uFillTx/>
                <a:latin typeface="+mn-lt"/>
                <a:ea typeface="+mn-ea"/>
                <a:cs typeface="+mn-cs"/>
              </a:rPr>
              <a:t> &gt;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i</a:t>
            </a:r>
            <a:endParaRPr kumimoji="0" lang="en-US" sz="80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i</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1" u="none" strike="noStrike" kern="1200" cap="none" spc="0" normalizeH="0" baseline="0" noProof="0" dirty="0" err="1">
                <a:ln>
                  <a:noFill/>
                </a:ln>
                <a:solidFill>
                  <a:schemeClr val="tx1"/>
                </a:solidFill>
                <a:effectLst/>
                <a:uLnTx/>
                <a:uFillTx/>
                <a:latin typeface="+mn-lt"/>
                <a:ea typeface="+mn-ea"/>
                <a:cs typeface="+mn-cs"/>
              </a:rPr>
              <a:t>i</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a:ln>
                  <a:noFill/>
                </a:ln>
                <a:solidFill>
                  <a:schemeClr val="tx1"/>
                </a:solidFill>
                <a:effectLst/>
                <a:uLnTx/>
                <a:uFillTx/>
                <a:latin typeface="+mn-lt"/>
                <a:ea typeface="+mn-ea"/>
                <a:cs typeface="+mn-cs"/>
              </a:rPr>
              <a:t>m</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j</a:t>
            </a:r>
            <a:endParaRPr kumimoji="0" lang="en-US" sz="8000" b="0" i="1" u="none" strike="noStrike" kern="1200" cap="none" spc="0" normalizeH="0" baseline="-25000" noProof="0" dirty="0">
              <a:ln>
                <a:noFill/>
              </a:ln>
              <a:solidFill>
                <a:schemeClr val="tx1"/>
              </a:solidFill>
              <a:effectLst/>
              <a:uLnTx/>
              <a:uFillTx/>
              <a:latin typeface="+mn-lt"/>
              <a:ea typeface="+mn-ea"/>
              <a:cs typeface="+mn-cs"/>
            </a:endParaRPr>
          </a:p>
          <a:p>
            <a:pPr marL="274320" lvl="0" indent="-274320">
              <a:spcBef>
                <a:spcPct val="20000"/>
              </a:spcBef>
              <a:buClr>
                <a:schemeClr val="accent3"/>
              </a:buClr>
              <a:buSzPct val="95000"/>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1" i="0" u="none" strike="noStrike" kern="1200" cap="none" spc="0" normalizeH="0" baseline="0" noProof="0" dirty="0">
                <a:ln>
                  <a:noFill/>
                </a:ln>
                <a:solidFill>
                  <a:schemeClr val="tx1"/>
                </a:solidFill>
                <a:effectLst/>
                <a:uLnTx/>
                <a:uFillTx/>
                <a:latin typeface="+mn-lt"/>
                <a:ea typeface="+mn-ea"/>
                <a:cs typeface="+mn-cs"/>
              </a:rPr>
              <a:t>for</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a:ln>
                  <a:noFill/>
                </a:ln>
                <a:solidFill>
                  <a:schemeClr val="tx1"/>
                </a:solidFill>
                <a:effectLst/>
                <a:uLnTx/>
                <a:uFillTx/>
                <a:latin typeface="+mn-lt"/>
                <a:ea typeface="+mn-ea"/>
                <a:cs typeface="+mn-cs"/>
              </a:rPr>
              <a:t>k</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0</a:t>
            </a:r>
            <a:r>
              <a:rPr kumimoji="0" lang="en-US" sz="8000" b="0" i="0" u="none" strike="noStrike" kern="1200" cap="none" spc="0" normalizeH="0" baseline="0" noProof="0" dirty="0">
                <a:ln>
                  <a:noFill/>
                </a:ln>
                <a:solidFill>
                  <a:schemeClr val="tx1"/>
                </a:solidFill>
                <a:effectLst/>
                <a:uLnTx/>
                <a:uFillTx/>
                <a:latin typeface="+mn-lt"/>
                <a:ea typeface="+mn-ea"/>
                <a:cs typeface="+mn-cs"/>
              </a:rPr>
              <a:t> to </a:t>
            </a:r>
            <a:r>
              <a:rPr kumimoji="0" lang="en-US" sz="8000" b="0" i="1" u="none" strike="noStrike" kern="1200" cap="none" spc="0" normalizeH="0" baseline="0" noProof="0" dirty="0">
                <a:ln>
                  <a:noFill/>
                </a:ln>
                <a:solidFill>
                  <a:schemeClr val="tx1"/>
                </a:solidFill>
                <a:effectLst/>
                <a:uLnTx/>
                <a:uFillTx/>
                <a:latin typeface="+mn-lt"/>
                <a:ea typeface="+mn-ea"/>
                <a:cs typeface="+mn-cs"/>
              </a:rPr>
              <a:t>j</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0" u="none" strike="noStrike" kern="1200" cap="none" spc="0" normalizeH="0" baseline="0" noProof="0" dirty="0">
                <a:ln>
                  <a:noFill/>
                </a:ln>
                <a:solidFill>
                  <a:schemeClr val="tx1"/>
                </a:solidFill>
                <a:effectLst/>
                <a:uLnTx/>
                <a:uFillTx/>
                <a:latin typeface="Cambria Math"/>
                <a:ea typeface="Cambria Math"/>
              </a:rPr>
              <a:t>−</a:t>
            </a: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i</a:t>
            </a:r>
            <a:r>
              <a:rPr kumimoji="0" lang="en-US" sz="8000" b="0" i="1" u="none" strike="noStrike" kern="1200" cap="none" spc="0" normalizeH="0" baseline="0" noProof="0" dirty="0">
                <a:ln>
                  <a:noFill/>
                </a:ln>
                <a:solidFill>
                  <a:schemeClr val="tx1"/>
                </a:solidFill>
                <a:effectLst/>
                <a:uLnTx/>
                <a:uFillTx/>
                <a:latin typeface="+mn-lt"/>
                <a:ea typeface="+mn-ea"/>
                <a:cs typeface="+mn-cs"/>
              </a:rPr>
              <a:t> </a:t>
            </a:r>
            <a:r>
              <a:rPr lang="en-US" sz="8000" dirty="0">
                <a:latin typeface="Cambria Math"/>
                <a:ea typeface="Cambria Math"/>
              </a:rPr>
              <a:t>− </a:t>
            </a:r>
            <a:r>
              <a:rPr kumimoji="0" lang="en-US" sz="80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j</a:t>
            </a:r>
            <a:r>
              <a:rPr kumimoji="0" lang="en-US" sz="8000" b="0" u="none" strike="noStrike" kern="1200" cap="none" spc="0" normalizeH="0" baseline="-25000" noProof="0" dirty="0">
                <a:ln>
                  <a:noFill/>
                </a:ln>
                <a:solidFill>
                  <a:schemeClr val="tx1"/>
                </a:solidFill>
                <a:effectLst/>
                <a:uLnTx/>
                <a:uFillTx/>
                <a:latin typeface="+mn-lt"/>
                <a:ea typeface="+mn-ea"/>
                <a:cs typeface="+mn-cs"/>
              </a:rPr>
              <a:t>-</a:t>
            </a:r>
            <a:r>
              <a:rPr kumimoji="0" lang="en-US" sz="8000" b="0" i="1" u="none" strike="noStrike" kern="1200" cap="none" spc="0" normalizeH="0" baseline="-25000" noProof="0" dirty="0">
                <a:ln>
                  <a:noFill/>
                </a:ln>
                <a:solidFill>
                  <a:schemeClr val="tx1"/>
                </a:solidFill>
                <a:effectLst/>
                <a:uLnTx/>
                <a:uFillTx/>
                <a:latin typeface="+mn-lt"/>
                <a:ea typeface="+mn-ea"/>
                <a:cs typeface="+mn-cs"/>
              </a:rPr>
              <a:t>k</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1" u="none" strike="noStrike" kern="1200" cap="none" spc="0" normalizeH="0" baseline="0" noProof="0" dirty="0">
                <a:ln>
                  <a:noFill/>
                </a:ln>
                <a:solidFill>
                  <a:schemeClr val="tx1"/>
                </a:solidFill>
                <a:effectLst/>
                <a:uLnTx/>
                <a:uFillTx/>
                <a:latin typeface="+mn-lt"/>
                <a:ea typeface="+mn-ea"/>
                <a:cs typeface="+mn-cs"/>
              </a:rPr>
              <a:t>a</a:t>
            </a:r>
            <a:r>
              <a:rPr kumimoji="0" lang="en-US" sz="8000" b="0" i="1" u="none" strike="noStrike" kern="1200" cap="none" spc="0" normalizeH="0" baseline="-25000" noProof="0" dirty="0">
                <a:ln>
                  <a:noFill/>
                </a:ln>
                <a:solidFill>
                  <a:schemeClr val="tx1"/>
                </a:solidFill>
                <a:effectLst/>
                <a:uLnTx/>
                <a:uFillTx/>
                <a:latin typeface="+mn-lt"/>
                <a:ea typeface="+mn-ea"/>
                <a:cs typeface="+mn-cs"/>
              </a:rPr>
              <a:t>j</a:t>
            </a:r>
            <a:r>
              <a:rPr kumimoji="0" lang="en-US" sz="8000" b="0" u="none" strike="noStrike" kern="1200" cap="none" spc="0" normalizeH="0" baseline="-25000" noProof="0" dirty="0">
                <a:ln>
                  <a:noFill/>
                </a:ln>
                <a:solidFill>
                  <a:schemeClr val="tx1"/>
                </a:solidFill>
                <a:effectLst/>
                <a:uLnTx/>
                <a:uFillTx/>
                <a:latin typeface="+mn-lt"/>
                <a:ea typeface="+mn-ea"/>
                <a:cs typeface="+mn-cs"/>
              </a:rPr>
              <a:t>-</a:t>
            </a:r>
            <a:r>
              <a:rPr kumimoji="0" lang="en-US" sz="8000" b="0" i="1" u="none" strike="noStrike" kern="1200" cap="none" spc="0" normalizeH="0" baseline="-25000" noProof="0" dirty="0">
                <a:ln>
                  <a:noFill/>
                </a:ln>
                <a:solidFill>
                  <a:schemeClr val="tx1"/>
                </a:solidFill>
                <a:effectLst/>
                <a:uLnTx/>
                <a:uFillTx/>
                <a:latin typeface="+mn-lt"/>
                <a:ea typeface="+mn-ea"/>
                <a:cs typeface="+mn-cs"/>
              </a:rPr>
              <a:t>k-1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r>
              <a:rPr kumimoji="0" lang="en-US" sz="8000" b="0" i="1" u="none" strike="noStrike" kern="1200" cap="none" spc="0" normalizeH="0" baseline="0" noProof="0" dirty="0" err="1">
                <a:ln>
                  <a:noFill/>
                </a:ln>
                <a:solidFill>
                  <a:schemeClr val="tx1"/>
                </a:solidFill>
                <a:effectLst/>
                <a:uLnTx/>
                <a:uFillTx/>
                <a:latin typeface="+mn-lt"/>
                <a:ea typeface="+mn-ea"/>
                <a:cs typeface="+mn-cs"/>
              </a:rPr>
              <a:t>a</a:t>
            </a:r>
            <a:r>
              <a:rPr kumimoji="0" lang="en-US" sz="8000" b="0" i="1" u="none" strike="noStrike" kern="1200" cap="none" spc="0" normalizeH="0" baseline="-25000" noProof="0" dirty="0" err="1">
                <a:ln>
                  <a:noFill/>
                </a:ln>
                <a:solidFill>
                  <a:schemeClr val="tx1"/>
                </a:solidFill>
                <a:effectLst/>
                <a:uLnTx/>
                <a:uFillTx/>
                <a:latin typeface="+mn-lt"/>
                <a:ea typeface="+mn-ea"/>
                <a:cs typeface="+mn-cs"/>
              </a:rPr>
              <a:t>i</a:t>
            </a:r>
            <a:r>
              <a:rPr kumimoji="0" lang="en-US" sz="8000" b="0" i="0" u="none" strike="noStrike" kern="1200" cap="none" spc="0" normalizeH="0" baseline="0" noProof="0" dirty="0">
                <a:ln>
                  <a:noFill/>
                </a:ln>
                <a:solidFill>
                  <a:schemeClr val="tx1"/>
                </a:solidFill>
                <a:effectLst/>
                <a:uLnTx/>
                <a:uFillTx/>
                <a:latin typeface="+mn-lt"/>
                <a:ea typeface="+mn-ea"/>
                <a:cs typeface="+mn-cs"/>
              </a:rPr>
              <a:t> := </a:t>
            </a:r>
            <a:r>
              <a:rPr kumimoji="0" lang="en-US" sz="8000" b="0" i="1" u="none" strike="noStrike" kern="1200" cap="none" spc="0" normalizeH="0" baseline="0" noProof="0" dirty="0">
                <a:ln>
                  <a:noFill/>
                </a:ln>
                <a:solidFill>
                  <a:schemeClr val="tx1"/>
                </a:solidFill>
                <a:effectLst/>
                <a:uLnTx/>
                <a:uFillTx/>
                <a:latin typeface="+mn-lt"/>
                <a:ea typeface="+mn-ea"/>
                <a:cs typeface="+mn-cs"/>
              </a:rPr>
              <a:t>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US" sz="80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80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p>
        </p:txBody>
      </p:sp>
      <p:sp>
        <p:nvSpPr>
          <p:cNvPr id="7" name="TextBox 6"/>
          <p:cNvSpPr txBox="1"/>
          <p:nvPr/>
        </p:nvSpPr>
        <p:spPr>
          <a:xfrm>
            <a:off x="838200" y="3581400"/>
            <a:ext cx="3886200" cy="1754326"/>
          </a:xfrm>
          <a:prstGeom prst="rect">
            <a:avLst/>
          </a:prstGeom>
          <a:noFill/>
        </p:spPr>
        <p:txBody>
          <a:bodyPr wrap="square" rtlCol="0">
            <a:spAutoFit/>
          </a:bodyPr>
          <a:lstStyle/>
          <a:p>
            <a:r>
              <a:rPr lang="en-US" b="1" dirty="0"/>
              <a:t>Solution</a:t>
            </a:r>
            <a:r>
              <a:rPr lang="en-US" dirty="0"/>
              <a:t>: The total number of comparisons are:</a:t>
            </a:r>
          </a:p>
          <a:p>
            <a:endParaRPr lang="en-US" dirty="0"/>
          </a:p>
          <a:p>
            <a:endParaRPr lang="en-US" dirty="0"/>
          </a:p>
          <a:p>
            <a:endParaRPr lang="en-US" dirty="0"/>
          </a:p>
          <a:p>
            <a:r>
              <a:rPr lang="en-US" dirty="0"/>
              <a:t>Therefore the complexity is Θ(</a:t>
            </a:r>
            <a:r>
              <a:rPr lang="en-US" i="1" dirty="0"/>
              <a:t>n</a:t>
            </a:r>
            <a:r>
              <a:rPr lang="en-US" baseline="30000" dirty="0">
                <a:latin typeface="Cambria Math" pitchFamily="18" charset="0"/>
                <a:ea typeface="Cambria Math" pitchFamily="18" charset="0"/>
              </a:rPr>
              <a:t>2</a:t>
            </a:r>
            <a:r>
              <a:rPr lang="en-US" dirty="0"/>
              <a:t>).</a:t>
            </a:r>
          </a:p>
        </p:txBody>
      </p:sp>
      <p:pic>
        <p:nvPicPr>
          <p:cNvPr id="10" name="Picture 9" descr="addin_tmp.png"/>
          <p:cNvPicPr>
            <a:picLocks noChangeAspect="1"/>
          </p:cNvPicPr>
          <p:nvPr>
            <p:custDataLst>
              <p:tags r:id="rId1"/>
            </p:custDataLst>
          </p:nvPr>
        </p:nvPicPr>
        <p:blipFill>
          <a:blip r:embed="rId4" cstate="print"/>
          <a:stretch>
            <a:fillRect/>
          </a:stretch>
        </p:blipFill>
        <p:spPr>
          <a:xfrm>
            <a:off x="914400" y="4343400"/>
            <a:ext cx="3240405" cy="34671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Matrix Multiplication Algorithm</a:t>
            </a:r>
          </a:p>
        </p:txBody>
      </p:sp>
      <p:sp>
        <p:nvSpPr>
          <p:cNvPr id="3" name="Content Placeholder 2"/>
          <p:cNvSpPr>
            <a:spLocks noGrp="1"/>
          </p:cNvSpPr>
          <p:nvPr>
            <p:ph idx="1"/>
          </p:nvPr>
        </p:nvSpPr>
        <p:spPr/>
        <p:txBody>
          <a:bodyPr>
            <a:normAutofit/>
          </a:bodyPr>
          <a:lstStyle/>
          <a:p>
            <a:r>
              <a:rPr lang="en-US" sz="2400" dirty="0"/>
              <a:t>The definition for matrix multiplication can be expressed as an algorithm; </a:t>
            </a:r>
            <a:r>
              <a:rPr lang="en-US" sz="2400" b="1" dirty="0"/>
              <a:t>C</a:t>
            </a:r>
            <a:r>
              <a:rPr lang="en-US" sz="2400" dirty="0"/>
              <a:t>  = </a:t>
            </a:r>
            <a:r>
              <a:rPr lang="en-US" sz="2400" b="1" dirty="0"/>
              <a:t>A B</a:t>
            </a:r>
            <a:r>
              <a:rPr lang="en-US" sz="2400" dirty="0"/>
              <a:t>  where </a:t>
            </a:r>
            <a:r>
              <a:rPr lang="en-US" sz="2400" b="1" dirty="0"/>
              <a:t>C</a:t>
            </a:r>
            <a:r>
              <a:rPr lang="en-US" sz="2400" dirty="0"/>
              <a:t> is an </a:t>
            </a:r>
            <a:r>
              <a:rPr lang="en-US" sz="2400" i="1" dirty="0"/>
              <a:t>m</a:t>
            </a:r>
            <a:r>
              <a:rPr lang="en-US" sz="2400" dirty="0"/>
              <a:t>    </a:t>
            </a:r>
            <a:r>
              <a:rPr lang="en-US" sz="2400" i="1" dirty="0"/>
              <a:t>n</a:t>
            </a:r>
            <a:r>
              <a:rPr lang="en-US" sz="2400" dirty="0"/>
              <a:t> matrix that is the product of the </a:t>
            </a:r>
            <a:r>
              <a:rPr lang="en-US" sz="2400" i="1" dirty="0"/>
              <a:t>m</a:t>
            </a:r>
            <a:r>
              <a:rPr lang="en-US" sz="2400" dirty="0"/>
              <a:t>    </a:t>
            </a:r>
            <a:r>
              <a:rPr lang="en-US" sz="2400" i="1" dirty="0"/>
              <a:t>k</a:t>
            </a:r>
            <a:r>
              <a:rPr lang="en-US" sz="2400" dirty="0"/>
              <a:t> matrix </a:t>
            </a:r>
            <a:r>
              <a:rPr lang="en-US" sz="2400" b="1" dirty="0"/>
              <a:t>A</a:t>
            </a:r>
            <a:r>
              <a:rPr lang="en-US" sz="2400" dirty="0"/>
              <a:t> and the   </a:t>
            </a:r>
            <a:r>
              <a:rPr lang="en-US" sz="2400" i="1" dirty="0"/>
              <a:t>k</a:t>
            </a:r>
            <a:r>
              <a:rPr lang="en-US" sz="2400" dirty="0"/>
              <a:t>    </a:t>
            </a:r>
            <a:r>
              <a:rPr lang="en-US" sz="2400" i="1" dirty="0"/>
              <a:t>n</a:t>
            </a:r>
            <a:r>
              <a:rPr lang="en-US" sz="2400" dirty="0"/>
              <a:t> matrix </a:t>
            </a:r>
            <a:r>
              <a:rPr lang="en-US" sz="2400" b="1" dirty="0"/>
              <a:t>B</a:t>
            </a:r>
            <a:r>
              <a:rPr lang="en-US" sz="2400" dirty="0"/>
              <a:t>.</a:t>
            </a:r>
          </a:p>
          <a:p>
            <a:r>
              <a:rPr lang="en-US" sz="2400" dirty="0"/>
              <a:t>This algorithm carries out matrix multiplication based on its definition. </a:t>
            </a:r>
          </a:p>
        </p:txBody>
      </p:sp>
      <p:sp>
        <p:nvSpPr>
          <p:cNvPr id="4" name="Content Placeholder 2"/>
          <p:cNvSpPr txBox="1">
            <a:spLocks/>
          </p:cNvSpPr>
          <p:nvPr/>
        </p:nvSpPr>
        <p:spPr>
          <a:xfrm>
            <a:off x="1600200" y="3962400"/>
            <a:ext cx="6553200" cy="2362200"/>
          </a:xfrm>
          <a:prstGeom prst="rect">
            <a:avLst/>
          </a:prstGeom>
          <a:ln>
            <a:solidFill>
              <a:schemeClr val="accent1"/>
            </a:solidFill>
          </a:ln>
        </p:spPr>
        <p:txBody>
          <a:bodyPr vert="horz">
            <a:normAutofit fontScale="77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procedure</a:t>
            </a:r>
            <a:r>
              <a:rPr kumimoji="0" lang="en-US" sz="2600" b="1" i="0" u="none" strike="noStrike" kern="1200" cap="none" spc="0" normalizeH="0" baseline="0" noProof="0" dirty="0">
                <a:ln>
                  <a:noFill/>
                </a:ln>
                <a:solidFill>
                  <a:schemeClr val="tx1"/>
                </a:solidFill>
                <a:effectLst/>
                <a:uLnTx/>
                <a:uFillTx/>
                <a:latin typeface="+mn-lt"/>
                <a:ea typeface="+mn-ea"/>
                <a:cs typeface="+mn-cs"/>
              </a:rPr>
              <a:t> </a:t>
            </a:r>
            <a:r>
              <a:rPr lang="en-US" sz="2600" i="1" dirty="0"/>
              <a:t>matrix multiplication</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lang="en-US" sz="2600" b="1" dirty="0"/>
              <a:t>A</a:t>
            </a:r>
            <a:r>
              <a:rPr lang="en-US" sz="2600" i="1" dirty="0"/>
              <a:t>,</a:t>
            </a:r>
            <a:r>
              <a:rPr lang="en-US" sz="2600" b="1" dirty="0"/>
              <a:t>B</a:t>
            </a:r>
            <a:r>
              <a:rPr lang="en-US" sz="2600" i="1" dirty="0"/>
              <a:t>: </a:t>
            </a:r>
            <a:r>
              <a:rPr lang="en-US" sz="2600" dirty="0"/>
              <a:t>matrices)</a:t>
            </a:r>
            <a:r>
              <a:rPr kumimoji="0" lang="en-US" sz="26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a:t>i</a:t>
            </a:r>
            <a:r>
              <a:rPr kumimoji="0" lang="en-US" sz="2600" b="0" i="1"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lang="en-US" sz="2600" i="1" dirty="0"/>
              <a:t>m              </a:t>
            </a:r>
            <a:endPar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lang="en-US" sz="2600" i="1" dirty="0"/>
              <a:t>n</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err="1"/>
              <a:t>c</a:t>
            </a:r>
            <a:r>
              <a:rPr lang="en-US" sz="2600" i="1" baseline="-25000" dirty="0" err="1"/>
              <a:t>i</a:t>
            </a:r>
            <a:r>
              <a:rPr kumimoji="0" lang="en-US" sz="2600" b="0" i="1" u="none" strike="noStrike" kern="1200" cap="none" spc="0" normalizeH="0" baseline="-2500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dirty="0"/>
              <a:t>= </a:t>
            </a:r>
            <a:r>
              <a:rPr lang="en-US" sz="2600" dirty="0">
                <a:latin typeface="Cambria Math" pitchFamily="18" charset="0"/>
                <a:ea typeface="Cambria Math" pitchFamily="18" charset="0"/>
              </a:rPr>
              <a:t>0</a:t>
            </a:r>
          </a:p>
          <a:p>
            <a:pPr marL="274320" lvl="0" indent="-274320">
              <a:spcBef>
                <a:spcPct val="20000"/>
              </a:spcBef>
              <a:buClr>
                <a:schemeClr val="accent3"/>
              </a:buClr>
              <a:buSzPct val="95000"/>
              <a:defRPr/>
            </a:pPr>
            <a:r>
              <a:rPr lang="en-US" sz="2600" b="1" dirty="0"/>
              <a:t>               for </a:t>
            </a:r>
            <a:r>
              <a:rPr lang="en-US" sz="2600" i="1" dirty="0"/>
              <a:t>q</a:t>
            </a:r>
            <a:r>
              <a:rPr lang="en-US" sz="2600" dirty="0"/>
              <a:t> := </a:t>
            </a:r>
            <a:r>
              <a:rPr lang="en-US" sz="2600" dirty="0">
                <a:latin typeface="Cambria Math" pitchFamily="18" charset="0"/>
                <a:ea typeface="Cambria Math" pitchFamily="18" charset="0"/>
              </a:rPr>
              <a:t>1</a:t>
            </a:r>
            <a:r>
              <a:rPr lang="en-US" sz="2600" dirty="0"/>
              <a:t> to </a:t>
            </a:r>
            <a:r>
              <a:rPr lang="en-US" sz="2600" i="1" dirty="0"/>
              <a:t>k</a:t>
            </a:r>
          </a:p>
          <a:p>
            <a:pPr marL="274320" lvl="0" indent="-274320">
              <a:spcBef>
                <a:spcPct val="20000"/>
              </a:spcBef>
              <a:buClr>
                <a:schemeClr val="accent3"/>
              </a:buClr>
              <a:buSzPct val="95000"/>
              <a:defRPr/>
            </a:pPr>
            <a:r>
              <a:rPr lang="en-US" sz="2600" i="1" dirty="0"/>
              <a:t>                   </a:t>
            </a:r>
            <a:r>
              <a:rPr lang="en-US" sz="2600" i="1" dirty="0" err="1"/>
              <a:t>c</a:t>
            </a:r>
            <a:r>
              <a:rPr lang="en-US" sz="2600" i="1" baseline="-25000" dirty="0" err="1"/>
              <a:t>ij</a:t>
            </a:r>
            <a:r>
              <a:rPr lang="en-US" sz="2600" dirty="0"/>
              <a:t> := </a:t>
            </a:r>
            <a:r>
              <a:rPr lang="en-US" sz="2600" i="1" dirty="0"/>
              <a:t> </a:t>
            </a:r>
            <a:r>
              <a:rPr lang="en-US" sz="2600" i="1" dirty="0" err="1"/>
              <a:t>c</a:t>
            </a:r>
            <a:r>
              <a:rPr lang="en-US" sz="2600" i="1" baseline="-25000" dirty="0" err="1"/>
              <a:t>ij</a:t>
            </a:r>
            <a:r>
              <a:rPr lang="en-US" sz="2600" dirty="0"/>
              <a:t> + </a:t>
            </a:r>
            <a:r>
              <a:rPr lang="en-US" sz="2600" i="1" dirty="0" err="1"/>
              <a:t>a</a:t>
            </a:r>
            <a:r>
              <a:rPr lang="en-US" sz="2600" i="1" baseline="-25000" dirty="0" err="1"/>
              <a:t>iq</a:t>
            </a:r>
            <a:r>
              <a:rPr lang="en-US" sz="2600" i="1" dirty="0"/>
              <a:t> </a:t>
            </a:r>
            <a:r>
              <a:rPr lang="en-US" sz="2600" i="1" dirty="0" err="1"/>
              <a:t>b</a:t>
            </a:r>
            <a:r>
              <a:rPr lang="en-US" sz="2600" i="1" baseline="-25000" dirty="0" err="1"/>
              <a:t>qj</a:t>
            </a:r>
            <a:endParaRPr kumimoji="0" lang="en-US" sz="2600" b="0" u="none" strike="noStrike" kern="1200" cap="none" spc="0" normalizeH="0" baseline="-25000" noProof="0" dirty="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defRPr/>
            </a:pPr>
            <a:r>
              <a:rPr lang="en-US" sz="2600" b="1" dirty="0"/>
              <a:t>return C</a:t>
            </a:r>
            <a:r>
              <a:rPr lang="en-US" sz="2600" dirty="0"/>
              <a:t>{</a:t>
            </a:r>
            <a:r>
              <a:rPr lang="en-US" sz="2600" b="1" dirty="0"/>
              <a:t>C = [</a:t>
            </a:r>
            <a:r>
              <a:rPr lang="en-US" sz="2600" i="1" dirty="0" err="1"/>
              <a:t>c</a:t>
            </a:r>
            <a:r>
              <a:rPr lang="en-US" sz="2600" i="1" baseline="-25000" dirty="0" err="1"/>
              <a:t>ij</a:t>
            </a:r>
            <a:r>
              <a:rPr lang="en-US" sz="2600" b="1" dirty="0"/>
              <a:t>]</a:t>
            </a:r>
            <a:r>
              <a:rPr lang="en-US" sz="2600" i="1" dirty="0"/>
              <a:t> </a:t>
            </a:r>
            <a:r>
              <a:rPr lang="en-US" sz="2600" dirty="0"/>
              <a:t>is the product of </a:t>
            </a:r>
            <a:r>
              <a:rPr lang="en-US" sz="2600" b="1" dirty="0"/>
              <a:t>A</a:t>
            </a:r>
            <a:r>
              <a:rPr lang="en-US" sz="2600" dirty="0"/>
              <a:t> and </a:t>
            </a:r>
            <a:r>
              <a:rPr lang="en-US" sz="2600" b="1" dirty="0"/>
              <a:t>B</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p:txBody>
      </p:sp>
      <p:pic>
        <p:nvPicPr>
          <p:cNvPr id="5" name="Picture 4" descr="addin_tmp.png"/>
          <p:cNvPicPr>
            <a:picLocks noChangeAspect="1"/>
          </p:cNvPicPr>
          <p:nvPr>
            <p:custDataLst>
              <p:tags r:id="rId1"/>
            </p:custDataLst>
          </p:nvPr>
        </p:nvPicPr>
        <p:blipFill>
          <a:blip r:embed="rId6" cstate="print"/>
          <a:stretch>
            <a:fillRect/>
          </a:stretch>
        </p:blipFill>
        <p:spPr>
          <a:xfrm>
            <a:off x="6705600" y="2819400"/>
            <a:ext cx="154781" cy="152400"/>
          </a:xfrm>
          <a:prstGeom prst="rect">
            <a:avLst/>
          </a:prstGeom>
        </p:spPr>
      </p:pic>
      <p:pic>
        <p:nvPicPr>
          <p:cNvPr id="6" name="Picture 5" descr="addin_tmp.png"/>
          <p:cNvPicPr>
            <a:picLocks noChangeAspect="1"/>
          </p:cNvPicPr>
          <p:nvPr>
            <p:custDataLst>
              <p:tags r:id="rId2"/>
            </p:custDataLst>
          </p:nvPr>
        </p:nvPicPr>
        <p:blipFill>
          <a:blip r:embed="rId6" cstate="print"/>
          <a:stretch>
            <a:fillRect/>
          </a:stretch>
        </p:blipFill>
        <p:spPr>
          <a:xfrm>
            <a:off x="6324600" y="2514600"/>
            <a:ext cx="154781" cy="152400"/>
          </a:xfrm>
          <a:prstGeom prst="rect">
            <a:avLst/>
          </a:prstGeom>
        </p:spPr>
      </p:pic>
      <p:pic>
        <p:nvPicPr>
          <p:cNvPr id="7" name="Picture 6" descr="addin_tmp.png"/>
          <p:cNvPicPr>
            <a:picLocks noChangeAspect="1"/>
          </p:cNvPicPr>
          <p:nvPr>
            <p:custDataLst>
              <p:tags r:id="rId3"/>
            </p:custDataLst>
          </p:nvPr>
        </p:nvPicPr>
        <p:blipFill>
          <a:blip r:embed="rId6" cstate="print"/>
          <a:stretch>
            <a:fillRect/>
          </a:stretch>
        </p:blipFill>
        <p:spPr>
          <a:xfrm>
            <a:off x="3581400" y="2819400"/>
            <a:ext cx="154781" cy="152400"/>
          </a:xfrm>
          <a:prstGeom prst="rect">
            <a:avLst/>
          </a:prstGeom>
        </p:spPr>
      </p:pic>
      <p:pic>
        <p:nvPicPr>
          <p:cNvPr id="13" name="Picture 12" descr="addin_tmp.png"/>
          <p:cNvPicPr>
            <a:picLocks noChangeAspect="1"/>
          </p:cNvPicPr>
          <p:nvPr>
            <p:custDataLst>
              <p:tags r:id="rId4"/>
            </p:custDataLst>
          </p:nvPr>
        </p:nvPicPr>
        <p:blipFill>
          <a:blip r:embed="rId7" cstate="print"/>
          <a:stretch>
            <a:fillRect/>
          </a:stretch>
        </p:blipFill>
        <p:spPr>
          <a:xfrm>
            <a:off x="4648201" y="4648201"/>
            <a:ext cx="2261711" cy="42862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Complexity of Matrix Multiplication</a:t>
            </a:r>
          </a:p>
        </p:txBody>
      </p:sp>
      <p:sp>
        <p:nvSpPr>
          <p:cNvPr id="3" name="Content Placeholder 2"/>
          <p:cNvSpPr>
            <a:spLocks noGrp="1"/>
          </p:cNvSpPr>
          <p:nvPr>
            <p:ph idx="1"/>
          </p:nvPr>
        </p:nvSpPr>
        <p:spPr/>
        <p:txBody>
          <a:bodyPr>
            <a:normAutofit/>
          </a:bodyPr>
          <a:lstStyle/>
          <a:p>
            <a:pPr>
              <a:buNone/>
            </a:pPr>
            <a:r>
              <a:rPr lang="en-US" b="1" dirty="0"/>
              <a:t>   Example</a:t>
            </a:r>
            <a:r>
              <a:rPr lang="en-US" dirty="0"/>
              <a:t>: How many additions of integers and multiplications of integers are used by the matrix multiplication algorithm to multiply two </a:t>
            </a:r>
            <a:r>
              <a:rPr lang="en-US" i="1" dirty="0"/>
              <a:t>n</a:t>
            </a:r>
            <a:r>
              <a:rPr lang="en-US" dirty="0"/>
              <a:t>    </a:t>
            </a:r>
            <a:r>
              <a:rPr lang="en-US" i="1" dirty="0" err="1"/>
              <a:t>n</a:t>
            </a:r>
            <a:r>
              <a:rPr lang="en-US" dirty="0"/>
              <a:t> matrices.</a:t>
            </a:r>
          </a:p>
          <a:p>
            <a:pPr>
              <a:buNone/>
            </a:pPr>
            <a:r>
              <a:rPr lang="en-US" b="1" dirty="0"/>
              <a:t>   Solution</a:t>
            </a:r>
            <a:r>
              <a:rPr lang="en-US" dirty="0"/>
              <a:t>: There are </a:t>
            </a:r>
            <a:r>
              <a:rPr lang="en-US" i="1" dirty="0"/>
              <a:t>n</a:t>
            </a:r>
            <a:r>
              <a:rPr lang="en-US" baseline="30000" dirty="0">
                <a:latin typeface="Cambria Math" pitchFamily="18" charset="0"/>
                <a:ea typeface="Cambria Math" pitchFamily="18" charset="0"/>
              </a:rPr>
              <a:t>2  </a:t>
            </a:r>
            <a:r>
              <a:rPr lang="en-US" dirty="0">
                <a:latin typeface="Cambria Math" pitchFamily="18" charset="0"/>
                <a:ea typeface="Cambria Math" pitchFamily="18" charset="0"/>
              </a:rPr>
              <a:t>entries in the product. Finding each entry requires </a:t>
            </a:r>
            <a:r>
              <a:rPr lang="en-US" i="1" dirty="0">
                <a:ea typeface="Cambria Math" pitchFamily="18" charset="0"/>
              </a:rPr>
              <a:t>n</a:t>
            </a:r>
            <a:r>
              <a:rPr lang="en-US" dirty="0">
                <a:latin typeface="Cambria Math" pitchFamily="18" charset="0"/>
                <a:ea typeface="Cambria Math" pitchFamily="18" charset="0"/>
              </a:rPr>
              <a:t> multiplications and </a:t>
            </a:r>
            <a:r>
              <a:rPr lang="en-US" i="1" dirty="0">
                <a:ea typeface="Cambria Math" pitchFamily="18" charset="0"/>
              </a:rPr>
              <a:t>n</a:t>
            </a:r>
            <a:r>
              <a:rPr lang="en-US" dirty="0">
                <a:latin typeface="Cambria Math" pitchFamily="18" charset="0"/>
                <a:ea typeface="Cambria Math" pitchFamily="18" charset="0"/>
              </a:rPr>
              <a:t> </a:t>
            </a:r>
            <a:r>
              <a:rPr lang="en-US" dirty="0">
                <a:latin typeface="Cambria Math"/>
                <a:ea typeface="Cambria Math"/>
              </a:rPr>
              <a:t>− 1 additions. Hence, </a:t>
            </a:r>
            <a:r>
              <a:rPr lang="en-US" i="1" dirty="0"/>
              <a:t>n</a:t>
            </a:r>
            <a:r>
              <a:rPr lang="en-US" baseline="30000" dirty="0">
                <a:latin typeface="Cambria Math" pitchFamily="18" charset="0"/>
                <a:ea typeface="Cambria Math" pitchFamily="18" charset="0"/>
              </a:rPr>
              <a:t>3</a:t>
            </a:r>
            <a:r>
              <a:rPr lang="en-US" dirty="0">
                <a:latin typeface="Cambria Math"/>
                <a:ea typeface="Cambria Math"/>
              </a:rPr>
              <a:t>  multiplications and </a:t>
            </a:r>
            <a:r>
              <a:rPr lang="en-US" i="1" dirty="0"/>
              <a:t>n</a:t>
            </a:r>
            <a:r>
              <a:rPr lang="en-US" baseline="30000" dirty="0">
                <a:latin typeface="Cambria Math" pitchFamily="18" charset="0"/>
                <a:ea typeface="Cambria Math" pitchFamily="18" charset="0"/>
              </a:rPr>
              <a:t>2</a:t>
            </a:r>
            <a:r>
              <a:rPr lang="en-US" dirty="0">
                <a:latin typeface="Cambria Math" pitchFamily="18" charset="0"/>
                <a:ea typeface="Cambria Math" pitchFamily="18" charset="0"/>
              </a:rPr>
              <a:t>(</a:t>
            </a:r>
            <a:r>
              <a:rPr lang="en-US" i="1" dirty="0">
                <a:ea typeface="Cambria Math" pitchFamily="18" charset="0"/>
              </a:rPr>
              <a:t>n</a:t>
            </a:r>
            <a:r>
              <a:rPr lang="en-US" dirty="0">
                <a:latin typeface="Cambria Math" pitchFamily="18" charset="0"/>
                <a:ea typeface="Cambria Math" pitchFamily="18" charset="0"/>
              </a:rPr>
              <a:t> </a:t>
            </a:r>
            <a:r>
              <a:rPr lang="en-US" dirty="0">
                <a:latin typeface="Cambria Math"/>
                <a:ea typeface="Cambria Math"/>
              </a:rPr>
              <a:t>− 1)    additions are used.</a:t>
            </a:r>
          </a:p>
          <a:p>
            <a:pPr>
              <a:buNone/>
            </a:pPr>
            <a:r>
              <a:rPr lang="en-US" dirty="0">
                <a:latin typeface="Cambria Math"/>
                <a:ea typeface="Cambria Math"/>
              </a:rPr>
              <a:t>    Hence, the complexity of matrix multiplication is </a:t>
            </a:r>
            <a:r>
              <a:rPr lang="en-US" i="1" dirty="0"/>
              <a:t>O</a:t>
            </a:r>
            <a:r>
              <a:rPr lang="en-US" dirty="0"/>
              <a:t>(</a:t>
            </a:r>
            <a:r>
              <a:rPr lang="en-US" i="1" dirty="0"/>
              <a:t>n</a:t>
            </a:r>
            <a:r>
              <a:rPr lang="en-US" baseline="30000" dirty="0">
                <a:latin typeface="Cambria Math" pitchFamily="18" charset="0"/>
                <a:ea typeface="Cambria Math" pitchFamily="18" charset="0"/>
              </a:rPr>
              <a:t>3</a:t>
            </a:r>
            <a:r>
              <a:rPr lang="en-US" dirty="0"/>
              <a:t>).  </a:t>
            </a:r>
          </a:p>
          <a:p>
            <a:pPr>
              <a:buNone/>
            </a:pPr>
            <a:endParaRPr lang="en-US" dirty="0"/>
          </a:p>
          <a:p>
            <a:pPr>
              <a:buNone/>
            </a:pPr>
            <a:endParaRPr lang="en-US" dirty="0"/>
          </a:p>
          <a:p>
            <a:pPr>
              <a:buNone/>
            </a:pPr>
            <a:endParaRPr lang="en-US"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6934200" y="2895600"/>
            <a:ext cx="154781" cy="1524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Product Algorithm</a:t>
            </a:r>
          </a:p>
        </p:txBody>
      </p:sp>
      <p:sp>
        <p:nvSpPr>
          <p:cNvPr id="3" name="Content Placeholder 2"/>
          <p:cNvSpPr>
            <a:spLocks noGrp="1"/>
          </p:cNvSpPr>
          <p:nvPr>
            <p:ph idx="1"/>
          </p:nvPr>
        </p:nvSpPr>
        <p:spPr/>
        <p:txBody>
          <a:bodyPr/>
          <a:lstStyle/>
          <a:p>
            <a:r>
              <a:rPr lang="en-US" dirty="0"/>
              <a:t>The definition of Boolean product  of zero-one matrices can also be converted to an algorithm.</a:t>
            </a:r>
          </a:p>
        </p:txBody>
      </p:sp>
      <p:sp>
        <p:nvSpPr>
          <p:cNvPr id="4" name="Content Placeholder 2"/>
          <p:cNvSpPr txBox="1">
            <a:spLocks/>
          </p:cNvSpPr>
          <p:nvPr/>
        </p:nvSpPr>
        <p:spPr>
          <a:xfrm>
            <a:off x="1676400" y="3200400"/>
            <a:ext cx="6553200" cy="2362200"/>
          </a:xfrm>
          <a:prstGeom prst="rect">
            <a:avLst/>
          </a:prstGeom>
          <a:ln>
            <a:solidFill>
              <a:schemeClr val="accent1"/>
            </a:solidFill>
          </a:ln>
        </p:spPr>
        <p:txBody>
          <a:bodyPr vert="horz">
            <a:normAutofit fontScale="77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procedure</a:t>
            </a:r>
            <a:r>
              <a:rPr kumimoji="0" lang="en-US" sz="2600" b="1" i="0" u="none" strike="noStrike" kern="1200" cap="none" spc="0" normalizeH="0" baseline="0" noProof="0" dirty="0">
                <a:ln>
                  <a:noFill/>
                </a:ln>
                <a:solidFill>
                  <a:schemeClr val="tx1"/>
                </a:solidFill>
                <a:effectLst/>
                <a:uLnTx/>
                <a:uFillTx/>
                <a:latin typeface="+mn-lt"/>
                <a:ea typeface="+mn-ea"/>
                <a:cs typeface="+mn-cs"/>
              </a:rPr>
              <a:t> </a:t>
            </a:r>
            <a:r>
              <a:rPr lang="en-US" sz="2600" i="1" noProof="0" dirty="0"/>
              <a:t>Boolean product</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lang="en-US" sz="2600" b="1" dirty="0"/>
              <a:t>A</a:t>
            </a:r>
            <a:r>
              <a:rPr lang="en-US" sz="2600" i="1" dirty="0"/>
              <a:t>,</a:t>
            </a:r>
            <a:r>
              <a:rPr lang="en-US" sz="2600" b="1" dirty="0"/>
              <a:t>B</a:t>
            </a:r>
            <a:r>
              <a:rPr lang="en-US" sz="2600" i="1" dirty="0"/>
              <a:t>: </a:t>
            </a:r>
            <a:r>
              <a:rPr lang="en-US" sz="2600" dirty="0"/>
              <a:t>zero-one</a:t>
            </a:r>
            <a:r>
              <a:rPr lang="en-US" sz="2600" i="1" dirty="0"/>
              <a:t> </a:t>
            </a:r>
            <a:r>
              <a:rPr lang="en-US" sz="2600" dirty="0"/>
              <a:t>matrices)</a:t>
            </a:r>
            <a:r>
              <a:rPr kumimoji="0" lang="en-US" sz="26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a:t>i</a:t>
            </a:r>
            <a:r>
              <a:rPr kumimoji="0" lang="en-US" sz="2600" b="0" i="1"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lang="en-US" sz="2600" i="1" dirty="0"/>
              <a:t>m</a:t>
            </a:r>
            <a:endPar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 </a:t>
            </a:r>
            <a:r>
              <a:rPr kumimoji="0" lang="en-US" sz="2600" b="0" i="1" u="none" strike="noStrike" kern="1200" cap="none" spc="0" normalizeH="0" baseline="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itchFamily="18" charset="0"/>
                <a:ea typeface="Cambria Math" pitchFamily="18" charset="0"/>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lang="en-US" sz="2600" i="1" dirty="0"/>
              <a:t>n</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err="1"/>
              <a:t>c</a:t>
            </a:r>
            <a:r>
              <a:rPr lang="en-US" sz="2600" i="1" baseline="-25000" dirty="0" err="1"/>
              <a:t>i</a:t>
            </a:r>
            <a:r>
              <a:rPr kumimoji="0" lang="en-US" sz="2600" b="0" i="1" u="none" strike="noStrike" kern="1200" cap="none" spc="0" normalizeH="0" baseline="-25000" noProof="0" dirty="0">
                <a:ln>
                  <a:noFill/>
                </a:ln>
                <a:solidFill>
                  <a:schemeClr val="tx1"/>
                </a:solidFill>
                <a:effectLst/>
                <a:uLnTx/>
                <a:uFillTx/>
                <a:latin typeface="+mn-lt"/>
                <a:ea typeface="+mn-ea"/>
                <a:cs typeface="+mn-cs"/>
              </a:rPr>
              <a:t>j</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dirty="0"/>
              <a:t>= </a:t>
            </a:r>
            <a:r>
              <a:rPr lang="en-US" sz="2600" dirty="0">
                <a:latin typeface="Cambria Math" pitchFamily="18" charset="0"/>
                <a:ea typeface="Cambria Math" pitchFamily="18" charset="0"/>
              </a:rPr>
              <a:t>0</a:t>
            </a:r>
          </a:p>
          <a:p>
            <a:pPr marL="274320" lvl="0" indent="-274320">
              <a:spcBef>
                <a:spcPct val="20000"/>
              </a:spcBef>
              <a:buClr>
                <a:schemeClr val="accent3"/>
              </a:buClr>
              <a:buSzPct val="95000"/>
              <a:defRPr/>
            </a:pPr>
            <a:r>
              <a:rPr lang="en-US" sz="2600" b="1" dirty="0"/>
              <a:t>               for </a:t>
            </a:r>
            <a:r>
              <a:rPr lang="en-US" sz="2600" i="1" dirty="0"/>
              <a:t>q</a:t>
            </a:r>
            <a:r>
              <a:rPr lang="en-US" sz="2600" dirty="0"/>
              <a:t> := </a:t>
            </a:r>
            <a:r>
              <a:rPr lang="en-US" sz="2600" dirty="0">
                <a:latin typeface="Cambria Math" pitchFamily="18" charset="0"/>
                <a:ea typeface="Cambria Math" pitchFamily="18" charset="0"/>
              </a:rPr>
              <a:t>1</a:t>
            </a:r>
            <a:r>
              <a:rPr lang="en-US" sz="2600" dirty="0"/>
              <a:t> to </a:t>
            </a:r>
            <a:r>
              <a:rPr lang="en-US" sz="2600" i="1" dirty="0"/>
              <a:t>k</a:t>
            </a:r>
          </a:p>
          <a:p>
            <a:pPr marL="274320" lvl="0" indent="-274320">
              <a:spcBef>
                <a:spcPct val="20000"/>
              </a:spcBef>
              <a:buClr>
                <a:schemeClr val="accent3"/>
              </a:buClr>
              <a:buSzPct val="95000"/>
              <a:defRPr/>
            </a:pPr>
            <a:r>
              <a:rPr lang="en-US" sz="2600" i="1" dirty="0"/>
              <a:t>                   </a:t>
            </a:r>
            <a:r>
              <a:rPr lang="en-US" sz="2600" dirty="0"/>
              <a:t> </a:t>
            </a:r>
            <a:r>
              <a:rPr lang="en-US" sz="2600" i="1" dirty="0" err="1">
                <a:ea typeface="Cambria Math"/>
                <a:sym typeface="Symbol"/>
              </a:rPr>
              <a:t>c</a:t>
            </a:r>
            <a:r>
              <a:rPr lang="en-US" sz="2600" i="1" baseline="-25000" dirty="0" err="1">
                <a:ea typeface="Cambria Math"/>
                <a:sym typeface="Symbol"/>
              </a:rPr>
              <a:t>ij</a:t>
            </a:r>
            <a:r>
              <a:rPr lang="en-US" sz="2600" baseline="-25000" dirty="0">
                <a:ea typeface="Cambria Math"/>
                <a:sym typeface="Symbol"/>
              </a:rPr>
              <a:t>  </a:t>
            </a:r>
            <a:r>
              <a:rPr lang="en-US" sz="2600" dirty="0">
                <a:ea typeface="Cambria Math"/>
                <a:sym typeface="Symbol"/>
              </a:rPr>
              <a:t>:= </a:t>
            </a:r>
            <a:r>
              <a:rPr lang="en-US" sz="2600" i="1" dirty="0" err="1"/>
              <a:t>c</a:t>
            </a:r>
            <a:r>
              <a:rPr lang="en-US" sz="2600" i="1" baseline="-25000" dirty="0" err="1"/>
              <a:t>ij</a:t>
            </a:r>
            <a:r>
              <a:rPr lang="en-US" sz="2600" i="1" baseline="-25000" dirty="0"/>
              <a:t>  </a:t>
            </a:r>
            <a:r>
              <a:rPr lang="en-US" sz="2600" dirty="0">
                <a:latin typeface="Cambria Math"/>
                <a:ea typeface="Cambria Math"/>
                <a:sym typeface="Symbol"/>
              </a:rPr>
              <a:t>∨ (</a:t>
            </a:r>
            <a:r>
              <a:rPr lang="en-US" sz="2600" i="1" dirty="0" err="1">
                <a:ea typeface="Cambria Math"/>
                <a:sym typeface="Symbol"/>
              </a:rPr>
              <a:t>a</a:t>
            </a:r>
            <a:r>
              <a:rPr lang="en-US" sz="2600" i="1" baseline="-25000" dirty="0" err="1">
                <a:ea typeface="Cambria Math"/>
                <a:sym typeface="Symbol"/>
              </a:rPr>
              <a:t>iq</a:t>
            </a:r>
            <a:r>
              <a:rPr lang="en-US" sz="2600" dirty="0">
                <a:latin typeface="Cambria Math"/>
                <a:ea typeface="Cambria Math"/>
                <a:sym typeface="Symbol"/>
              </a:rPr>
              <a:t> ∧ </a:t>
            </a:r>
            <a:r>
              <a:rPr lang="en-US" sz="2600" i="1" dirty="0" err="1">
                <a:ea typeface="Cambria Math"/>
                <a:sym typeface="Symbol"/>
              </a:rPr>
              <a:t>b</a:t>
            </a:r>
            <a:r>
              <a:rPr lang="en-US" sz="2600" i="1" baseline="-25000" dirty="0" err="1">
                <a:ea typeface="Cambria Math"/>
                <a:sym typeface="Symbol"/>
              </a:rPr>
              <a:t>qj</a:t>
            </a:r>
            <a:r>
              <a:rPr lang="en-US" sz="2600" dirty="0">
                <a:ea typeface="Cambria Math"/>
                <a:sym typeface="Symbol"/>
              </a:rPr>
              <a:t>)</a:t>
            </a:r>
            <a:endParaRPr kumimoji="0" lang="en-US" sz="2600" b="0" u="none" strike="noStrike" kern="1200" cap="none" spc="0" normalizeH="0" baseline="-25000" noProof="0" dirty="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defRPr/>
            </a:pPr>
            <a:r>
              <a:rPr lang="en-US" sz="2600" b="1" dirty="0"/>
              <a:t>return C</a:t>
            </a:r>
            <a:r>
              <a:rPr lang="en-US" sz="2600" dirty="0"/>
              <a:t>{</a:t>
            </a:r>
            <a:r>
              <a:rPr lang="en-US" sz="2600" b="1" dirty="0"/>
              <a:t>C = [</a:t>
            </a:r>
            <a:r>
              <a:rPr lang="en-US" sz="2600" i="1" dirty="0" err="1"/>
              <a:t>c</a:t>
            </a:r>
            <a:r>
              <a:rPr lang="en-US" sz="2600" i="1" baseline="-25000" dirty="0" err="1"/>
              <a:t>ij</a:t>
            </a:r>
            <a:r>
              <a:rPr lang="en-US" sz="2600" b="1" dirty="0"/>
              <a:t>]</a:t>
            </a:r>
            <a:r>
              <a:rPr lang="en-US" sz="2600" i="1" dirty="0"/>
              <a:t> </a:t>
            </a:r>
            <a:r>
              <a:rPr lang="en-US" sz="2600" dirty="0"/>
              <a:t>is the Boolean product of </a:t>
            </a:r>
            <a:r>
              <a:rPr lang="en-US" sz="2600" b="1" dirty="0"/>
              <a:t>A</a:t>
            </a:r>
            <a:r>
              <a:rPr lang="en-US" sz="2600" dirty="0"/>
              <a:t> and </a:t>
            </a:r>
            <a:r>
              <a:rPr lang="en-US" sz="2600" b="1" dirty="0"/>
              <a:t>B</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Complexity of Boolean Product Algorithm</a:t>
            </a:r>
          </a:p>
        </p:txBody>
      </p:sp>
      <p:sp>
        <p:nvSpPr>
          <p:cNvPr id="3" name="Content Placeholder 2"/>
          <p:cNvSpPr>
            <a:spLocks noGrp="1"/>
          </p:cNvSpPr>
          <p:nvPr>
            <p:ph idx="1"/>
          </p:nvPr>
        </p:nvSpPr>
        <p:spPr/>
        <p:txBody>
          <a:bodyPr>
            <a:normAutofit/>
          </a:bodyPr>
          <a:lstStyle/>
          <a:p>
            <a:pPr>
              <a:buNone/>
            </a:pPr>
            <a:r>
              <a:rPr lang="en-US" b="1" dirty="0"/>
              <a:t>   Example</a:t>
            </a:r>
            <a:r>
              <a:rPr lang="en-US" dirty="0"/>
              <a:t>: How many bit operations are used to find    </a:t>
            </a:r>
            <a:r>
              <a:rPr lang="en-US" b="1" dirty="0">
                <a:ea typeface="Cambria Math"/>
                <a:sym typeface="Symbol"/>
              </a:rPr>
              <a:t>A </a:t>
            </a:r>
            <a:r>
              <a:rPr lang="en-US" dirty="0">
                <a:latin typeface="Cambria Math"/>
                <a:ea typeface="Cambria Math"/>
                <a:sym typeface="Symbol"/>
              </a:rPr>
              <a:t>⊙</a:t>
            </a:r>
            <a:r>
              <a:rPr lang="en-US" dirty="0">
                <a:ea typeface="Cambria Math"/>
                <a:sym typeface="Symbol"/>
              </a:rPr>
              <a:t> </a:t>
            </a:r>
            <a:r>
              <a:rPr lang="en-US" b="1" dirty="0">
                <a:ea typeface="Cambria Math"/>
                <a:sym typeface="Symbol"/>
              </a:rPr>
              <a:t>B</a:t>
            </a:r>
            <a:r>
              <a:rPr lang="en-US" dirty="0">
                <a:ea typeface="Cambria Math"/>
                <a:sym typeface="Symbol"/>
              </a:rPr>
              <a:t>,</a:t>
            </a:r>
            <a:r>
              <a:rPr lang="en-US" b="1" dirty="0">
                <a:ea typeface="Cambria Math"/>
                <a:sym typeface="Symbol"/>
              </a:rPr>
              <a:t>  </a:t>
            </a:r>
            <a:r>
              <a:rPr lang="en-US" dirty="0">
                <a:sym typeface="Symbol"/>
              </a:rPr>
              <a:t>where A and B are </a:t>
            </a:r>
            <a:r>
              <a:rPr lang="en-US" i="1" dirty="0">
                <a:sym typeface="Symbol"/>
              </a:rPr>
              <a:t>n</a:t>
            </a:r>
            <a:r>
              <a:rPr lang="en-US" dirty="0">
                <a:sym typeface="Symbol"/>
              </a:rPr>
              <a:t>    </a:t>
            </a:r>
            <a:r>
              <a:rPr lang="en-US" i="1" dirty="0" err="1">
                <a:sym typeface="Symbol"/>
              </a:rPr>
              <a:t>n</a:t>
            </a:r>
            <a:r>
              <a:rPr lang="en-US" dirty="0">
                <a:sym typeface="Symbol"/>
              </a:rPr>
              <a:t> zero-one matrices?</a:t>
            </a:r>
            <a:r>
              <a:rPr lang="en-US" dirty="0"/>
              <a:t> </a:t>
            </a:r>
          </a:p>
          <a:p>
            <a:pPr>
              <a:buNone/>
            </a:pPr>
            <a:r>
              <a:rPr lang="en-US" b="1" dirty="0"/>
              <a:t>   Solution</a:t>
            </a:r>
            <a:r>
              <a:rPr lang="en-US" dirty="0"/>
              <a:t>: There are </a:t>
            </a:r>
            <a:r>
              <a:rPr lang="en-US" i="1" dirty="0"/>
              <a:t>n</a:t>
            </a:r>
            <a:r>
              <a:rPr lang="en-US" baseline="30000" dirty="0">
                <a:latin typeface="Cambria Math" pitchFamily="18" charset="0"/>
                <a:ea typeface="Cambria Math" pitchFamily="18" charset="0"/>
              </a:rPr>
              <a:t>2  </a:t>
            </a:r>
            <a:r>
              <a:rPr lang="en-US" dirty="0">
                <a:latin typeface="Cambria Math" pitchFamily="18" charset="0"/>
                <a:ea typeface="Cambria Math" pitchFamily="18" charset="0"/>
              </a:rPr>
              <a:t>entries in the </a:t>
            </a:r>
            <a:r>
              <a:rPr lang="en-US" b="1" dirty="0">
                <a:ea typeface="Cambria Math"/>
                <a:sym typeface="Symbol"/>
              </a:rPr>
              <a:t>A </a:t>
            </a:r>
            <a:r>
              <a:rPr lang="en-US" dirty="0">
                <a:latin typeface="Cambria Math"/>
                <a:ea typeface="Cambria Math"/>
                <a:sym typeface="Symbol"/>
              </a:rPr>
              <a:t>⊙</a:t>
            </a:r>
            <a:r>
              <a:rPr lang="en-US" dirty="0">
                <a:ea typeface="Cambria Math"/>
                <a:sym typeface="Symbol"/>
              </a:rPr>
              <a:t> </a:t>
            </a:r>
            <a:r>
              <a:rPr lang="en-US" b="1" dirty="0">
                <a:ea typeface="Cambria Math"/>
                <a:sym typeface="Symbol"/>
              </a:rPr>
              <a:t>B</a:t>
            </a:r>
            <a:r>
              <a:rPr lang="en-US" dirty="0">
                <a:latin typeface="Cambria Math" pitchFamily="18" charset="0"/>
                <a:ea typeface="Cambria Math" pitchFamily="18" charset="0"/>
              </a:rPr>
              <a:t>. A total of </a:t>
            </a:r>
            <a:r>
              <a:rPr lang="en-US" i="1" dirty="0">
                <a:latin typeface="Cambria Math" pitchFamily="18" charset="0"/>
                <a:ea typeface="Cambria Math" pitchFamily="18" charset="0"/>
              </a:rPr>
              <a:t>n</a:t>
            </a:r>
            <a:r>
              <a:rPr lang="en-US" dirty="0">
                <a:latin typeface="Cambria Math" pitchFamily="18" charset="0"/>
                <a:ea typeface="Cambria Math" pitchFamily="18" charset="0"/>
              </a:rPr>
              <a:t> Ors and </a:t>
            </a:r>
            <a:r>
              <a:rPr lang="en-US" i="1" dirty="0">
                <a:latin typeface="Cambria Math" pitchFamily="18" charset="0"/>
                <a:ea typeface="Cambria Math" pitchFamily="18" charset="0"/>
              </a:rPr>
              <a:t>n</a:t>
            </a:r>
            <a:r>
              <a:rPr lang="en-US" dirty="0">
                <a:latin typeface="Cambria Math" pitchFamily="18" charset="0"/>
                <a:ea typeface="Cambria Math" pitchFamily="18" charset="0"/>
              </a:rPr>
              <a:t> ANDs are used to find each entry. Hence, </a:t>
            </a:r>
            <a:r>
              <a:rPr lang="en-US" dirty="0">
                <a:latin typeface="Cambria Math"/>
                <a:ea typeface="Cambria Math"/>
              </a:rPr>
              <a:t>each entry takes 2</a:t>
            </a:r>
            <a:r>
              <a:rPr lang="en-US" i="1" dirty="0">
                <a:latin typeface="Cambria Math"/>
                <a:ea typeface="Cambria Math"/>
              </a:rPr>
              <a:t>n</a:t>
            </a:r>
            <a:r>
              <a:rPr lang="en-US" dirty="0">
                <a:latin typeface="Cambria Math"/>
                <a:ea typeface="Cambria Math"/>
              </a:rPr>
              <a:t> bit operations. A total of 2</a:t>
            </a:r>
            <a:r>
              <a:rPr lang="en-US" i="1" dirty="0"/>
              <a:t>n</a:t>
            </a:r>
            <a:r>
              <a:rPr lang="en-US" baseline="30000" dirty="0">
                <a:latin typeface="Cambria Math" pitchFamily="18" charset="0"/>
                <a:ea typeface="Cambria Math" pitchFamily="18" charset="0"/>
              </a:rPr>
              <a:t>3</a:t>
            </a:r>
            <a:r>
              <a:rPr lang="en-US" dirty="0">
                <a:latin typeface="Cambria Math"/>
                <a:ea typeface="Cambria Math"/>
              </a:rPr>
              <a:t>  operations are used.</a:t>
            </a:r>
          </a:p>
          <a:p>
            <a:pPr>
              <a:buNone/>
            </a:pPr>
            <a:r>
              <a:rPr lang="en-US" dirty="0">
                <a:latin typeface="Cambria Math"/>
                <a:ea typeface="Cambria Math"/>
              </a:rPr>
              <a:t>                     Therefore the complexity is </a:t>
            </a:r>
            <a:r>
              <a:rPr lang="en-US" i="1" dirty="0"/>
              <a:t>O</a:t>
            </a:r>
            <a:r>
              <a:rPr lang="en-US" dirty="0"/>
              <a:t>(</a:t>
            </a:r>
            <a:r>
              <a:rPr lang="en-US" i="1" dirty="0"/>
              <a:t>n</a:t>
            </a:r>
            <a:r>
              <a:rPr lang="en-US" baseline="30000" dirty="0">
                <a:latin typeface="Cambria Math" pitchFamily="18" charset="0"/>
                <a:ea typeface="Cambria Math" pitchFamily="18" charset="0"/>
              </a:rPr>
              <a:t>3</a:t>
            </a:r>
            <a:r>
              <a:rPr lang="en-US" dirty="0"/>
              <a:t>)  </a:t>
            </a:r>
          </a:p>
          <a:p>
            <a:pPr>
              <a:buNone/>
            </a:pPr>
            <a:endParaRPr lang="en-US" dirty="0"/>
          </a:p>
          <a:p>
            <a:pPr>
              <a:buNone/>
            </a:pPr>
            <a:endParaRPr lang="en-US" dirty="0"/>
          </a:p>
          <a:p>
            <a:pPr>
              <a:buNone/>
            </a:pPr>
            <a:endParaRPr lang="en-US"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4876800" y="2514600"/>
            <a:ext cx="154781" cy="1524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Matrix-Chain Multiplication</a:t>
            </a:r>
          </a:p>
        </p:txBody>
      </p:sp>
      <p:sp>
        <p:nvSpPr>
          <p:cNvPr id="3" name="Content Placeholder 2"/>
          <p:cNvSpPr>
            <a:spLocks noGrp="1"/>
          </p:cNvSpPr>
          <p:nvPr>
            <p:ph idx="1"/>
          </p:nvPr>
        </p:nvSpPr>
        <p:spPr/>
        <p:txBody>
          <a:bodyPr>
            <a:normAutofit fontScale="77500" lnSpcReduction="20000"/>
          </a:bodyPr>
          <a:lstStyle/>
          <a:p>
            <a:r>
              <a:rPr lang="en-US" dirty="0"/>
              <a:t>How should the </a:t>
            </a:r>
            <a:r>
              <a:rPr lang="en-US" i="1" dirty="0"/>
              <a:t>matrix-chain</a:t>
            </a:r>
            <a:r>
              <a:rPr lang="en-US" dirty="0"/>
              <a:t>  </a:t>
            </a:r>
            <a:r>
              <a:rPr lang="en-US" b="1" dirty="0"/>
              <a:t>A</a:t>
            </a:r>
            <a:r>
              <a:rPr lang="en-US" baseline="-25000" dirty="0"/>
              <a:t>1</a:t>
            </a:r>
            <a:r>
              <a:rPr lang="en-US" b="1" dirty="0"/>
              <a:t>A</a:t>
            </a:r>
            <a:r>
              <a:rPr lang="en-US" baseline="-25000" dirty="0"/>
              <a:t>2</a:t>
            </a:r>
            <a:r>
              <a:rPr lang="en-US" dirty="0">
                <a:latin typeface="Cambria Math"/>
                <a:ea typeface="Cambria Math"/>
              </a:rPr>
              <a:t>∙ ∙ ∙</a:t>
            </a:r>
            <a:r>
              <a:rPr lang="en-US" b="1" dirty="0"/>
              <a:t>A</a:t>
            </a:r>
            <a:r>
              <a:rPr lang="en-US" i="1" baseline="-25000" dirty="0"/>
              <a:t>n   </a:t>
            </a:r>
            <a:r>
              <a:rPr lang="en-US" i="1" dirty="0"/>
              <a:t> </a:t>
            </a:r>
            <a:r>
              <a:rPr lang="en-US" dirty="0"/>
              <a:t>be computed  using the fewest multiplications of integers, where </a:t>
            </a:r>
            <a:r>
              <a:rPr lang="en-US" b="1" dirty="0"/>
              <a:t>A</a:t>
            </a:r>
            <a:r>
              <a:rPr lang="en-US" baseline="-25000" dirty="0"/>
              <a:t>1 </a:t>
            </a:r>
            <a:r>
              <a:rPr lang="en-US" dirty="0">
                <a:latin typeface="Cambria Math"/>
                <a:ea typeface="Cambria Math"/>
              </a:rPr>
              <a:t>,</a:t>
            </a:r>
            <a:r>
              <a:rPr lang="en-US" baseline="-25000" dirty="0"/>
              <a:t> </a:t>
            </a:r>
            <a:r>
              <a:rPr lang="en-US" b="1" dirty="0"/>
              <a:t>A</a:t>
            </a:r>
            <a:r>
              <a:rPr lang="en-US" baseline="-25000" dirty="0"/>
              <a:t>2</a:t>
            </a:r>
            <a:r>
              <a:rPr lang="en-US" dirty="0">
                <a:latin typeface="Cambria Math"/>
                <a:ea typeface="Cambria Math"/>
              </a:rPr>
              <a:t> ,    ∙ ∙ ∙ , </a:t>
            </a:r>
            <a:r>
              <a:rPr lang="en-US" b="1" dirty="0"/>
              <a:t>A</a:t>
            </a:r>
            <a:r>
              <a:rPr lang="en-US" i="1" baseline="-25000" dirty="0"/>
              <a:t>n    </a:t>
            </a:r>
            <a:r>
              <a:rPr lang="en-US" i="1" dirty="0"/>
              <a:t> </a:t>
            </a:r>
            <a:r>
              <a:rPr lang="en-US" dirty="0"/>
              <a:t>are </a:t>
            </a:r>
            <a:r>
              <a:rPr lang="en-US" i="1" dirty="0"/>
              <a:t>m</a:t>
            </a:r>
            <a:r>
              <a:rPr lang="en-US" baseline="-25000" dirty="0"/>
              <a:t>1       </a:t>
            </a:r>
            <a:r>
              <a:rPr lang="en-US" i="1" dirty="0"/>
              <a:t>m</a:t>
            </a:r>
            <a:r>
              <a:rPr lang="en-US" baseline="-25000" dirty="0"/>
              <a:t>2</a:t>
            </a:r>
            <a:r>
              <a:rPr lang="en-US" dirty="0"/>
              <a:t>,</a:t>
            </a:r>
            <a:r>
              <a:rPr lang="en-US" sz="2800" i="1" dirty="0"/>
              <a:t> m</a:t>
            </a:r>
            <a:r>
              <a:rPr lang="en-US" sz="2800" baseline="-25000" dirty="0"/>
              <a:t>2      </a:t>
            </a:r>
            <a:r>
              <a:rPr lang="en-US" sz="2800" i="1" dirty="0"/>
              <a:t>m</a:t>
            </a:r>
            <a:r>
              <a:rPr lang="en-US" sz="2800" baseline="-25000" dirty="0"/>
              <a:t>3</a:t>
            </a:r>
            <a:r>
              <a:rPr lang="en-US" sz="2800" dirty="0"/>
              <a:t> ,</a:t>
            </a:r>
            <a:r>
              <a:rPr lang="en-US" sz="2800" dirty="0">
                <a:latin typeface="Cambria Math"/>
                <a:ea typeface="Cambria Math"/>
              </a:rPr>
              <a:t> ∙ ∙ ∙ </a:t>
            </a:r>
            <a:r>
              <a:rPr lang="en-US" sz="2800" i="1" dirty="0" err="1"/>
              <a:t>m</a:t>
            </a:r>
            <a:r>
              <a:rPr lang="en-US" sz="2800" i="1" baseline="-25000" dirty="0" err="1"/>
              <a:t>n</a:t>
            </a:r>
            <a:r>
              <a:rPr lang="en-US" sz="2800" baseline="-25000" dirty="0"/>
              <a:t>      </a:t>
            </a:r>
            <a:r>
              <a:rPr lang="en-US" sz="2800" i="1" dirty="0"/>
              <a:t>m</a:t>
            </a:r>
            <a:r>
              <a:rPr lang="en-US" sz="2800" i="1" baseline="-25000" dirty="0"/>
              <a:t>n</a:t>
            </a:r>
            <a:r>
              <a:rPr lang="en-US" sz="2800" baseline="-25000" dirty="0"/>
              <a:t>+1    </a:t>
            </a:r>
            <a:r>
              <a:rPr lang="en-US" sz="2800" dirty="0"/>
              <a:t> integer matrices. Matrix multiplication is associative (exercise in Section </a:t>
            </a:r>
            <a:r>
              <a:rPr lang="en-US" sz="2800" dirty="0">
                <a:latin typeface="Cambria Math" pitchFamily="18" charset="0"/>
                <a:ea typeface="Cambria Math" pitchFamily="18" charset="0"/>
              </a:rPr>
              <a:t>2.6</a:t>
            </a:r>
            <a:r>
              <a:rPr lang="en-US" sz="2800" dirty="0"/>
              <a:t>).</a:t>
            </a:r>
            <a:endParaRPr lang="en-US" b="1" dirty="0"/>
          </a:p>
          <a:p>
            <a:pPr>
              <a:buNone/>
            </a:pPr>
            <a:r>
              <a:rPr lang="en-US" b="1" dirty="0"/>
              <a:t>   Example</a:t>
            </a:r>
            <a:r>
              <a:rPr lang="en-US" dirty="0"/>
              <a:t>: In which order should the integer matrices </a:t>
            </a:r>
            <a:r>
              <a:rPr lang="en-US" b="1" dirty="0"/>
              <a:t>A</a:t>
            </a:r>
            <a:r>
              <a:rPr lang="en-US" baseline="-25000" dirty="0"/>
              <a:t>1</a:t>
            </a:r>
            <a:r>
              <a:rPr lang="en-US" b="1" dirty="0"/>
              <a:t>A</a:t>
            </a:r>
            <a:r>
              <a:rPr lang="en-US" baseline="-25000" dirty="0"/>
              <a:t>2</a:t>
            </a:r>
            <a:r>
              <a:rPr lang="en-US" b="1" dirty="0"/>
              <a:t>A</a:t>
            </a:r>
            <a:r>
              <a:rPr lang="en-US" baseline="-25000" dirty="0"/>
              <a:t>3</a:t>
            </a:r>
            <a:r>
              <a:rPr lang="en-US" i="1" baseline="-25000" dirty="0"/>
              <a:t>  </a:t>
            </a:r>
            <a:r>
              <a:rPr lang="en-US" dirty="0"/>
              <a:t>-  where </a:t>
            </a:r>
            <a:r>
              <a:rPr lang="en-US" b="1" dirty="0"/>
              <a:t>A</a:t>
            </a:r>
            <a:r>
              <a:rPr lang="en-US" baseline="-25000" dirty="0"/>
              <a:t>1  </a:t>
            </a:r>
            <a:r>
              <a:rPr lang="en-US" dirty="0"/>
              <a:t> is </a:t>
            </a:r>
            <a:r>
              <a:rPr lang="en-US" dirty="0">
                <a:latin typeface="Cambria Math" pitchFamily="18" charset="0"/>
                <a:ea typeface="Cambria Math" pitchFamily="18" charset="0"/>
              </a:rPr>
              <a:t>30    20</a:t>
            </a:r>
            <a:r>
              <a:rPr lang="en-US" baseline="-25000" dirty="0">
                <a:latin typeface="Cambria Math" pitchFamily="18" charset="0"/>
                <a:ea typeface="Cambria Math" pitchFamily="18" charset="0"/>
              </a:rPr>
              <a:t> , </a:t>
            </a:r>
            <a:r>
              <a:rPr lang="en-US" b="1" dirty="0"/>
              <a:t>A</a:t>
            </a:r>
            <a:r>
              <a:rPr lang="en-US" baseline="-25000" dirty="0"/>
              <a:t>2 </a:t>
            </a:r>
            <a:r>
              <a:rPr lang="en-US" sz="2400" dirty="0">
                <a:latin typeface="Cambria Math" pitchFamily="18" charset="0"/>
                <a:ea typeface="Cambria Math" pitchFamily="18" charset="0"/>
              </a:rPr>
              <a:t>20</a:t>
            </a:r>
            <a:r>
              <a:rPr lang="en-US" sz="2400" baseline="-25000" dirty="0">
                <a:latin typeface="Cambria Math" pitchFamily="18" charset="0"/>
                <a:ea typeface="Cambria Math" pitchFamily="18" charset="0"/>
              </a:rPr>
              <a:t>       </a:t>
            </a:r>
            <a:r>
              <a:rPr lang="en-US" sz="2400" dirty="0">
                <a:latin typeface="Cambria Math" pitchFamily="18" charset="0"/>
                <a:ea typeface="Cambria Math" pitchFamily="18" charset="0"/>
              </a:rPr>
              <a:t>40</a:t>
            </a:r>
            <a:r>
              <a:rPr lang="en-US" sz="2400" i="1" dirty="0">
                <a:latin typeface="Cambria Math" pitchFamily="18" charset="0"/>
                <a:ea typeface="Cambria Math" pitchFamily="18" charset="0"/>
              </a:rPr>
              <a:t>,</a:t>
            </a:r>
            <a:r>
              <a:rPr lang="en-US" baseline="-25000" dirty="0">
                <a:latin typeface="Cambria Math" pitchFamily="18" charset="0"/>
                <a:ea typeface="Cambria Math" pitchFamily="18" charset="0"/>
              </a:rPr>
              <a:t>  </a:t>
            </a:r>
            <a:r>
              <a:rPr lang="en-US" b="1" dirty="0"/>
              <a:t>A</a:t>
            </a:r>
            <a:r>
              <a:rPr lang="en-US" baseline="-25000" dirty="0"/>
              <a:t>3 </a:t>
            </a:r>
            <a:r>
              <a:rPr lang="en-US" sz="2400" dirty="0">
                <a:latin typeface="Cambria Math" pitchFamily="18" charset="0"/>
                <a:ea typeface="Cambria Math" pitchFamily="18" charset="0"/>
              </a:rPr>
              <a:t>40</a:t>
            </a:r>
            <a:r>
              <a:rPr lang="en-US" sz="2400" baseline="-25000" dirty="0">
                <a:latin typeface="Cambria Math" pitchFamily="18" charset="0"/>
                <a:ea typeface="Cambria Math" pitchFamily="18" charset="0"/>
              </a:rPr>
              <a:t>    </a:t>
            </a:r>
            <a:r>
              <a:rPr lang="en-US" baseline="-25000" dirty="0">
                <a:latin typeface="Cambria Math" pitchFamily="18" charset="0"/>
                <a:ea typeface="Cambria Math" pitchFamily="18" charset="0"/>
              </a:rPr>
              <a:t> </a:t>
            </a:r>
            <a:r>
              <a:rPr lang="en-US" dirty="0">
                <a:latin typeface="Cambria Math" pitchFamily="18" charset="0"/>
                <a:ea typeface="Cambria Math" pitchFamily="18" charset="0"/>
              </a:rPr>
              <a:t> 10 </a:t>
            </a:r>
            <a:r>
              <a:rPr lang="en-US" dirty="0"/>
              <a:t>- be multiplied to use the least number of multiplications.</a:t>
            </a:r>
            <a:r>
              <a:rPr lang="en-US" b="1" dirty="0"/>
              <a:t> </a:t>
            </a:r>
            <a:endParaRPr lang="en-US" dirty="0"/>
          </a:p>
          <a:p>
            <a:pPr>
              <a:buNone/>
            </a:pPr>
            <a:r>
              <a:rPr lang="en-US" b="1" dirty="0"/>
              <a:t>   Solution</a:t>
            </a:r>
            <a:r>
              <a:rPr lang="en-US" dirty="0"/>
              <a:t>: There are two possible ways to compute </a:t>
            </a:r>
            <a:r>
              <a:rPr lang="en-US" b="1" dirty="0"/>
              <a:t>A</a:t>
            </a:r>
            <a:r>
              <a:rPr lang="en-US" baseline="-25000" dirty="0"/>
              <a:t>1</a:t>
            </a:r>
            <a:r>
              <a:rPr lang="en-US" b="1" dirty="0"/>
              <a:t>A</a:t>
            </a:r>
            <a:r>
              <a:rPr lang="en-US" baseline="-25000" dirty="0"/>
              <a:t>2</a:t>
            </a:r>
            <a:r>
              <a:rPr lang="en-US" b="1" dirty="0"/>
              <a:t>A</a:t>
            </a:r>
            <a:r>
              <a:rPr lang="en-US" baseline="-25000" dirty="0"/>
              <a:t>3</a:t>
            </a:r>
            <a:r>
              <a:rPr lang="en-US" dirty="0"/>
              <a:t>.</a:t>
            </a:r>
          </a:p>
          <a:p>
            <a:pPr lvl="1"/>
            <a:r>
              <a:rPr lang="en-US" b="1" dirty="0"/>
              <a:t>A</a:t>
            </a:r>
            <a:r>
              <a:rPr lang="en-US" baseline="-25000" dirty="0"/>
              <a:t>1</a:t>
            </a:r>
            <a:r>
              <a:rPr lang="en-US" dirty="0"/>
              <a:t>(</a:t>
            </a:r>
            <a:r>
              <a:rPr lang="en-US" b="1" dirty="0"/>
              <a:t>A</a:t>
            </a:r>
            <a:r>
              <a:rPr lang="en-US" baseline="-25000" dirty="0"/>
              <a:t>2</a:t>
            </a:r>
            <a:r>
              <a:rPr lang="en-US" b="1" dirty="0"/>
              <a:t>A</a:t>
            </a:r>
            <a:r>
              <a:rPr lang="en-US" baseline="-25000" dirty="0"/>
              <a:t>3</a:t>
            </a:r>
            <a:r>
              <a:rPr lang="en-US" dirty="0"/>
              <a:t>): </a:t>
            </a:r>
            <a:r>
              <a:rPr lang="en-US" b="1" dirty="0"/>
              <a:t>A</a:t>
            </a:r>
            <a:r>
              <a:rPr lang="en-US" baseline="-25000" dirty="0"/>
              <a:t>2</a:t>
            </a:r>
            <a:r>
              <a:rPr lang="en-US" b="1" dirty="0"/>
              <a:t>A</a:t>
            </a:r>
            <a:r>
              <a:rPr lang="en-US" baseline="-25000" dirty="0"/>
              <a:t>3</a:t>
            </a:r>
            <a:r>
              <a:rPr lang="en-US" dirty="0"/>
              <a:t>  takes </a:t>
            </a:r>
            <a:r>
              <a:rPr lang="en-US" dirty="0">
                <a:latin typeface="Cambria Math" pitchFamily="18" charset="0"/>
                <a:ea typeface="Cambria Math" pitchFamily="18" charset="0"/>
              </a:rPr>
              <a:t>20 </a:t>
            </a:r>
            <a:r>
              <a:rPr lang="en-US" dirty="0">
                <a:latin typeface="Cambria Math"/>
                <a:ea typeface="Cambria Math"/>
              </a:rPr>
              <a:t>∙</a:t>
            </a:r>
            <a:r>
              <a:rPr lang="en-US" dirty="0">
                <a:latin typeface="Cambria Math" pitchFamily="18" charset="0"/>
                <a:ea typeface="Cambria Math" pitchFamily="18" charset="0"/>
              </a:rPr>
              <a:t> 40 </a:t>
            </a:r>
            <a:r>
              <a:rPr lang="en-US" dirty="0">
                <a:latin typeface="Cambria Math"/>
                <a:ea typeface="Cambria Math"/>
              </a:rPr>
              <a:t>∙</a:t>
            </a:r>
            <a:r>
              <a:rPr lang="en-US" dirty="0">
                <a:latin typeface="Cambria Math" pitchFamily="18" charset="0"/>
                <a:ea typeface="Cambria Math" pitchFamily="18" charset="0"/>
              </a:rPr>
              <a:t> 10 = 8000 multiplications. Then multiplying </a:t>
            </a:r>
            <a:r>
              <a:rPr lang="en-US" b="1" dirty="0"/>
              <a:t>A</a:t>
            </a:r>
            <a:r>
              <a:rPr lang="en-US" baseline="-25000" dirty="0"/>
              <a:t>1  </a:t>
            </a:r>
            <a:r>
              <a:rPr lang="en-US" dirty="0"/>
              <a:t> by the </a:t>
            </a:r>
            <a:r>
              <a:rPr lang="en-US" dirty="0">
                <a:latin typeface="Cambria Math" pitchFamily="18" charset="0"/>
                <a:ea typeface="Cambria Math" pitchFamily="18" charset="0"/>
              </a:rPr>
              <a:t>20    10 </a:t>
            </a:r>
            <a:r>
              <a:rPr lang="en-US" dirty="0"/>
              <a:t>matrix </a:t>
            </a:r>
            <a:r>
              <a:rPr lang="en-US" b="1" dirty="0"/>
              <a:t>A</a:t>
            </a:r>
            <a:r>
              <a:rPr lang="en-US" baseline="-25000" dirty="0"/>
              <a:t>2</a:t>
            </a:r>
            <a:r>
              <a:rPr lang="en-US" b="1" dirty="0"/>
              <a:t>A</a:t>
            </a:r>
            <a:r>
              <a:rPr lang="en-US" baseline="-25000" dirty="0"/>
              <a:t>3</a:t>
            </a:r>
            <a:r>
              <a:rPr lang="en-US" dirty="0"/>
              <a:t> takes </a:t>
            </a:r>
            <a:r>
              <a:rPr lang="en-US" dirty="0">
                <a:latin typeface="Cambria Math" pitchFamily="18" charset="0"/>
                <a:ea typeface="Cambria Math" pitchFamily="18" charset="0"/>
              </a:rPr>
              <a:t>30 </a:t>
            </a:r>
            <a:r>
              <a:rPr lang="en-US" dirty="0">
                <a:latin typeface="Cambria Math"/>
                <a:ea typeface="Cambria Math"/>
              </a:rPr>
              <a:t>∙</a:t>
            </a:r>
            <a:r>
              <a:rPr lang="en-US" dirty="0">
                <a:latin typeface="Cambria Math" pitchFamily="18" charset="0"/>
                <a:ea typeface="Cambria Math" pitchFamily="18" charset="0"/>
              </a:rPr>
              <a:t> 20 </a:t>
            </a:r>
            <a:r>
              <a:rPr lang="en-US" dirty="0">
                <a:latin typeface="Cambria Math"/>
                <a:ea typeface="Cambria Math"/>
              </a:rPr>
              <a:t>∙</a:t>
            </a:r>
            <a:r>
              <a:rPr lang="en-US" dirty="0">
                <a:latin typeface="Cambria Math" pitchFamily="18" charset="0"/>
                <a:ea typeface="Cambria Math" pitchFamily="18" charset="0"/>
              </a:rPr>
              <a:t> 10 = 6000 multiplications. So the total number is 8000 + 6000 = 14,000.</a:t>
            </a:r>
            <a:endParaRPr lang="en-US" baseline="-25000" dirty="0">
              <a:latin typeface="Cambria Math" pitchFamily="18" charset="0"/>
              <a:ea typeface="Cambria Math" pitchFamily="18" charset="0"/>
            </a:endParaRPr>
          </a:p>
          <a:p>
            <a:pPr lvl="1"/>
            <a:endParaRPr lang="en-US" baseline="-25000" dirty="0"/>
          </a:p>
          <a:p>
            <a:pPr lvl="1"/>
            <a:r>
              <a:rPr lang="en-US" dirty="0"/>
              <a:t>(</a:t>
            </a:r>
            <a:r>
              <a:rPr lang="en-US" b="1" dirty="0"/>
              <a:t>A</a:t>
            </a:r>
            <a:r>
              <a:rPr lang="en-US" baseline="-25000" dirty="0"/>
              <a:t>1</a:t>
            </a:r>
            <a:r>
              <a:rPr lang="en-US" b="1" dirty="0"/>
              <a:t>A</a:t>
            </a:r>
            <a:r>
              <a:rPr lang="en-US" baseline="-25000" dirty="0"/>
              <a:t>2</a:t>
            </a:r>
            <a:r>
              <a:rPr lang="en-US" dirty="0"/>
              <a:t>)</a:t>
            </a:r>
            <a:r>
              <a:rPr lang="en-US" b="1" dirty="0"/>
              <a:t>A</a:t>
            </a:r>
            <a:r>
              <a:rPr lang="en-US" baseline="-25000" dirty="0"/>
              <a:t>3</a:t>
            </a:r>
            <a:r>
              <a:rPr lang="en-US" dirty="0"/>
              <a:t>: </a:t>
            </a:r>
            <a:r>
              <a:rPr lang="en-US" b="1" dirty="0"/>
              <a:t>A</a:t>
            </a:r>
            <a:r>
              <a:rPr lang="en-US" baseline="-25000" dirty="0"/>
              <a:t>1</a:t>
            </a:r>
            <a:r>
              <a:rPr lang="en-US" b="1" dirty="0"/>
              <a:t>A</a:t>
            </a:r>
            <a:r>
              <a:rPr lang="en-US" baseline="-25000" dirty="0"/>
              <a:t>2</a:t>
            </a:r>
            <a:r>
              <a:rPr lang="en-US" dirty="0"/>
              <a:t>  takes </a:t>
            </a:r>
            <a:r>
              <a:rPr lang="en-US" dirty="0">
                <a:latin typeface="Cambria Math" pitchFamily="18" charset="0"/>
                <a:ea typeface="Cambria Math" pitchFamily="18" charset="0"/>
              </a:rPr>
              <a:t>30 </a:t>
            </a:r>
            <a:r>
              <a:rPr lang="en-US" dirty="0">
                <a:latin typeface="Cambria Math"/>
                <a:ea typeface="Cambria Math"/>
              </a:rPr>
              <a:t>∙</a:t>
            </a:r>
            <a:r>
              <a:rPr lang="en-US" dirty="0">
                <a:latin typeface="Cambria Math" pitchFamily="18" charset="0"/>
                <a:ea typeface="Cambria Math" pitchFamily="18" charset="0"/>
              </a:rPr>
              <a:t> 20 </a:t>
            </a:r>
            <a:r>
              <a:rPr lang="en-US" dirty="0">
                <a:latin typeface="Cambria Math"/>
                <a:ea typeface="Cambria Math"/>
              </a:rPr>
              <a:t>∙</a:t>
            </a:r>
            <a:r>
              <a:rPr lang="en-US" dirty="0">
                <a:latin typeface="Cambria Math" pitchFamily="18" charset="0"/>
                <a:ea typeface="Cambria Math" pitchFamily="18" charset="0"/>
              </a:rPr>
              <a:t> 40 = 24,000 multiplications. Then multiplying the 30     40 matrix  </a:t>
            </a:r>
            <a:r>
              <a:rPr lang="en-US" b="1" dirty="0"/>
              <a:t>A</a:t>
            </a:r>
            <a:r>
              <a:rPr lang="en-US" baseline="-25000" dirty="0"/>
              <a:t>1</a:t>
            </a:r>
            <a:r>
              <a:rPr lang="en-US" b="1" dirty="0"/>
              <a:t>A</a:t>
            </a:r>
            <a:r>
              <a:rPr lang="en-US" baseline="-25000" dirty="0"/>
              <a:t>2</a:t>
            </a:r>
            <a:r>
              <a:rPr lang="en-US" dirty="0"/>
              <a:t> by </a:t>
            </a:r>
            <a:r>
              <a:rPr lang="en-US" b="1" dirty="0"/>
              <a:t>A</a:t>
            </a:r>
            <a:r>
              <a:rPr lang="en-US" baseline="-25000" dirty="0"/>
              <a:t>3</a:t>
            </a:r>
            <a:r>
              <a:rPr lang="en-US" dirty="0"/>
              <a:t> takes </a:t>
            </a:r>
            <a:r>
              <a:rPr lang="en-US" dirty="0">
                <a:latin typeface="Cambria Math" pitchFamily="18" charset="0"/>
                <a:ea typeface="Cambria Math" pitchFamily="18" charset="0"/>
              </a:rPr>
              <a:t>30 </a:t>
            </a:r>
            <a:r>
              <a:rPr lang="en-US" dirty="0">
                <a:latin typeface="Cambria Math"/>
                <a:ea typeface="Cambria Math"/>
              </a:rPr>
              <a:t>∙</a:t>
            </a:r>
            <a:r>
              <a:rPr lang="en-US" dirty="0">
                <a:latin typeface="Cambria Math" pitchFamily="18" charset="0"/>
                <a:ea typeface="Cambria Math" pitchFamily="18" charset="0"/>
              </a:rPr>
              <a:t> 40 </a:t>
            </a:r>
            <a:r>
              <a:rPr lang="en-US" dirty="0">
                <a:latin typeface="Cambria Math"/>
                <a:ea typeface="Cambria Math"/>
              </a:rPr>
              <a:t>∙</a:t>
            </a:r>
            <a:r>
              <a:rPr lang="en-US" dirty="0">
                <a:latin typeface="Cambria Math" pitchFamily="18" charset="0"/>
                <a:ea typeface="Cambria Math" pitchFamily="18" charset="0"/>
              </a:rPr>
              <a:t> 10 = 12,000 multiplications. So the total number is 24,000 + 12,000 = 36,000.</a:t>
            </a:r>
            <a:endParaRPr lang="en-US" dirty="0"/>
          </a:p>
          <a:p>
            <a:pPr>
              <a:buNone/>
            </a:pPr>
            <a:r>
              <a:rPr lang="en-US" dirty="0"/>
              <a:t>    So the first method is best. </a:t>
            </a:r>
          </a:p>
          <a:p>
            <a:pPr>
              <a:buNone/>
            </a:pPr>
            <a:endParaRPr lang="en-US" dirty="0"/>
          </a:p>
        </p:txBody>
      </p:sp>
      <p:pic>
        <p:nvPicPr>
          <p:cNvPr id="4" name="Picture 3" descr="addin_tmp.png"/>
          <p:cNvPicPr>
            <a:picLocks noChangeAspect="1"/>
          </p:cNvPicPr>
          <p:nvPr>
            <p:custDataLst>
              <p:tags r:id="rId1"/>
            </p:custDataLst>
          </p:nvPr>
        </p:nvPicPr>
        <p:blipFill>
          <a:blip r:embed="rId10" cstate="print"/>
          <a:stretch>
            <a:fillRect/>
          </a:stretch>
        </p:blipFill>
        <p:spPr>
          <a:xfrm>
            <a:off x="1219200" y="2514600"/>
            <a:ext cx="154781" cy="152400"/>
          </a:xfrm>
          <a:prstGeom prst="rect">
            <a:avLst/>
          </a:prstGeom>
        </p:spPr>
      </p:pic>
      <p:pic>
        <p:nvPicPr>
          <p:cNvPr id="5" name="Picture 4" descr="addin_tmp.png"/>
          <p:cNvPicPr>
            <a:picLocks noChangeAspect="1"/>
          </p:cNvPicPr>
          <p:nvPr>
            <p:custDataLst>
              <p:tags r:id="rId2"/>
            </p:custDataLst>
          </p:nvPr>
        </p:nvPicPr>
        <p:blipFill>
          <a:blip r:embed="rId10" cstate="print"/>
          <a:stretch>
            <a:fillRect/>
          </a:stretch>
        </p:blipFill>
        <p:spPr>
          <a:xfrm>
            <a:off x="2743200" y="2590800"/>
            <a:ext cx="154781" cy="152400"/>
          </a:xfrm>
          <a:prstGeom prst="rect">
            <a:avLst/>
          </a:prstGeom>
        </p:spPr>
      </p:pic>
      <p:pic>
        <p:nvPicPr>
          <p:cNvPr id="6" name="Picture 5" descr="addin_tmp.png"/>
          <p:cNvPicPr>
            <a:picLocks noChangeAspect="1"/>
          </p:cNvPicPr>
          <p:nvPr>
            <p:custDataLst>
              <p:tags r:id="rId3"/>
            </p:custDataLst>
          </p:nvPr>
        </p:nvPicPr>
        <p:blipFill>
          <a:blip r:embed="rId10" cstate="print"/>
          <a:stretch>
            <a:fillRect/>
          </a:stretch>
        </p:blipFill>
        <p:spPr>
          <a:xfrm>
            <a:off x="7924800" y="2286000"/>
            <a:ext cx="154781" cy="152400"/>
          </a:xfrm>
          <a:prstGeom prst="rect">
            <a:avLst/>
          </a:prstGeom>
        </p:spPr>
      </p:pic>
      <p:pic>
        <p:nvPicPr>
          <p:cNvPr id="7" name="Picture 6" descr="addin_tmp.png"/>
          <p:cNvPicPr>
            <a:picLocks noChangeAspect="1"/>
          </p:cNvPicPr>
          <p:nvPr>
            <p:custDataLst>
              <p:tags r:id="rId4"/>
            </p:custDataLst>
          </p:nvPr>
        </p:nvPicPr>
        <p:blipFill>
          <a:blip r:embed="rId10" cstate="print"/>
          <a:stretch>
            <a:fillRect/>
          </a:stretch>
        </p:blipFill>
        <p:spPr>
          <a:xfrm>
            <a:off x="1371600" y="3352800"/>
            <a:ext cx="154781" cy="152400"/>
          </a:xfrm>
          <a:prstGeom prst="rect">
            <a:avLst/>
          </a:prstGeom>
        </p:spPr>
      </p:pic>
      <p:pic>
        <p:nvPicPr>
          <p:cNvPr id="8" name="Picture 7" descr="addin_tmp.png"/>
          <p:cNvPicPr>
            <a:picLocks noChangeAspect="1"/>
          </p:cNvPicPr>
          <p:nvPr>
            <p:custDataLst>
              <p:tags r:id="rId5"/>
            </p:custDataLst>
          </p:nvPr>
        </p:nvPicPr>
        <p:blipFill>
          <a:blip r:embed="rId10" cstate="print"/>
          <a:stretch>
            <a:fillRect/>
          </a:stretch>
        </p:blipFill>
        <p:spPr>
          <a:xfrm>
            <a:off x="2590800" y="3352800"/>
            <a:ext cx="154781" cy="152400"/>
          </a:xfrm>
          <a:prstGeom prst="rect">
            <a:avLst/>
          </a:prstGeom>
        </p:spPr>
      </p:pic>
      <p:pic>
        <p:nvPicPr>
          <p:cNvPr id="9" name="Picture 8" descr="addin_tmp.png"/>
          <p:cNvPicPr>
            <a:picLocks noChangeAspect="1"/>
          </p:cNvPicPr>
          <p:nvPr>
            <p:custDataLst>
              <p:tags r:id="rId6"/>
            </p:custDataLst>
          </p:nvPr>
        </p:nvPicPr>
        <p:blipFill>
          <a:blip r:embed="rId10" cstate="print"/>
          <a:stretch>
            <a:fillRect/>
          </a:stretch>
        </p:blipFill>
        <p:spPr>
          <a:xfrm>
            <a:off x="3733800" y="3352800"/>
            <a:ext cx="154781" cy="152400"/>
          </a:xfrm>
          <a:prstGeom prst="rect">
            <a:avLst/>
          </a:prstGeom>
        </p:spPr>
      </p:pic>
      <p:pic>
        <p:nvPicPr>
          <p:cNvPr id="10" name="Picture 9" descr="addin_tmp.png"/>
          <p:cNvPicPr>
            <a:picLocks noChangeAspect="1"/>
          </p:cNvPicPr>
          <p:nvPr>
            <p:custDataLst>
              <p:tags r:id="rId7"/>
            </p:custDataLst>
          </p:nvPr>
        </p:nvPicPr>
        <p:blipFill>
          <a:blip r:embed="rId10" cstate="print"/>
          <a:stretch>
            <a:fillRect/>
          </a:stretch>
        </p:blipFill>
        <p:spPr>
          <a:xfrm>
            <a:off x="3733800" y="4419600"/>
            <a:ext cx="154781" cy="152400"/>
          </a:xfrm>
          <a:prstGeom prst="rect">
            <a:avLst/>
          </a:prstGeom>
        </p:spPr>
      </p:pic>
      <p:pic>
        <p:nvPicPr>
          <p:cNvPr id="11" name="Picture 10" descr="addin_tmp.png"/>
          <p:cNvPicPr>
            <a:picLocks noChangeAspect="1"/>
          </p:cNvPicPr>
          <p:nvPr>
            <p:custDataLst>
              <p:tags r:id="rId8"/>
            </p:custDataLst>
          </p:nvPr>
        </p:nvPicPr>
        <p:blipFill>
          <a:blip r:embed="rId10" cstate="print"/>
          <a:stretch>
            <a:fillRect/>
          </a:stretch>
        </p:blipFill>
        <p:spPr>
          <a:xfrm>
            <a:off x="3124200" y="5410200"/>
            <a:ext cx="154781" cy="152400"/>
          </a:xfrm>
          <a:prstGeom prst="rect">
            <a:avLst/>
          </a:prstGeom>
        </p:spPr>
      </p:pic>
      <p:sp>
        <p:nvSpPr>
          <p:cNvPr id="12" name="TextBox 11"/>
          <p:cNvSpPr txBox="1"/>
          <p:nvPr/>
        </p:nvSpPr>
        <p:spPr>
          <a:xfrm>
            <a:off x="4114800" y="5867400"/>
            <a:ext cx="4572000" cy="830997"/>
          </a:xfrm>
          <a:prstGeom prst="rect">
            <a:avLst/>
          </a:prstGeom>
          <a:noFill/>
          <a:ln>
            <a:solidFill>
              <a:schemeClr val="accent1"/>
            </a:solidFill>
          </a:ln>
        </p:spPr>
        <p:txBody>
          <a:bodyPr wrap="square" rtlCol="0">
            <a:spAutoFit/>
          </a:bodyPr>
          <a:lstStyle/>
          <a:p>
            <a:r>
              <a:rPr lang="en-US" sz="1200" dirty="0"/>
              <a:t>An efficient algorithm for finding the best order for matrix-chain multiplication can be based on the algorithmic paradigm known as </a:t>
            </a:r>
            <a:r>
              <a:rPr lang="en-US" sz="1200" i="1" dirty="0"/>
              <a:t>dynamic programming</a:t>
            </a:r>
            <a:r>
              <a:rPr lang="en-US" sz="1200" dirty="0"/>
              <a:t>. (see Ex. </a:t>
            </a:r>
            <a:r>
              <a:rPr lang="en-US" sz="1200" dirty="0">
                <a:latin typeface="Cambria Math" pitchFamily="18" charset="0"/>
                <a:ea typeface="Cambria Math" pitchFamily="18" charset="0"/>
              </a:rPr>
              <a:t>57</a:t>
            </a:r>
            <a:r>
              <a:rPr lang="en-US" sz="1200" dirty="0"/>
              <a:t> in Section 8.1)</a:t>
            </a:r>
          </a:p>
          <a:p>
            <a:endParaRPr lang="en-US" sz="1200"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the Complexity of Algorithms</a:t>
            </a:r>
          </a:p>
        </p:txBody>
      </p:sp>
      <p:pic>
        <p:nvPicPr>
          <p:cNvPr id="4" name="Content Placeholder 3" descr="table29.jpg"/>
          <p:cNvPicPr>
            <a:picLocks noGrp="1" noChangeAspect="1"/>
          </p:cNvPicPr>
          <p:nvPr>
            <p:ph idx="1"/>
          </p:nvPr>
        </p:nvPicPr>
        <p:blipFill>
          <a:blip r:embed="rId2" cstate="print"/>
          <a:stretch>
            <a:fillRect/>
          </a:stretch>
        </p:blipFill>
        <p:spPr>
          <a:xfrm>
            <a:off x="2395460" y="2667000"/>
            <a:ext cx="4761700" cy="3200399"/>
          </a:xfr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the Complexity of Algorithms</a:t>
            </a:r>
          </a:p>
        </p:txBody>
      </p:sp>
      <p:pic>
        <p:nvPicPr>
          <p:cNvPr id="4" name="Content Placeholder 3" descr="table30.jpg"/>
          <p:cNvPicPr>
            <a:picLocks noGrp="1" noChangeAspect="1"/>
          </p:cNvPicPr>
          <p:nvPr>
            <p:ph idx="1"/>
          </p:nvPr>
        </p:nvPicPr>
        <p:blipFill>
          <a:blip r:embed="rId2" cstate="print"/>
          <a:stretch>
            <a:fillRect/>
          </a:stretch>
        </p:blipFill>
        <p:spPr>
          <a:xfrm>
            <a:off x="76200" y="2438400"/>
            <a:ext cx="8803129" cy="2996131"/>
          </a:xfrm>
        </p:spPr>
      </p:pic>
      <p:sp>
        <p:nvSpPr>
          <p:cNvPr id="5" name="TextBox 4"/>
          <p:cNvSpPr txBox="1"/>
          <p:nvPr/>
        </p:nvSpPr>
        <p:spPr>
          <a:xfrm>
            <a:off x="2362200" y="5715000"/>
            <a:ext cx="6248400" cy="369332"/>
          </a:xfrm>
          <a:prstGeom prst="rect">
            <a:avLst/>
          </a:prstGeom>
          <a:noFill/>
        </p:spPr>
        <p:txBody>
          <a:bodyPr wrap="square" rtlCol="0">
            <a:spAutoFit/>
          </a:bodyPr>
          <a:lstStyle/>
          <a:p>
            <a:r>
              <a:rPr lang="en-US" dirty="0"/>
              <a:t>Times of more than </a:t>
            </a:r>
            <a:r>
              <a:rPr lang="en-US" dirty="0">
                <a:latin typeface="Cambria Math" pitchFamily="18" charset="0"/>
                <a:ea typeface="Cambria Math" pitchFamily="18" charset="0"/>
              </a:rPr>
              <a:t>10</a:t>
            </a:r>
            <a:r>
              <a:rPr lang="en-US" baseline="30000" dirty="0">
                <a:latin typeface="Cambria Math" pitchFamily="18" charset="0"/>
                <a:ea typeface="Cambria Math" pitchFamily="18" charset="0"/>
              </a:rPr>
              <a:t>100   </a:t>
            </a:r>
            <a:r>
              <a:rPr lang="en-US" dirty="0"/>
              <a:t>years are indicated with an *.</a:t>
            </a:r>
            <a:endParaRPr lang="en-US" dirty="0">
              <a:latin typeface="Cambria Math" pitchFamily="18" charset="0"/>
              <a:ea typeface="Cambria Math"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Complexity of Problems</a:t>
            </a:r>
          </a:p>
        </p:txBody>
      </p:sp>
      <p:sp>
        <p:nvSpPr>
          <p:cNvPr id="3" name="Content Placeholder 2"/>
          <p:cNvSpPr>
            <a:spLocks noGrp="1"/>
          </p:cNvSpPr>
          <p:nvPr>
            <p:ph idx="1"/>
          </p:nvPr>
        </p:nvSpPr>
        <p:spPr>
          <a:xfrm>
            <a:off x="457200" y="1935480"/>
            <a:ext cx="8229600" cy="4770120"/>
          </a:xfrm>
        </p:spPr>
        <p:txBody>
          <a:bodyPr>
            <a:normAutofit/>
          </a:bodyPr>
          <a:lstStyle/>
          <a:p>
            <a:pPr marL="514350" indent="-514350" algn="just">
              <a:lnSpc>
                <a:spcPct val="150000"/>
              </a:lnSpc>
              <a:buFont typeface="+mj-lt"/>
              <a:buAutoNum type="arabicPeriod"/>
            </a:pPr>
            <a:r>
              <a:rPr lang="en-US" b="1" dirty="0">
                <a:latin typeface="Times New Roman" pitchFamily="18" charset="0"/>
                <a:cs typeface="Times New Roman" pitchFamily="18" charset="0"/>
              </a:rPr>
              <a:t>Tractable Problem</a:t>
            </a:r>
          </a:p>
          <a:p>
            <a:pPr marL="514350" indent="-514350" algn="just">
              <a:lnSpc>
                <a:spcPct val="150000"/>
              </a:lnSpc>
              <a:buFont typeface="+mj-lt"/>
              <a:buAutoNum type="arabicPeriod"/>
            </a:pPr>
            <a:r>
              <a:rPr lang="en-US" b="1" dirty="0">
                <a:latin typeface="Times New Roman" pitchFamily="18" charset="0"/>
                <a:cs typeface="Times New Roman" pitchFamily="18" charset="0"/>
              </a:rPr>
              <a:t>Intractable Problem</a:t>
            </a:r>
          </a:p>
          <a:p>
            <a:pPr marL="514350" indent="-514350" algn="just">
              <a:lnSpc>
                <a:spcPct val="150000"/>
              </a:lnSpc>
              <a:buFont typeface="+mj-lt"/>
              <a:buAutoNum type="arabicPeriod"/>
            </a:pPr>
            <a:r>
              <a:rPr lang="en-US" b="1" dirty="0">
                <a:latin typeface="Times New Roman" pitchFamily="18" charset="0"/>
                <a:cs typeface="Times New Roman" pitchFamily="18" charset="0"/>
              </a:rPr>
              <a:t>Unsolvable Problem</a:t>
            </a:r>
          </a:p>
          <a:p>
            <a:pPr marL="514350" indent="-514350" algn="just">
              <a:lnSpc>
                <a:spcPct val="150000"/>
              </a:lnSpc>
              <a:buFont typeface="+mj-lt"/>
              <a:buAutoNum type="arabicPeriod"/>
            </a:pPr>
            <a:r>
              <a:rPr lang="en-US" b="1" dirty="0">
                <a:latin typeface="Times New Roman" pitchFamily="18" charset="0"/>
                <a:cs typeface="Times New Roman" pitchFamily="18" charset="0"/>
              </a:rPr>
              <a:t>Class P</a:t>
            </a:r>
          </a:p>
          <a:p>
            <a:pPr marL="514350" indent="-514350" algn="just">
              <a:lnSpc>
                <a:spcPct val="150000"/>
              </a:lnSpc>
              <a:buFont typeface="+mj-lt"/>
              <a:buAutoNum type="arabicPeriod"/>
            </a:pPr>
            <a:r>
              <a:rPr lang="en-US" b="1" dirty="0">
                <a:latin typeface="Times New Roman" pitchFamily="18" charset="0"/>
                <a:cs typeface="Times New Roman" pitchFamily="18" charset="0"/>
              </a:rPr>
              <a:t>Class NP</a:t>
            </a:r>
          </a:p>
          <a:p>
            <a:pPr marL="514350" indent="-514350" algn="just">
              <a:lnSpc>
                <a:spcPct val="150000"/>
              </a:lnSpc>
              <a:buFont typeface="+mj-lt"/>
              <a:buAutoNum type="arabicPeriod"/>
            </a:pPr>
            <a:r>
              <a:rPr lang="en-US" b="1" dirty="0">
                <a:latin typeface="Times New Roman" pitchFamily="18" charset="0"/>
                <a:cs typeface="Times New Roman" pitchFamily="18" charset="0"/>
              </a:rPr>
              <a:t>NP Complete Class</a:t>
            </a:r>
          </a:p>
          <a:p>
            <a:pPr algn="just"/>
            <a:endParaRPr lang="en-US" b="1" dirty="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a:p>
            <a:pPr algn="just"/>
            <a:endParaRPr lang="en-US" dirty="0"/>
          </a:p>
        </p:txBody>
      </p:sp>
    </p:spTree>
    <p:extLst>
      <p:ext uri="{BB962C8B-B14F-4D97-AF65-F5344CB8AC3E}">
        <p14:creationId xmlns:p14="http://schemas.microsoft.com/office/powerpoint/2010/main" val="25002923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Complexity of Problems</a:t>
            </a:r>
          </a:p>
        </p:txBody>
      </p:sp>
      <p:sp>
        <p:nvSpPr>
          <p:cNvPr id="3" name="Content Placeholder 2"/>
          <p:cNvSpPr>
            <a:spLocks noGrp="1"/>
          </p:cNvSpPr>
          <p:nvPr>
            <p:ph idx="1"/>
          </p:nvPr>
        </p:nvSpPr>
        <p:spPr>
          <a:xfrm>
            <a:off x="457200" y="1935480"/>
            <a:ext cx="8229600" cy="4770120"/>
          </a:xfrm>
        </p:spPr>
        <p:txBody>
          <a:bodyPr>
            <a:normAutofit lnSpcReduction="10000"/>
          </a:bodyPr>
          <a:lstStyle/>
          <a:p>
            <a:pPr algn="just">
              <a:buNone/>
            </a:pPr>
            <a:r>
              <a:rPr lang="en-US" b="1" dirty="0">
                <a:latin typeface="Times New Roman" pitchFamily="18" charset="0"/>
                <a:cs typeface="Times New Roman" pitchFamily="18" charset="0"/>
              </a:rPr>
              <a:t>Tractable Problem: </a:t>
            </a:r>
            <a:r>
              <a:rPr lang="en-US" dirty="0">
                <a:latin typeface="Times New Roman" pitchFamily="18" charset="0"/>
                <a:cs typeface="Times New Roman" pitchFamily="18" charset="0"/>
              </a:rPr>
              <a:t>A problem that is solvable by a polynomial-time algorithm. The upper bound is polynomial.</a:t>
            </a:r>
          </a:p>
          <a:p>
            <a:pPr lvl="1" algn="just"/>
            <a:r>
              <a:rPr lang="en-US" dirty="0">
                <a:latin typeface="Times New Roman" pitchFamily="18" charset="0"/>
                <a:cs typeface="Times New Roman" pitchFamily="18" charset="0"/>
              </a:rPr>
              <a:t>A problem is called tractable </a:t>
            </a:r>
            <a:r>
              <a:rPr lang="en-US" dirty="0" err="1">
                <a:latin typeface="Times New Roman" pitchFamily="18" charset="0"/>
                <a:cs typeface="Times New Roman" pitchFamily="18" charset="0"/>
              </a:rPr>
              <a:t>iff</a:t>
            </a:r>
            <a:r>
              <a:rPr lang="en-US" dirty="0">
                <a:latin typeface="Times New Roman" pitchFamily="18" charset="0"/>
                <a:cs typeface="Times New Roman" pitchFamily="18" charset="0"/>
              </a:rPr>
              <a:t> there is an efficient algorithm that can be solved by a polynomial-time algorithm.</a:t>
            </a:r>
          </a:p>
          <a:p>
            <a:pPr lvl="1" algn="just"/>
            <a:r>
              <a:rPr lang="en-US" dirty="0">
                <a:latin typeface="Times New Roman" pitchFamily="18" charset="0"/>
                <a:cs typeface="Times New Roman" pitchFamily="18" charset="0"/>
              </a:rPr>
              <a:t>Examples: </a:t>
            </a:r>
          </a:p>
          <a:p>
            <a:pPr lvl="2" algn="just"/>
            <a:r>
              <a:rPr lang="en-US" dirty="0">
                <a:latin typeface="Times New Roman" pitchFamily="18" charset="0"/>
                <a:cs typeface="Times New Roman" pitchFamily="18" charset="0"/>
              </a:rPr>
              <a:t>Searching an unordered list, </a:t>
            </a:r>
          </a:p>
          <a:p>
            <a:pPr lvl="2" algn="just"/>
            <a:r>
              <a:rPr lang="en-US" dirty="0">
                <a:latin typeface="Times New Roman" pitchFamily="18" charset="0"/>
                <a:cs typeface="Times New Roman" pitchFamily="18" charset="0"/>
              </a:rPr>
              <a:t>searching an ordered list, </a:t>
            </a:r>
          </a:p>
          <a:p>
            <a:pPr lvl="2" algn="just"/>
            <a:r>
              <a:rPr lang="en-US" dirty="0">
                <a:latin typeface="Times New Roman" pitchFamily="18" charset="0"/>
                <a:cs typeface="Times New Roman" pitchFamily="18" charset="0"/>
              </a:rPr>
              <a:t>sorting a list, </a:t>
            </a:r>
          </a:p>
          <a:p>
            <a:pPr lvl="2" algn="just"/>
            <a:r>
              <a:rPr lang="en-US" dirty="0">
                <a:latin typeface="Times New Roman" pitchFamily="18" charset="0"/>
                <a:cs typeface="Times New Roman" pitchFamily="18" charset="0"/>
              </a:rPr>
              <a:t>Multiplication of integers,  and </a:t>
            </a:r>
          </a:p>
          <a:p>
            <a:pPr lvl="2" algn="just"/>
            <a:r>
              <a:rPr lang="en-US" dirty="0">
                <a:latin typeface="Times New Roman" pitchFamily="18" charset="0"/>
                <a:cs typeface="Times New Roman" pitchFamily="18" charset="0"/>
              </a:rPr>
              <a:t>Finding a minimum spanning tree in a graph.</a:t>
            </a:r>
          </a:p>
          <a:p>
            <a:pPr algn="just"/>
            <a:endParaRPr lang="en-US" dirty="0"/>
          </a:p>
        </p:txBody>
      </p:sp>
    </p:spTree>
    <p:extLst>
      <p:ext uri="{BB962C8B-B14F-4D97-AF65-F5344CB8AC3E}">
        <p14:creationId xmlns:p14="http://schemas.microsoft.com/office/powerpoint/2010/main" val="25002923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62200"/>
            <a:ext cx="8229600" cy="3962400"/>
          </a:xfrm>
        </p:spPr>
        <p:txBody>
          <a:bodyPr/>
          <a:lstStyle/>
          <a:p>
            <a:pPr algn="just">
              <a:buNone/>
            </a:pPr>
            <a:r>
              <a:rPr lang="en-US" b="1" dirty="0">
                <a:latin typeface="Times New Roman" pitchFamily="18" charset="0"/>
                <a:cs typeface="Times New Roman" pitchFamily="18" charset="0"/>
              </a:rPr>
              <a:t>Intractable Problem: </a:t>
            </a:r>
          </a:p>
          <a:p>
            <a:pPr algn="just"/>
            <a:r>
              <a:rPr lang="en-US" dirty="0">
                <a:latin typeface="Times New Roman" pitchFamily="18" charset="0"/>
                <a:cs typeface="Times New Roman" pitchFamily="18" charset="0"/>
              </a:rPr>
              <a:t>A problem that cannot be solved by a polynomial-time algorithm. The lower bound is exponential. </a:t>
            </a:r>
          </a:p>
          <a:p>
            <a:pPr lvl="1" algn="just"/>
            <a:r>
              <a:rPr lang="en-US" dirty="0">
                <a:latin typeface="Times New Roman" pitchFamily="18" charset="0"/>
                <a:cs typeface="Times New Roman" pitchFamily="18" charset="0"/>
              </a:rPr>
              <a:t>A problem is called intractable </a:t>
            </a:r>
            <a:r>
              <a:rPr lang="en-US" dirty="0" err="1">
                <a:latin typeface="Times New Roman" pitchFamily="18" charset="0"/>
                <a:cs typeface="Times New Roman" pitchFamily="18" charset="0"/>
              </a:rPr>
              <a:t>iff</a:t>
            </a:r>
            <a:r>
              <a:rPr lang="en-US" dirty="0">
                <a:latin typeface="Times New Roman" pitchFamily="18" charset="0"/>
                <a:cs typeface="Times New Roman" pitchFamily="18" charset="0"/>
              </a:rPr>
              <a:t> there is no efficient algorithm and that cannot be solved by a polynomial-time algorithm.</a:t>
            </a:r>
          </a:p>
          <a:p>
            <a:pPr lvl="1" algn="just"/>
            <a:r>
              <a:rPr lang="en-US" dirty="0">
                <a:latin typeface="Times New Roman" pitchFamily="18" charset="0"/>
                <a:cs typeface="Times New Roman" pitchFamily="18" charset="0"/>
              </a:rPr>
              <a:t>Examples: Towers of Hanoi</a:t>
            </a:r>
          </a:p>
          <a:p>
            <a:pPr algn="just"/>
            <a:endParaRPr lang="en-US" dirty="0"/>
          </a:p>
          <a:p>
            <a:pPr algn="just"/>
            <a:endParaRPr lang="en-US" dirty="0"/>
          </a:p>
        </p:txBody>
      </p:sp>
      <p:sp>
        <p:nvSpPr>
          <p:cNvPr id="4" name="Title 1"/>
          <p:cNvSpPr>
            <a:spLocks noGrp="1"/>
          </p:cNvSpPr>
          <p:nvPr>
            <p:ph type="title"/>
          </p:nvPr>
        </p:nvSpPr>
        <p:spPr>
          <a:xfrm>
            <a:off x="457200" y="704088"/>
            <a:ext cx="8229600" cy="1143000"/>
          </a:xfrm>
        </p:spPr>
        <p:txBody>
          <a:bodyPr/>
          <a:lstStyle/>
          <a:p>
            <a:pPr algn="ctr"/>
            <a:r>
              <a:rPr lang="en-US" dirty="0"/>
              <a:t>Complexity of Problems</a:t>
            </a:r>
          </a:p>
        </p:txBody>
      </p:sp>
    </p:spTree>
    <p:extLst>
      <p:ext uri="{BB962C8B-B14F-4D97-AF65-F5344CB8AC3E}">
        <p14:creationId xmlns:p14="http://schemas.microsoft.com/office/powerpoint/2010/main" val="30142843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Tractable vs Intractable</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442210"/>
            <a:ext cx="6553200" cy="2815590"/>
          </a:xfrm>
          <a:prstGeom prst="rect">
            <a:avLst/>
          </a:prstGeom>
          <a:noFill/>
          <a:ln>
            <a:noFill/>
          </a:ln>
        </p:spPr>
      </p:pic>
    </p:spTree>
    <p:extLst>
      <p:ext uri="{BB962C8B-B14F-4D97-AF65-F5344CB8AC3E}">
        <p14:creationId xmlns:p14="http://schemas.microsoft.com/office/powerpoint/2010/main" val="30747214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None/>
            </a:pPr>
            <a:r>
              <a:rPr lang="en-US" b="1" dirty="0">
                <a:latin typeface="Times New Roman" pitchFamily="18" charset="0"/>
                <a:cs typeface="Times New Roman" pitchFamily="18" charset="0"/>
              </a:rPr>
              <a:t>Unsolvable Problem : </a:t>
            </a:r>
            <a:r>
              <a:rPr lang="en-US" dirty="0">
                <a:latin typeface="Times New Roman" pitchFamily="18" charset="0"/>
                <a:cs typeface="Times New Roman" pitchFamily="18" charset="0"/>
              </a:rPr>
              <a:t>No algorithm exists to solve this problem, e.g., halting problem.</a:t>
            </a:r>
          </a:p>
          <a:p>
            <a:pPr algn="just">
              <a:buNone/>
            </a:pPr>
            <a:r>
              <a:rPr lang="en-US" dirty="0"/>
              <a:t>Class P:</a:t>
            </a:r>
          </a:p>
          <a:p>
            <a:pPr lvl="1" algn="just"/>
            <a:r>
              <a:rPr lang="en-US" dirty="0"/>
              <a:t>P : polynomial time by deterministic Machine</a:t>
            </a:r>
          </a:p>
          <a:p>
            <a:pPr lvl="1" algn="just"/>
            <a:r>
              <a:rPr lang="en-US" dirty="0"/>
              <a:t>A language L is in class P if there is some polynomial T(n) such that L = L(M) for some deterministic machine M of time complexity T(n).</a:t>
            </a:r>
          </a:p>
          <a:p>
            <a:pPr lvl="1" algn="just"/>
            <a:r>
              <a:rPr lang="en-US" dirty="0"/>
              <a:t>Example: Kruskals Algorithm</a:t>
            </a:r>
          </a:p>
          <a:p>
            <a:pPr algn="just"/>
            <a:endParaRPr lang="en-US" dirty="0"/>
          </a:p>
        </p:txBody>
      </p:sp>
      <p:sp>
        <p:nvSpPr>
          <p:cNvPr id="4" name="Title 1"/>
          <p:cNvSpPr txBox="1">
            <a:spLocks/>
          </p:cNvSpPr>
          <p:nvPr/>
        </p:nvSpPr>
        <p:spPr>
          <a:xfrm>
            <a:off x="304800" y="685800"/>
            <a:ext cx="8229600" cy="1143000"/>
          </a:xfrm>
          <a:prstGeom prst="rect">
            <a:avLst/>
          </a:prstGeom>
        </p:spPr>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a:ln>
                  <a:noFill/>
                </a:ln>
                <a:solidFill>
                  <a:schemeClr val="tx2"/>
                </a:solidFill>
                <a:effectLst/>
                <a:uLnTx/>
                <a:uFillTx/>
                <a:latin typeface="+mj-lt"/>
                <a:ea typeface="+mj-ea"/>
                <a:cs typeface="+mj-cs"/>
              </a:rPr>
              <a:t>Complexity of Problems</a:t>
            </a:r>
          </a:p>
        </p:txBody>
      </p:sp>
    </p:spTree>
    <p:extLst>
      <p:ext uri="{BB962C8B-B14F-4D97-AF65-F5344CB8AC3E}">
        <p14:creationId xmlns:p14="http://schemas.microsoft.com/office/powerpoint/2010/main" val="25520256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Kruskals Algorithm</a:t>
            </a:r>
          </a:p>
        </p:txBody>
      </p:sp>
      <p:sp>
        <p:nvSpPr>
          <p:cNvPr id="3" name="Content Placeholder 2"/>
          <p:cNvSpPr>
            <a:spLocks noGrp="1"/>
          </p:cNvSpPr>
          <p:nvPr>
            <p:ph idx="1"/>
          </p:nvPr>
        </p:nvSpPr>
        <p:spPr/>
        <p:txBody>
          <a:bodyPr/>
          <a:lstStyle/>
          <a:p>
            <a:r>
              <a:rPr lang="en-US" dirty="0"/>
              <a:t>Finding a minimum weight spanning tree for a graph.</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895600"/>
            <a:ext cx="3324225" cy="241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52124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Complexity of Problems</a:t>
            </a:r>
          </a:p>
        </p:txBody>
      </p:sp>
      <p:sp>
        <p:nvSpPr>
          <p:cNvPr id="3" name="Content Placeholder 2"/>
          <p:cNvSpPr>
            <a:spLocks noGrp="1"/>
          </p:cNvSpPr>
          <p:nvPr>
            <p:ph idx="1"/>
          </p:nvPr>
        </p:nvSpPr>
        <p:spPr/>
        <p:txBody>
          <a:bodyPr>
            <a:normAutofit fontScale="92500" lnSpcReduction="10000"/>
          </a:bodyPr>
          <a:lstStyle/>
          <a:p>
            <a:pPr algn="just"/>
            <a:r>
              <a:rPr lang="en-US" b="1" dirty="0">
                <a:latin typeface="Times New Roman" pitchFamily="18" charset="0"/>
                <a:cs typeface="Times New Roman" pitchFamily="18" charset="0"/>
              </a:rPr>
              <a:t>Class NP (</a:t>
            </a:r>
            <a:r>
              <a:rPr lang="en-US" dirty="0"/>
              <a:t>Nondeterministic Polynomial Time</a:t>
            </a:r>
            <a:r>
              <a:rPr lang="en-US" b="1" dirty="0">
                <a:latin typeface="Times New Roman" pitchFamily="18" charset="0"/>
                <a:cs typeface="Times New Roman" pitchFamily="18" charset="0"/>
              </a:rPr>
              <a:t>): </a:t>
            </a:r>
          </a:p>
          <a:p>
            <a:pPr lvl="1" algn="just"/>
            <a:r>
              <a:rPr lang="en-US" dirty="0">
                <a:latin typeface="Times New Roman" pitchFamily="18" charset="0"/>
                <a:cs typeface="Times New Roman" pitchFamily="18" charset="0"/>
              </a:rPr>
              <a:t>Solution can be checked in polynomial time. But no polynomial time algorithm has been found for finding a solution to problems in this class.</a:t>
            </a:r>
          </a:p>
          <a:p>
            <a:pPr lvl="1" algn="just"/>
            <a:r>
              <a:rPr lang="en-US" dirty="0">
                <a:latin typeface="Times New Roman" pitchFamily="18" charset="0"/>
                <a:cs typeface="Times New Roman" pitchFamily="18" charset="0"/>
              </a:rPr>
              <a:t>Example: The Traveling Salesman Problem</a:t>
            </a:r>
          </a:p>
          <a:p>
            <a:pPr algn="just"/>
            <a:r>
              <a:rPr lang="en-US" b="1" dirty="0">
                <a:latin typeface="Times New Roman" pitchFamily="18" charset="0"/>
                <a:cs typeface="Times New Roman" pitchFamily="18" charset="0"/>
              </a:rPr>
              <a:t>NP Complete Class: </a:t>
            </a:r>
            <a:r>
              <a:rPr lang="en-US" dirty="0">
                <a:latin typeface="Times New Roman" pitchFamily="18" charset="0"/>
                <a:cs typeface="Times New Roman" pitchFamily="18" charset="0"/>
              </a:rPr>
              <a:t>If you find a polynomial time algorithm for one member of the class, it can be used to solve all the problems in the class.  </a:t>
            </a:r>
          </a:p>
          <a:p>
            <a:pPr lvl="1"/>
            <a:r>
              <a:rPr lang="en-US" dirty="0"/>
              <a:t>Examples:	</a:t>
            </a:r>
          </a:p>
          <a:p>
            <a:pPr lvl="2"/>
            <a:r>
              <a:rPr lang="en-US" dirty="0"/>
              <a:t>Satisfiability (SAT) problem</a:t>
            </a:r>
          </a:p>
          <a:p>
            <a:pPr lvl="2"/>
            <a:r>
              <a:rPr lang="en-US" dirty="0"/>
              <a:t>Vertex cover problem</a:t>
            </a:r>
          </a:p>
          <a:p>
            <a:pPr lvl="2"/>
            <a:r>
              <a:rPr lang="en-US" dirty="0"/>
              <a:t>Zero-one Knapsack problem</a:t>
            </a:r>
          </a:p>
          <a:p>
            <a:pPr algn="just"/>
            <a:endParaRPr lang="en-US" dirty="0">
              <a:latin typeface="Times New Roman" pitchFamily="18" charset="0"/>
              <a:cs typeface="Times New Roman" pitchFamily="18" charset="0"/>
            </a:endParaRPr>
          </a:p>
        </p:txBody>
      </p:sp>
    </p:spTree>
  </p:cSld>
  <p:clrMapOvr>
    <a:masterClrMapping/>
  </p:clrMapOvr>
</p:sld>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leq C|g(x)|$&#10;&#10;\end{document}"/>
  <p:tag name="IGUANATEXSIZE" val="25"/>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leq C|g(x) \leq C'|g(x)|$&#10;&#10;\end{document}"/>
  <p:tag name="IGUANATEXSIZE" val="15"/>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leq C|g(x)|$&#10;&#10;\end{document}"/>
  <p:tag name="IGUANATEXSIZE" val="2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x^{2} + 2x + 1$&#10;&#10;\end{document}"/>
  <p:tag name="IGUANATEXSIZE" val="25"/>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0 \leq x^2 + 2x + 1 \leq x^{2} + 2x^{2} + x^{2} = 4x^{2}$&#10;&#10;\end{document}"/>
  <p:tag name="IGUANATEXSIZE" val="25"/>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x^2)$&#10;&#10;\end{document}"/>
  <p:tag name="IGUANATEXSIZE" val="25"/>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O(x^2)$&#10;&#10;\end{document}"/>
  <p:tag name="IGUANATEXSIZE" val="25"/>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0 \leq x^2 + 2x + 1 \leq x^{2} + x^{2} + x^{2} = 3x^{2}$&#10;&#10;\end{document}"/>
  <p:tag name="IGUANATEXSIZE" val="25"/>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x^{2} + 2x + 1$&#10;&#10;\end{document}"/>
  <p:tag name="IGUANATEXSIZE" val="3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O(x^2)$&#10;&#10;\end{document}"/>
  <p:tag name="IGUANATEXSIZE" val="3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x^{2} + 2x + 1$&#10;&#10;\end{document}"/>
  <p:tag name="IGUANATEXSIZE" val="2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g(x) = x^{2}$&#10;&#10;\end{document}"/>
  <p:tag name="IGUANATEXSIZE" val="2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g(x))$&#10;&#10;\end{document}"/>
  <p:tag name="IGUANATEXSIZE" val="20"/>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g(x)\;\mbox{ is}\; O(f(x))$&#10;&#10;\end{document}"/>
  <p:tag name="IGUANATEXSIZE" val="20"/>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g(x))$&#10;&#10;\end{document}"/>
  <p:tag name="IGUANATEXSIZE" val="2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h(x))$&#10;&#10;\end{document}"/>
  <p:tag name="IGUANATEXSIZE" val="20"/>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leq C|g(x)|$&#10;&#10;\end{document}"/>
  <p:tag name="IGUANATEXSIZE" val="20"/>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h(x)| &gt; |g(x)|$&#10;&#10;\end{document}"/>
  <p:tag name="IGUANATEXSIZE" val="20"/>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leq C|h(x)|$&#10;&#10;\end{document}"/>
  <p:tag name="IGUANATEXSIZE" val="2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h(x))$&#10;&#10;\end{document}"/>
  <p:tag name="IGUANATEXSIZE" val="20"/>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a_n x^{n} + a_{n-1}x^{n-1} + \dots + a_1 x + a_o$&#10;&#10;\end{document}"/>
  <p:tag name="IGUANATEXSIZE" val="25"/>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0, a_1, \dots, a_n    $&#10;\end{document}"/>
  <p:tag name="IGUANATEXSIZE" val="30"/>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 + 2 + \cdots + n \; \leq\; n + n + \cdots n\; =\; n^2$&#10;&#10;\end{document}"/>
  <p:tag name="IGUANATEXSIZE" val="25"/>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 + 2 + \ldots + n \;\mbox{is}\; O(n^2)\; \mbox{taking}\; C = 1 \; \mbox{and}\; k = 1 .$&#10;&#10;\end{document}"/>
  <p:tag name="IGUANATEXSIZE" val="25"/>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n! = 1 \times 2 \times \cdots \times n \; \leq\; n \times n \times \cdots \times  n\; =\; n^n$&#10;&#10;\end{document}"/>
  <p:tag name="IGUANATEXSIZE" val="25"/>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n!\; \mbox{is}\;O(n^n)\; \mbox{taking} \; C = 1\; \mbox{and}\; k = 1.$&#10;&#10;\end{document}"/>
  <p:tag name="IGUANATEXSIZE" val="25"/>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n) = n! = 1 \times 2 \times \dots \times n\; .$&#10;&#10;\end{document}"/>
  <p:tag name="IGUANATEXSIZE" val="25"/>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n! \leq\; n^n$&#10;&#10;\end{document}"/>
  <p:tag name="IGUANATEXSIZE" val="25"/>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mbox{log}(n!) \leq\; n\cdot \mbox{log}(n)$&#10;&#10;\end{document}"/>
  <p:tag name="IGUANATEXSIZE" val="25"/>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mega(g(x))$&#10;&#10;\end{document}"/>
  <p:tag name="IGUANATEXSIZE" val="25"/>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geq C|g(x)|$&#10;&#10;\end{document}"/>
  <p:tag name="IGUANATEXSIZE" val="25"/>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8x^{3} + 5x^2 + 7$&#10;&#10;\end{document}"/>
  <p:tag name="IGUANATEXSIZE" val="25"/>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Omega(g(x))$&#10;&#10;\end{document}"/>
  <p:tag name="IGUANATEXSIZE" val="25"/>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g(x) = x^{3} $&#10;&#10;\end{document}"/>
  <p:tag name="IGUANATEXSIZE" val="25"/>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O(8x^{3} + 5x^2 + 7)$&#10;&#10;\end{document}"/>
  <p:tag name="IGUANATEXSIZE" val="25"/>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8x^{3} + 5x^2 + 7\; \geq 8x^{3}$&#10;&#10;\end{document}"/>
  <p:tag name="IGUANATEXSIZE" val="25"/>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g(x) = x^{3} $&#10;&#10;\end{document}"/>
  <p:tag name="IGUANATEXSIZE" val="25"/>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Theta(g(x))$&#10;&#10;\end{document}"/>
  <p:tag name="IGUANATEXSIZE" val="25"/>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mega(g(x))$&#10;&#10;\end{document}"/>
  <p:tag name="IGUANATEXSIZE" val="25"/>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g(x))$&#10;&#10;\end{document}"/>
  <p:tag name="IGUANATEXSIZE" val="25"/>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Theta(g(x))$&#10;&#10;\end{document}"/>
  <p:tag name="IGUANATEXSIZE" val="25"/>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Theta(g(x))$&#10;&#10;\end{document}"/>
  <p:tag name="IGUANATEXSIZE" val="25"/>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g(x)\;\mbox{ is}\; \Theta(f(x)).$&#10;&#10;\end{document}"/>
  <p:tag name="IGUANATEXSIZE" val="25"/>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Theta(g(x))$&#10;&#10;\end{document}"/>
  <p:tag name="IGUANATEXSIZE" val="25"/>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mbox{ is}\; O(g(x))$&#10;&#10;\end{document}"/>
  <p:tag name="IGUANATEXSIZE" val="25"/>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g(x)\;\mbox{ is}\; O(f(x))$&#10;&#10;\end{document}"/>
  <p:tag name="IGUANATEXSIZE" val="25"/>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a_n x^{n} + a_{n-1}x^{n-1} + \dots + a_1 x + a_o$&#10;&#10;\end{document}"/>
  <p:tag name="IGUANATEXSIZE" val="25"/>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0, a_1, \dots, a_n    $&#10;\end{document}"/>
  <p:tag name="IGUANATEXSIZE" val="30"/>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8x^{5} + 5x^2 + 10$&#10;&#10;\end{document}"/>
  <p:tag name="IGUANATEXSIZE" val="25"/>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x) = 8x^{199}+ 7x^{100} + x^{99} + 5x^2 + 25$&#10;&#10;\end{document}"/>
  <p:tag name="IGUANATEXSIZE" val="25"/>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rac{3 + 5 + 7 + \ldots + (2n + 1)}{n} \; =$&#10;&#10;&#10;\end{document}"/>
  <p:tag name="IGUANATEXSIZE" val="25"/>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rac{2( 1 + 2 + 3 + \ldots + n) + n}{n} \; =$&#10;&#10;&#10;\end{document}"/>
  <p:tag name="IGUANATEXSIZE" val="25"/>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rac{2[\frac{n (n + 1)}{2}     ]}{n}  + 1\; = n + 2$ &#10;&#10;&#10;\end{document}"/>
  <p:tag name="IGUANATEXSIZE" val="25"/>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n -1) + (n - 2) + \ldots + 2 + 1 \;=\; \frac{n(n-1)}{2}$ &#10;&#10;&#10;\end{document}"/>
  <p:tag name="IGUANATEXSIZE" val="20"/>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rac{n(n-1)}{2} \;=\; \frac{1}{2} n^{2} - \frac{1}{2} n$ &#10;&#10;&#10;\end{document}"/>
  <p:tag name="IGUANATEXSIZE" val="20"/>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2 + 3 + \dots + n \;=\; \frac{n(n-1)}{2} - 1$ &#10;&#10;&#10;\end{document}"/>
  <p:tag name="IGUANATEXSIZE" val="20"/>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noindent&#10;${\bf A} = [a_{ij}] \;\mbox{is a } m \times k\; \mbox{matrix}$\\&#10;${\bf B} = [b_{ij}]\;\mbox{is a } k \times n \;\mbox{matrix}$&#10;&#10;\end{document}"/>
  <p:tag name="IGUANATEXSIZE" val="15"/>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7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txDef>
      <a:spPr>
        <a:noFill/>
      </a:spPr>
      <a:bodyPr wrap="square" rtlCol="0">
        <a:spAutoFit/>
      </a:bodyPr>
      <a:lstStyle>
        <a:defPPr>
          <a:defRPr sz="1200" b="1"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